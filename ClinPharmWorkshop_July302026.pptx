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1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5"/>
    <p:sldMasterId id="2147483785" r:id="rId6"/>
    <p:sldMasterId id="2147483793" r:id="rId7"/>
  </p:sldMasterIdLst>
  <p:notesMasterIdLst>
    <p:notesMasterId r:id="rId36"/>
  </p:notesMasterIdLst>
  <p:handoutMasterIdLst>
    <p:handoutMasterId r:id="rId37"/>
  </p:handoutMasterIdLst>
  <p:sldIdLst>
    <p:sldId id="2147472006" r:id="rId8"/>
    <p:sldId id="2147472067" r:id="rId9"/>
    <p:sldId id="2147472008" r:id="rId10"/>
    <p:sldId id="2147472009" r:id="rId11"/>
    <p:sldId id="2147472011" r:id="rId12"/>
    <p:sldId id="2147472012" r:id="rId13"/>
    <p:sldId id="2147472013" r:id="rId14"/>
    <p:sldId id="2147472018" r:id="rId15"/>
    <p:sldId id="2147472030" r:id="rId16"/>
    <p:sldId id="2147472020" r:id="rId17"/>
    <p:sldId id="2147472022" r:id="rId18"/>
    <p:sldId id="260" r:id="rId19"/>
    <p:sldId id="268" r:id="rId20"/>
    <p:sldId id="269" r:id="rId21"/>
    <p:sldId id="2147472007" r:id="rId22"/>
    <p:sldId id="282" r:id="rId23"/>
    <p:sldId id="290" r:id="rId24"/>
    <p:sldId id="2147472023" r:id="rId25"/>
    <p:sldId id="2147472066" r:id="rId26"/>
    <p:sldId id="2147472054" r:id="rId27"/>
    <p:sldId id="2147472053" r:id="rId28"/>
    <p:sldId id="2147472055" r:id="rId29"/>
    <p:sldId id="2147472056" r:id="rId30"/>
    <p:sldId id="2147472057" r:id="rId31"/>
    <p:sldId id="2147472064" r:id="rId32"/>
    <p:sldId id="2147472058" r:id="rId33"/>
    <p:sldId id="2147472059" r:id="rId34"/>
    <p:sldId id="2147472063" r:id="rId3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68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58600D-041F-B48A-412F-AE39156C2DE5}" name="Brittany Gazdag" initials="BG" userId="S::bgazdag@praxismedicines.com::8c586ae8-3911-4778-b94f-1d5247133707" providerId="AD"/>
  <p188:author id="{60300010-D72F-7260-3C2C-0721F5889586}" name="Megan Sniecinski" initials="MS" userId="S::msniecinski@praxismedicines.com::0f28aa47-5acf-4bd5-b37b-7d0e1cd5771c" providerId="AD"/>
  <p188:author id="{0D41F010-9D66-F384-42B3-AF0A418E9293}" name="Tim Kelly" initials="TK" userId="S::tkelly@praxismedicines.com::be639710-03f8-4711-a171-f3e7046b89f0" providerId="AD"/>
  <p188:author id="{2B4F3A11-7495-37FF-3E02-6FC78F5587DA}" name="Alyssa Wyant" initials="AW" userId="S::awyant@praxismedicines.com::f50f4837-7e6f-440a-8ce9-7778a977df89" providerId="AD"/>
  <p188:author id="{DDE74611-45D4-86CF-F907-C0B5B7DBFEDB}" name="Rich Able" initials="RA" userId="S::rable@praxismedicines.com::1c3e62c3-6e21-4a79-8c5f-926fde4e556b" providerId="AD"/>
  <p188:author id="{9B566E13-691A-0F8D-332E-E2FCD50C9454}" name="Corey Blair" initials="CB" userId="S::cblair@praxismedicines.com::12233db5-649b-4102-8f97-f304297bfca2" providerId="AD"/>
  <p188:author id="{C4676A17-E316-8180-13AC-3D9E2A09E213}" name="Alyssa Theodore" initials="AT" userId="S::atheodore@simpsonhealthcare.com::67f70a68-583b-40a2-b046-42c093e5392b" providerId="AD"/>
  <p188:author id="{59A2272E-B00B-E17D-DF16-AB139FF23038}" name="Michael Niebo" initials="MN" userId="S::mniebo@praxismedicines.com::aa09292a-9f9b-45d1-bc2c-3131ff0001d9" providerId="AD"/>
  <p188:author id="{66D3203C-EF13-FF30-E317-679438849818}" name="Angela Wehr" initials="AW" userId="S::awehr@praxismedicines.com::8033e062-76ed-44ba-b7b7-fd4ab4e180be" providerId="AD"/>
  <p188:author id="{A53B0740-78C6-2E51-8615-22ADDF135CBC}" name="Cliff Mason" initials="CM" userId="S::cmason@praxismedicines.com::8635f558-903f-4919-98c9-1c736b2efac9" providerId="AD"/>
  <p188:author id="{007F8352-F824-26AB-AD05-4FC4C85D5968}" name="Monique Giroux" initials="MG" userId="S::mgiroux@praxismedicines.com::26c54bb6-ba6a-4063-b7d9-a687e235c11c" providerId="AD"/>
  <p188:author id="{BAB35E54-62CD-A62B-442F-7715A27F9A05}" name="Brigid Byrne" initials="BB" userId="S::bbyrne_simpsonhealthcare.com#ext#@praxismedicines.com::ce935944-b83b-431f-b5ca-d72462ea7918" providerId="AD"/>
  <p188:author id="{535C9055-1582-5CDF-B06C-1A020C43962F}" name="Lauren Mastrocola" initials="LM" userId="S::lauren@praxismedicines.com::d740a348-d674-4615-8849-9910ac933064" providerId="AD"/>
  <p188:author id="{5ABE0858-4278-E4C2-7316-CCA08F38BD38}" name="Alyssa Theodore" initials="AT" userId="S::atheodore_simpsonhealthcare.com#ext#@praxismedicines.com::f9510fc0-91cb-4cea-a2c0-be5ed5d400af" providerId="AD"/>
  <p188:author id="{1CD2E973-828C-CA7C-D4F1-BA838787A6E5}" name="Alex La Croix" initials="ALC" userId="S::alacroix@praxismedicines.com::dcb4230d-a20d-4845-9d7b-e37ab9700557" providerId="AD"/>
  <p188:author id="{E2AB8377-0F7B-BD7C-DAB0-6CB8818870DE}" name="Jeff Zhao" initials="JZ" userId="S::jzhao@praxismedicines.com::5b2ae71e-c1cf-44d0-aa20-c8df10bc9be4" providerId="AD"/>
  <p188:author id="{F2DA2C82-E872-8253-AE97-40D4103C6820}" name="Alyssa Wyant" initials="AW" userId="S::AWyant@praxismedicines.com::f50f4837-7e6f-440a-8ce9-7778a977df89" providerId="AD"/>
  <p188:author id="{5690C085-A73E-49B3-4FC0-744E41EBAECF}" name="Karl Hansen" initials="KH" userId="S::khansen@praxismedicines.com::45701164-4607-435d-8db9-71a85133ffa2" providerId="AD"/>
  <p188:author id="{E661218D-96C4-37A6-07D7-738FDCCCC424}" name="Lyndsey Anderson" initials="LA" userId="S::lyndsey@praxismedicines.com::4b75ee6d-de12-415f-b499-7d4941f473b4" providerId="AD"/>
  <p188:author id="{42F08C8E-52C8-5CA5-6FF2-6135A98E9050}" name="Sheryl Torr-Brown" initials="ST" userId="S::storrbrown_simpsonhealthcare.com#ext#@praxismedicines.com::7c51f19f-64a2-4178-b039-49226c517346" providerId="AD"/>
  <p188:author id="{397DAC9B-0D19-8C80-D33A-2DFF9F52092B}" name="Marcio Souza" initials="MS" userId="S::msouza@praxismedicines.com::77f73aa7-c00a-49b9-9278-f30f27735481" providerId="AD"/>
  <p188:author id="{8E27D09D-E5B0-1C8C-8086-C20A7D951C77}" name="Nicole Sweeny" initials="NS" userId="S::nsweeny@praxismedicines.com::d6b0922a-5fc0-402a-b5db-6122127ad42c" providerId="AD"/>
  <p188:author id="{7142769E-B9AC-E0AF-E2B5-1D93410B317C}" name="Brian Spar" initials="BS" userId="Brian Spar" providerId="None"/>
  <p188:author id="{96E43AB4-3AFB-7A19-A2FC-EE2DA6ACE719}" name="Steve Petrou" initials="SP" userId="S::spetrou@praxismedicines.com::5aaca762-6588-4813-9e44-fbe5ce18163b" providerId="AD"/>
  <p188:author id="{C36B23C1-223E-C3D3-5FF1-19CD13806258}" name="Lillian Matthews" initials="LM" userId="S::lmatthews@praxismedicines.com::14cf9735-2f0c-4727-b142-4677d292c89d" providerId="AD"/>
  <p188:author id="{869B46C3-B3C9-22EF-4522-52854E716FBF}" name="Michelle Wilensky" initials="MW" userId="S::mwilensky@praxismedicines.com::f63121f4-1d41-41d0-8bbe-d80b21a52b48" providerId="AD"/>
  <p188:author id="{E7F510DB-804D-5F79-8ACC-E649A9E5CA3B}" name="Nelson Olivier" initials="NO" userId="S::Nelson@praxismedicines.com::25c0a7cd-d863-43f7-b44f-41ae1f45867a" providerId="AD"/>
  <p188:author id="{0F6505DE-F939-C5D7-3BB1-78A2A421BF9D}" name="Christian Rubio" initials="CR" userId="S::crubio@praxismedicines.com::84b22c26-1725-4f84-a899-337ea7b1d708" providerId="AD"/>
  <p188:author id="{1E494BE2-5559-F99D-62EC-3B105EE52183}" name="Matt Fuller - C" initials="MC" userId="S::mfuller@praxismedicines.com::a2f18187-ecf6-4051-81a2-fef1e000143a" providerId="AD"/>
  <p188:author id="{5162B3E3-FF91-3664-3B56-856328533AA7}" name="Alexander Kane" initials="AK" userId="S::akane@praxismedicines.com::9e1b354f-5a53-4234-94df-625b87730b19" providerId="AD"/>
  <p188:author id="{01CA12E8-27D2-0DCA-64F0-EEDE6F011E33}" name="Alex Nemiroff" initials="AN" userId="S::anemiroff@praxismedicines.com::027b9106-ebbf-4a17-a98e-fda3c19c5d1c" providerId="AD"/>
  <p188:author id="{59BF74E9-EC82-DAD7-3DFD-0A53FA39BA19}" name="Claudio Santos" initials="CS" userId="S::csantos@praxismedicines.com::94aecabf-a3f4-444d-84df-ba23a884e268" providerId="AD"/>
  <p188:author id="{DBA536ED-1FD7-30A2-D50D-1412F2C53654}" name="Hamish Toop" initials="HT" userId="S::htoop@praxismedicines.com::a83c982f-96dc-46bb-88e1-998fdad3c2a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A89"/>
    <a:srgbClr val="ECA2A1"/>
    <a:srgbClr val="EF9B5C"/>
    <a:srgbClr val="C3D9CE"/>
    <a:srgbClr val="EDA73D"/>
    <a:srgbClr val="FFFF99"/>
    <a:srgbClr val="E3E37E"/>
    <a:srgbClr val="A7E9F0"/>
    <a:srgbClr val="28AA90"/>
    <a:srgbClr val="E285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>
        <p:guide pos="768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viewProps" Target="viewProps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microsoft.com/office/2018/10/relationships/authors" Target="authors.xml"/><Relationship Id="rId7" Type="http://schemas.openxmlformats.org/officeDocument/2006/relationships/slideMaster" Target="slideMasters/slideMaster3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0F0064-A722-2A20-C005-BB833A80FC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5850"/>
          </a:xfrm>
          <a:prstGeom prst="rect">
            <a:avLst/>
          </a:prstGeom>
        </p:spPr>
        <p:txBody>
          <a:bodyPr vert="horz" lIns="92114" tIns="46057" rIns="92114" bIns="46057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65D399-13F2-7A23-D5AC-8134A2BE71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9" y="0"/>
            <a:ext cx="3037840" cy="465850"/>
          </a:xfrm>
          <a:prstGeom prst="rect">
            <a:avLst/>
          </a:prstGeom>
        </p:spPr>
        <p:txBody>
          <a:bodyPr vert="horz" lIns="92114" tIns="46057" rIns="92114" bIns="46057" rtlCol="0"/>
          <a:lstStyle>
            <a:lvl1pPr algn="r">
              <a:defRPr sz="1300"/>
            </a:lvl1pPr>
          </a:lstStyle>
          <a:p>
            <a:fld id="{508C2AA9-4396-5241-BB2B-EE68DC595BD7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DC5057-7F2D-33F4-A224-0A6FEF416E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30552"/>
            <a:ext cx="3037840" cy="465850"/>
          </a:xfrm>
          <a:prstGeom prst="rect">
            <a:avLst/>
          </a:prstGeom>
        </p:spPr>
        <p:txBody>
          <a:bodyPr vert="horz" lIns="92114" tIns="46057" rIns="92114" bIns="46057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203FF-4C33-1F27-3078-905B9896371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9" y="8830552"/>
            <a:ext cx="3037840" cy="465850"/>
          </a:xfrm>
          <a:prstGeom prst="rect">
            <a:avLst/>
          </a:prstGeom>
        </p:spPr>
        <p:txBody>
          <a:bodyPr vert="horz" lIns="92114" tIns="46057" rIns="92114" bIns="46057" rtlCol="0" anchor="b"/>
          <a:lstStyle>
            <a:lvl1pPr algn="r">
              <a:defRPr sz="1300"/>
            </a:lvl1pPr>
          </a:lstStyle>
          <a:p>
            <a:fld id="{70AC34D3-8D8C-FB42-AE66-40DEAC0F5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40072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5"/>
          </a:xfrm>
          <a:prstGeom prst="rect">
            <a:avLst/>
          </a:prstGeom>
        </p:spPr>
        <p:txBody>
          <a:bodyPr vert="horz" lIns="92114" tIns="46057" rIns="92114" bIns="46057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1"/>
            <a:ext cx="3037840" cy="466435"/>
          </a:xfrm>
          <a:prstGeom prst="rect">
            <a:avLst/>
          </a:prstGeom>
        </p:spPr>
        <p:txBody>
          <a:bodyPr vert="horz" lIns="92114" tIns="46057" rIns="92114" bIns="46057" rtlCol="0"/>
          <a:lstStyle>
            <a:lvl1pPr algn="r">
              <a:defRPr sz="1300"/>
            </a:lvl1pPr>
          </a:lstStyle>
          <a:p>
            <a:fld id="{0B4CDB68-2320-0D43-9E70-CBDCB4A5582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2050"/>
            <a:ext cx="5572125" cy="31353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14" tIns="46057" rIns="92114" bIns="4605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73893"/>
            <a:ext cx="5608320" cy="3660458"/>
          </a:xfrm>
          <a:prstGeom prst="rect">
            <a:avLst/>
          </a:prstGeom>
        </p:spPr>
        <p:txBody>
          <a:bodyPr vert="horz" lIns="92114" tIns="46057" rIns="92114" bIns="4605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2114" tIns="46057" rIns="92114" bIns="46057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8"/>
            <a:ext cx="3037840" cy="466434"/>
          </a:xfrm>
          <a:prstGeom prst="rect">
            <a:avLst/>
          </a:prstGeom>
        </p:spPr>
        <p:txBody>
          <a:bodyPr vert="horz" lIns="92114" tIns="46057" rIns="92114" bIns="46057" rtlCol="0" anchor="b"/>
          <a:lstStyle>
            <a:lvl1pPr algn="r">
              <a:defRPr sz="1300"/>
            </a:lvl1pPr>
          </a:lstStyle>
          <a:p>
            <a:fld id="{A9D300A0-3DAC-6B44-AD5B-3D3973DF9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20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D300A0-3DAC-6B44-AD5B-3D3973DF921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752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0E97C-955E-2680-7361-88BB29EEC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C21C23-B8BF-A5CA-8F98-8FF605AAB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7B2FEC-FE46-59B3-7DFA-911A5A2B1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B342B-D51C-B950-732C-7F83625DF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D300A0-3DAC-6B44-AD5B-3D3973DF921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77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B29B3-3290-6566-D322-EE8F3CF9A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FF186E-D119-3E5B-A1B3-FB68184489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7C60B6-714E-225D-FE49-68FB88C67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EBAE9-53DA-8393-81B1-7A2348291C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D300A0-3DAC-6B44-AD5B-3D3973DF921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512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B2E5C-8D7C-4D6D-826D-3CCEB12FE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70504E-8348-9425-0A00-CB8A3E538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E92CAD-4D4C-EADF-C705-1BE70F87B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E9C50-E97F-439D-636B-0E318BA6A6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D300A0-3DAC-6B44-AD5B-3D3973DF921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387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D300A0-3DAC-6B44-AD5B-3D3973DF921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335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11108-80A0-E099-3BE2-855DA45C2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C07E55-61DB-DB13-0813-BA434FCA9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7216B3-DBCA-2943-DE6C-0A93203B0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1EE41-E4F5-575B-91A5-3416AF9FB4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D300A0-3DAC-6B44-AD5B-3D3973DF921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93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669F4-E037-EF77-31B3-2987B6B73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B518D-F3C9-CB82-3046-6E751F87F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979624-CEA0-94FC-2C9E-3779A28197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E25B2-997B-6FB7-51DC-CFED09227E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D300A0-3DAC-6B44-AD5B-3D3973DF921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162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6F50C-5E54-568F-CE67-D2A75EC45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79B8F5-7F0F-2379-5EA5-5419FCC52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F3D5FB-78E2-142C-0F87-7BC70489D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6F5B5-25CF-55AD-6171-06E939B6CA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D300A0-3DAC-6B44-AD5B-3D3973DF921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171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E9714-BA69-4256-B1B0-3F94F2F87C1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59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2B421-CBE5-33B1-21C6-B0D922D79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E1EE20-4D62-1CCF-6831-74E82261A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CAA644-800F-E283-3D34-463C1688A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F31A2-DB09-F8B3-97EA-1869BE961C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DE9714-BA69-4256-B1B0-3F94F2F87C1B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3489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8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8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CA4F6712-2DE1-DC40-95B8-E560BFECB4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0D80FE1-8301-8444-BA64-16ADD2DA969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609610" y="4600445"/>
            <a:ext cx="3358870" cy="124099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lnSpc>
                <a:spcPct val="80000"/>
              </a:lnSpc>
              <a:buClr>
                <a:srgbClr val="EFB100"/>
              </a:buClr>
              <a:buFont typeface=".AppleSystemUIFont"/>
              <a:buNone/>
              <a:defRPr sz="3000" b="1" i="1" cap="none" baseline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PRESENTATION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6D7D8BD-5E3C-204B-B09D-FA482ABD5ED4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609610" y="5859744"/>
            <a:ext cx="3358870" cy="489976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cap="none" spc="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Click to Edit Subtitle/Date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69E47C-F884-1846-90B4-C593BF99860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753" y="1070533"/>
            <a:ext cx="5268440" cy="219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22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3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117F6194-F2D5-5CE6-B3F2-44DA9251BD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0D80FE1-8301-8444-BA64-16ADD2DA969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679342" y="3997465"/>
            <a:ext cx="4289138" cy="184397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lnSpc>
                <a:spcPct val="80000"/>
              </a:lnSpc>
              <a:buClr>
                <a:srgbClr val="EFB100"/>
              </a:buClr>
              <a:buFont typeface=".AppleSystemUIFont"/>
              <a:buNone/>
              <a:defRPr sz="3500" b="1" i="1" cap="none" baseline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PRESENTATION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6D7D8BD-5E3C-204B-B09D-FA482ABD5ED4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7695210" y="5859744"/>
            <a:ext cx="4281002" cy="489976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cap="none" spc="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Click to Edit Subtitle/Date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69E47C-F884-1846-90B4-C593BF99860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753" y="1070533"/>
            <a:ext cx="5268440" cy="219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728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3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5D94673-FE21-CB41-B5A0-9DEE2A8E2D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 picture containing black, dark, open&#10;&#10;Description automatically generated">
            <a:extLst>
              <a:ext uri="{FF2B5EF4-FFF2-40B4-BE49-F238E27FC236}">
                <a16:creationId xmlns:a16="http://schemas.microsoft.com/office/drawing/2014/main" id="{8EF00CA7-F53F-3849-ADE1-F7DD16A1E3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067"/>
            <a:ext cx="12192000" cy="3131094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0D437DD-0AF7-DF46-B405-439A1A5C601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 rot="16811517">
            <a:off x="-967841" y="2496988"/>
            <a:ext cx="5297125" cy="134753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11500" b="1" i="0">
                <a:solidFill>
                  <a:schemeClr val="bg1">
                    <a:alpha val="14882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agenda</a:t>
            </a: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E35E4295-FD3A-C64B-807F-1FB8DD2B6919}"/>
              </a:ext>
            </a:extLst>
          </p:cNvPr>
          <p:cNvSpPr/>
          <p:nvPr userDrawn="1"/>
        </p:nvSpPr>
        <p:spPr>
          <a:xfrm>
            <a:off x="2989439" y="1187715"/>
            <a:ext cx="4640433" cy="743030"/>
          </a:xfrm>
          <a:custGeom>
            <a:avLst/>
            <a:gdLst>
              <a:gd name="connsiteX0" fmla="*/ 0 w 5350476"/>
              <a:gd name="connsiteY0" fmla="*/ 0 h 506627"/>
              <a:gd name="connsiteX1" fmla="*/ 5350476 w 5350476"/>
              <a:gd name="connsiteY1" fmla="*/ 0 h 506627"/>
              <a:gd name="connsiteX2" fmla="*/ 5350476 w 5350476"/>
              <a:gd name="connsiteY2" fmla="*/ 506627 h 506627"/>
              <a:gd name="connsiteX3" fmla="*/ 0 w 5350476"/>
              <a:gd name="connsiteY3" fmla="*/ 506627 h 506627"/>
              <a:gd name="connsiteX4" fmla="*/ 0 w 5350476"/>
              <a:gd name="connsiteY4" fmla="*/ 0 h 506627"/>
              <a:gd name="connsiteX0" fmla="*/ 123568 w 5474044"/>
              <a:gd name="connsiteY0" fmla="*/ 0 h 506627"/>
              <a:gd name="connsiteX1" fmla="*/ 5474044 w 5474044"/>
              <a:gd name="connsiteY1" fmla="*/ 0 h 506627"/>
              <a:gd name="connsiteX2" fmla="*/ 5474044 w 5474044"/>
              <a:gd name="connsiteY2" fmla="*/ 506627 h 506627"/>
              <a:gd name="connsiteX3" fmla="*/ 0 w 5474044"/>
              <a:gd name="connsiteY3" fmla="*/ 506627 h 506627"/>
              <a:gd name="connsiteX4" fmla="*/ 123568 w 5474044"/>
              <a:gd name="connsiteY4" fmla="*/ 0 h 506627"/>
              <a:gd name="connsiteX0" fmla="*/ 149694 w 5500170"/>
              <a:gd name="connsiteY0" fmla="*/ 0 h 515335"/>
              <a:gd name="connsiteX1" fmla="*/ 5500170 w 5500170"/>
              <a:gd name="connsiteY1" fmla="*/ 0 h 515335"/>
              <a:gd name="connsiteX2" fmla="*/ 5500170 w 5500170"/>
              <a:gd name="connsiteY2" fmla="*/ 506627 h 515335"/>
              <a:gd name="connsiteX3" fmla="*/ 0 w 5500170"/>
              <a:gd name="connsiteY3" fmla="*/ 515335 h 515335"/>
              <a:gd name="connsiteX4" fmla="*/ 149694 w 5500170"/>
              <a:gd name="connsiteY4" fmla="*/ 0 h 515335"/>
              <a:gd name="connsiteX0" fmla="*/ 198931 w 5500170"/>
              <a:gd name="connsiteY0" fmla="*/ 9760 h 515335"/>
              <a:gd name="connsiteX1" fmla="*/ 5500170 w 5500170"/>
              <a:gd name="connsiteY1" fmla="*/ 0 h 515335"/>
              <a:gd name="connsiteX2" fmla="*/ 5500170 w 5500170"/>
              <a:gd name="connsiteY2" fmla="*/ 506627 h 515335"/>
              <a:gd name="connsiteX3" fmla="*/ 0 w 5500170"/>
              <a:gd name="connsiteY3" fmla="*/ 515335 h 515335"/>
              <a:gd name="connsiteX4" fmla="*/ 198931 w 5500170"/>
              <a:gd name="connsiteY4" fmla="*/ 9760 h 515335"/>
              <a:gd name="connsiteX0" fmla="*/ 232978 w 5500170"/>
              <a:gd name="connsiteY0" fmla="*/ 16404 h 515335"/>
              <a:gd name="connsiteX1" fmla="*/ 5500170 w 5500170"/>
              <a:gd name="connsiteY1" fmla="*/ 0 h 515335"/>
              <a:gd name="connsiteX2" fmla="*/ 5500170 w 5500170"/>
              <a:gd name="connsiteY2" fmla="*/ 506627 h 515335"/>
              <a:gd name="connsiteX3" fmla="*/ 0 w 5500170"/>
              <a:gd name="connsiteY3" fmla="*/ 515335 h 515335"/>
              <a:gd name="connsiteX4" fmla="*/ 232978 w 5500170"/>
              <a:gd name="connsiteY4" fmla="*/ 16404 h 515335"/>
              <a:gd name="connsiteX0" fmla="*/ 227303 w 5500170"/>
              <a:gd name="connsiteY0" fmla="*/ 3118 h 515335"/>
              <a:gd name="connsiteX1" fmla="*/ 5500170 w 5500170"/>
              <a:gd name="connsiteY1" fmla="*/ 0 h 515335"/>
              <a:gd name="connsiteX2" fmla="*/ 5500170 w 5500170"/>
              <a:gd name="connsiteY2" fmla="*/ 506627 h 515335"/>
              <a:gd name="connsiteX3" fmla="*/ 0 w 5500170"/>
              <a:gd name="connsiteY3" fmla="*/ 515335 h 515335"/>
              <a:gd name="connsiteX4" fmla="*/ 227303 w 5500170"/>
              <a:gd name="connsiteY4" fmla="*/ 3118 h 515335"/>
              <a:gd name="connsiteX0" fmla="*/ 250001 w 5500170"/>
              <a:gd name="connsiteY0" fmla="*/ 0 h 515538"/>
              <a:gd name="connsiteX1" fmla="*/ 5500170 w 5500170"/>
              <a:gd name="connsiteY1" fmla="*/ 203 h 515538"/>
              <a:gd name="connsiteX2" fmla="*/ 5500170 w 5500170"/>
              <a:gd name="connsiteY2" fmla="*/ 506830 h 515538"/>
              <a:gd name="connsiteX3" fmla="*/ 0 w 5500170"/>
              <a:gd name="connsiteY3" fmla="*/ 515538 h 515538"/>
              <a:gd name="connsiteX4" fmla="*/ 250001 w 5500170"/>
              <a:gd name="connsiteY4" fmla="*/ 0 h 515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00170" h="515538">
                <a:moveTo>
                  <a:pt x="250001" y="0"/>
                </a:moveTo>
                <a:lnTo>
                  <a:pt x="5500170" y="203"/>
                </a:lnTo>
                <a:lnTo>
                  <a:pt x="5500170" y="506830"/>
                </a:lnTo>
                <a:lnTo>
                  <a:pt x="0" y="515538"/>
                </a:lnTo>
                <a:lnTo>
                  <a:pt x="250001" y="0"/>
                </a:lnTo>
                <a:close/>
              </a:path>
            </a:pathLst>
          </a:custGeom>
          <a:solidFill>
            <a:schemeClr val="tx1">
              <a:alpha val="39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3B621A-8BF3-014A-808D-4975D3AFF7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23978" y="1181100"/>
            <a:ext cx="927100" cy="4495800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69A39D3-78A0-2D41-8196-A1C2FAD1F5F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428005" y="1934899"/>
            <a:ext cx="7802104" cy="408164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C2D3"/>
              </a:buClr>
              <a:buSzTx/>
              <a:buFont typeface="Arial" panose="020B0604020202020204" pitchFamily="34" charset="0"/>
              <a:buNone/>
              <a:tabLst/>
              <a:defRPr sz="3000" b="0" i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C2D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to add agenda</a:t>
            </a:r>
          </a:p>
          <a:p>
            <a:pPr lvl="0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8710B3B-67D9-D04A-BEDF-95019EBC9E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004" y="1305021"/>
            <a:ext cx="4102349" cy="51682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2500" b="1" i="1" cap="none" spc="0" baseline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</a:lstStyle>
          <a:p>
            <a:pPr lvl="0"/>
            <a:r>
              <a:rPr lang="en-US"/>
              <a:t>TODAY’S DATE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ED87AD-B539-E64E-BBE5-D01E9A99D203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12" name="Picture 1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0B2C979-244F-8F4D-8D81-A0CAA0B434F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403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blur&#10;&#10;Description automatically generated">
            <a:extLst>
              <a:ext uri="{FF2B5EF4-FFF2-40B4-BE49-F238E27FC236}">
                <a16:creationId xmlns:a16="http://schemas.microsoft.com/office/drawing/2014/main" id="{E0556FAF-C821-AA45-864D-1437975CD9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BC4C458-4D67-DC4F-BF96-F486AAA87FB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69108" y="2048394"/>
            <a:ext cx="5486401" cy="27612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5000" b="1" i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TRANSITION SLIDE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E1762D-87A3-FB45-9204-FE27B3705E85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F9381C8-1B0C-CF46-B08B-2D36AC4AD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870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-up of some marijuana&#10;&#10;Description automatically generated with low confidence">
            <a:extLst>
              <a:ext uri="{FF2B5EF4-FFF2-40B4-BE49-F238E27FC236}">
                <a16:creationId xmlns:a16="http://schemas.microsoft.com/office/drawing/2014/main" id="{5B3E013E-11C4-3EB1-12CB-2F16C6F8A0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BC4C458-4D67-DC4F-BF96-F486AAA87FB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87876" y="964061"/>
            <a:ext cx="5486401" cy="27612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4500" b="1" i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TRANSITION SLIDE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E1762D-87A3-FB45-9204-FE27B3705E85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F9381C8-1B0C-CF46-B08B-2D36AC4AD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832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light&#10;&#10;Description automatically generated">
            <a:extLst>
              <a:ext uri="{FF2B5EF4-FFF2-40B4-BE49-F238E27FC236}">
                <a16:creationId xmlns:a16="http://schemas.microsoft.com/office/drawing/2014/main" id="{B132F532-49CF-10AB-187A-0F44883C17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040"/>
          <a:stretch/>
        </p:blipFill>
        <p:spPr>
          <a:xfrm>
            <a:off x="1215571" y="0"/>
            <a:ext cx="10976429" cy="6858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BC4C458-4D67-DC4F-BF96-F486AAA87FB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69108" y="2048394"/>
            <a:ext cx="5486401" cy="27612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5000" b="1" i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TRANSITION SLIDE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E1762D-87A3-FB45-9204-FE27B3705E85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F9381C8-1B0C-CF46-B08B-2D36AC4AD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53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lur&#10;&#10;Description automatically generated">
            <a:extLst>
              <a:ext uri="{FF2B5EF4-FFF2-40B4-BE49-F238E27FC236}">
                <a16:creationId xmlns:a16="http://schemas.microsoft.com/office/drawing/2014/main" id="{D581ACC2-24FF-77F9-97F3-A68351BA7A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1"/>
          <a:stretch/>
        </p:blipFill>
        <p:spPr>
          <a:xfrm flipH="1">
            <a:off x="-1" y="-15851"/>
            <a:ext cx="12196470" cy="6873851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BC4C458-4D67-DC4F-BF96-F486AAA87FB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87876" y="964061"/>
            <a:ext cx="5486401" cy="27612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4500" b="1" i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TRANSITION SLIDE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E1762D-87A3-FB45-9204-FE27B3705E85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F9381C8-1B0C-CF46-B08B-2D36AC4AD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616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5589B6-C636-ACE0-E30A-BAD98AF9D5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12192001" cy="6858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BC4C458-4D67-DC4F-BF96-F486AAA87FB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69108" y="2048394"/>
            <a:ext cx="5486401" cy="27612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5000" b="1" i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TRANSITION SLIDE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E1762D-87A3-FB45-9204-FE27B3705E85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F9381C8-1B0C-CF46-B08B-2D36AC4AD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141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red&#10;&#10;Description automatically generated">
            <a:extLst>
              <a:ext uri="{FF2B5EF4-FFF2-40B4-BE49-F238E27FC236}">
                <a16:creationId xmlns:a16="http://schemas.microsoft.com/office/drawing/2014/main" id="{09D97A60-9B65-D78D-25D9-854FA75FC8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239"/>
          <a:stretch/>
        </p:blipFill>
        <p:spPr>
          <a:xfrm flipH="1">
            <a:off x="-2" y="0"/>
            <a:ext cx="13440229" cy="6858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BC4C458-4D67-DC4F-BF96-F486AAA87FB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87876" y="964061"/>
            <a:ext cx="5486401" cy="27612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4500" b="1" i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TRANSITION SLIDE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E1762D-87A3-FB45-9204-FE27B3705E85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F9381C8-1B0C-CF46-B08B-2D36AC4AD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4073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5D94673-FE21-CB41-B5A0-9DEE2A8E2D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BC4C458-4D67-DC4F-BF96-F486AAA87FB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340608" y="2048394"/>
            <a:ext cx="5486401" cy="27612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5000" b="1" i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TRANSITION SLIDE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3B621A-8BF3-014A-808D-4975D3AFF7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27010" y="1181100"/>
            <a:ext cx="927100" cy="4495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B0A2C5-9E10-B844-8399-3B5CD9EF2146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ED97352-4C19-574E-8717-61E1D5D9A9B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38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30ECA69A-E2CF-1167-0C37-B9D5D3201A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BC4C458-4D67-DC4F-BF96-F486AAA87FB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340608" y="2048394"/>
            <a:ext cx="5486401" cy="27612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5000" b="1" i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TRANSITION SLIDE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3B621A-8BF3-014A-808D-4975D3AFF7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27010" y="1181100"/>
            <a:ext cx="927100" cy="4495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B0A2C5-9E10-B844-8399-3B5CD9EF2146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ED97352-4C19-574E-8717-61E1D5D9A9B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956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6494AAD-5D44-A2DD-DACE-8887DC09E9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D1717C-52FB-144E-90CC-01C00177D593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5E018B2-282C-AF42-808E-B3E6AC365A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27F89F5-78C1-749D-B2A8-07EA2F0F135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69108" y="2048394"/>
            <a:ext cx="5486401" cy="27612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3500" b="1" i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13916627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F87659-C30B-D350-0A2F-9C77BAD4E3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D1717C-52FB-144E-90CC-01C00177D593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5E018B2-282C-AF42-808E-B3E6AC365A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27F89F5-78C1-749D-B2A8-07EA2F0F135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69108" y="2048394"/>
            <a:ext cx="5486401" cy="27612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3500" b="1" i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21580787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6494AAD-5D44-A2DD-DACE-8887DC09E9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D1717C-52FB-144E-90CC-01C00177D593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5E018B2-282C-AF42-808E-B3E6AC365A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27F89F5-78C1-749D-B2A8-07EA2F0F135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69108" y="2048394"/>
            <a:ext cx="5486401" cy="27612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3500" b="1" i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19808679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CB76F5-443D-307A-4F4F-A54222DC00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D1717C-52FB-144E-90CC-01C00177D593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5E018B2-282C-AF42-808E-B3E6AC365A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27F89F5-78C1-749D-B2A8-07EA2F0F135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69108" y="2048394"/>
            <a:ext cx="5486401" cy="27612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3500" b="1" i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38561983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1236AA9-BC68-AC41-AE07-770EA4B17E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386" y="365624"/>
            <a:ext cx="11007494" cy="45720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2500" b="0" i="0" cap="none" spc="0" baseline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1E359A-18F3-9142-9BE2-908271B727CA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C7F0F63-92F6-3E4E-A28E-A2FA4FE867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0F157E9-C817-E849-8FBC-443CBEE738B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06984" y="6440128"/>
            <a:ext cx="9117119" cy="282996"/>
          </a:xfrm>
          <a:prstGeom prst="rect">
            <a:avLst/>
          </a:prstGeom>
        </p:spPr>
        <p:txBody>
          <a:bodyPr numCol="1" anchor="ctr" anchorCtr="0">
            <a:normAutofit/>
          </a:bodyPr>
          <a:lstStyle>
            <a:lvl1pPr marL="0" indent="0" algn="l">
              <a:buClr>
                <a:srgbClr val="EFB100"/>
              </a:buClr>
              <a:buFontTx/>
              <a:buNone/>
              <a:defRPr sz="8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Source info</a:t>
            </a:r>
          </a:p>
        </p:txBody>
      </p:sp>
    </p:spTree>
    <p:extLst>
      <p:ext uri="{BB962C8B-B14F-4D97-AF65-F5344CB8AC3E}">
        <p14:creationId xmlns:p14="http://schemas.microsoft.com/office/powerpoint/2010/main" val="3880558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5D94673-FE21-CB41-B5A0-9DEE2A8E2D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C9B075F-880D-FA46-B646-B83254CF2E1B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14" name="Picture 1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78BD73E-4F74-AE45-B8B4-F086FE3534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9F93687-A09E-D84A-8D13-1A104B645A6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4937" y="1057566"/>
            <a:ext cx="10890303" cy="5196000"/>
          </a:xfrm>
          <a:prstGeom prst="rect">
            <a:avLst/>
          </a:prstGeom>
        </p:spPr>
        <p:txBody>
          <a:bodyPr numCol="1" anchor="t" anchorCtr="0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800100" indent="-342900">
              <a:buClr>
                <a:schemeClr val="bg1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copy</a:t>
            </a:r>
          </a:p>
          <a:p>
            <a:pPr lvl="1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941EDA7-B486-DB4E-9300-7AFEB726D5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386" y="365624"/>
            <a:ext cx="11007494" cy="45720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2500" b="0" i="0" cap="none" spc="0" baseline="0">
                <a:solidFill>
                  <a:schemeClr val="accent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681170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1E359A-18F3-9142-9BE2-908271B727CA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C7F0F63-92F6-3E4E-A28E-A2FA4FE867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C83B43F-3A10-457D-89EC-E30AD18B247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05386" y="1497876"/>
            <a:ext cx="10967182" cy="4765271"/>
          </a:xfrm>
          <a:prstGeom prst="rect">
            <a:avLst/>
          </a:prstGeom>
        </p:spPr>
        <p:txBody>
          <a:bodyPr numCol="1" anchor="t" anchorCtr="0"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copy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A36D76F-A572-312B-F97C-EA05ED69D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386" y="446742"/>
            <a:ext cx="10967182" cy="89176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2500" b="0" i="0" cap="none" spc="0" baseline="0">
                <a:solidFill>
                  <a:schemeClr val="accent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93CA701-BAFE-5427-F22C-93B38906640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06984" y="6440128"/>
            <a:ext cx="9117119" cy="282996"/>
          </a:xfrm>
          <a:prstGeom prst="rect">
            <a:avLst/>
          </a:prstGeom>
        </p:spPr>
        <p:txBody>
          <a:bodyPr numCol="1" anchor="ctr" anchorCtr="0">
            <a:normAutofit/>
          </a:bodyPr>
          <a:lstStyle>
            <a:lvl1pPr marL="0" indent="0" algn="l">
              <a:buClr>
                <a:srgbClr val="EFB100"/>
              </a:buClr>
              <a:buFontTx/>
              <a:buNone/>
              <a:defRPr sz="8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Source info</a:t>
            </a:r>
          </a:p>
        </p:txBody>
      </p:sp>
    </p:spTree>
    <p:extLst>
      <p:ext uri="{BB962C8B-B14F-4D97-AF65-F5344CB8AC3E}">
        <p14:creationId xmlns:p14="http://schemas.microsoft.com/office/powerpoint/2010/main" val="2263833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 with medium confidence">
            <a:extLst>
              <a:ext uri="{FF2B5EF4-FFF2-40B4-BE49-F238E27FC236}">
                <a16:creationId xmlns:a16="http://schemas.microsoft.com/office/drawing/2014/main" id="{833C5155-4C10-F945-ADA9-7732CC8A14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445623" cy="6858000"/>
          </a:xfrm>
          <a:prstGeom prst="rect">
            <a:avLst/>
          </a:prstGeom>
        </p:spPr>
      </p:pic>
      <p:sp>
        <p:nvSpPr>
          <p:cNvPr id="13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1531216" y="1724018"/>
            <a:ext cx="9997620" cy="4166738"/>
          </a:xfrm>
          <a:prstGeom prst="rect">
            <a:avLst/>
          </a:prstGeom>
        </p:spPr>
        <p:txBody>
          <a:bodyPr numCol="1" anchor="t" anchorCtr="0">
            <a:normAutofit/>
          </a:bodyPr>
          <a:lstStyle>
            <a:lvl1pPr marL="0" indent="0" algn="l">
              <a:buClr>
                <a:schemeClr val="accent1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copy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474AB59-02BC-4B43-B7D4-CE0D496520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1216" y="351464"/>
            <a:ext cx="9997620" cy="89176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2500" b="0" i="0" cap="none" spc="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146020F-FF2B-B943-A997-9645525567F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06984" y="6440128"/>
            <a:ext cx="9117119" cy="282996"/>
          </a:xfrm>
          <a:prstGeom prst="rect">
            <a:avLst/>
          </a:prstGeom>
        </p:spPr>
        <p:txBody>
          <a:bodyPr numCol="1" anchor="ctr" anchorCtr="0">
            <a:normAutofit/>
          </a:bodyPr>
          <a:lstStyle>
            <a:lvl1pPr marL="0" indent="0" algn="l">
              <a:buClr>
                <a:srgbClr val="EFB100"/>
              </a:buClr>
              <a:buFontTx/>
              <a:buNone/>
              <a:defRPr sz="8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Source info</a:t>
            </a:r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A7183181-2B5E-6142-82FA-55E53D4B1D8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9522" y="6363852"/>
            <a:ext cx="1097277" cy="4571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615D563-30E3-DC43-823B-2AE9BD423A1B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34477-79EE-491F-185F-5576CFB5139F}"/>
              </a:ext>
            </a:extLst>
          </p:cNvPr>
          <p:cNvSpPr txBox="1"/>
          <p:nvPr userDrawn="1"/>
        </p:nvSpPr>
        <p:spPr>
          <a:xfrm>
            <a:off x="9482319" y="6454496"/>
            <a:ext cx="12410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CONFIDENTIAL</a:t>
            </a:r>
            <a:endParaRPr lang="en-AU" sz="120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3561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605386" y="1724018"/>
            <a:ext cx="9997620" cy="4166738"/>
          </a:xfrm>
          <a:prstGeom prst="rect">
            <a:avLst/>
          </a:prstGeom>
        </p:spPr>
        <p:txBody>
          <a:bodyPr numCol="1" anchor="t" anchorCtr="0">
            <a:normAutofit/>
          </a:bodyPr>
          <a:lstStyle>
            <a:lvl1pPr marL="0" indent="0" algn="l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copy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474AB59-02BC-4B43-B7D4-CE0D496520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386" y="351463"/>
            <a:ext cx="9997620" cy="89176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2500" b="0" i="0" cap="none" spc="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D7E931-2BC8-0842-AC8A-BC7B53C964BB}"/>
              </a:ext>
            </a:extLst>
          </p:cNvPr>
          <p:cNvSpPr txBox="1"/>
          <p:nvPr userDrawn="1"/>
        </p:nvSpPr>
        <p:spPr>
          <a:xfrm>
            <a:off x="10603006" y="6484981"/>
            <a:ext cx="1435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8" name="Picture 7" descr="A picture containing logo&#10;&#10;Description automatically generated">
            <a:extLst>
              <a:ext uri="{FF2B5EF4-FFF2-40B4-BE49-F238E27FC236}">
                <a16:creationId xmlns:a16="http://schemas.microsoft.com/office/drawing/2014/main" id="{1427FEA0-F0CF-D64F-9980-B13D561066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64836" y="6368716"/>
            <a:ext cx="1097277" cy="457199"/>
          </a:xfrm>
          <a:prstGeom prst="rect">
            <a:avLst/>
          </a:prstGeom>
        </p:spPr>
      </p:pic>
      <p:pic>
        <p:nvPicPr>
          <p:cNvPr id="3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200B7BA6-9A6A-284F-B0F1-516E0941BA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76708" y="0"/>
            <a:ext cx="1515291" cy="6858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C0A6D4A-9529-C343-8CF7-152B28132B8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06984" y="6440128"/>
            <a:ext cx="9117119" cy="282996"/>
          </a:xfrm>
          <a:prstGeom prst="rect">
            <a:avLst/>
          </a:prstGeom>
        </p:spPr>
        <p:txBody>
          <a:bodyPr numCol="1" anchor="ctr" anchorCtr="0">
            <a:normAutofit/>
          </a:bodyPr>
          <a:lstStyle>
            <a:lvl1pPr marL="0" indent="0" algn="l">
              <a:buClr>
                <a:srgbClr val="EFB100"/>
              </a:buClr>
              <a:buFontTx/>
              <a:buNone/>
              <a:defRPr sz="8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Source info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C10CA9-5B6A-B32F-B425-B734ECAE36CF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6816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7640B7-7AFF-7417-1F11-E50F1DCCD6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96762-1918-7E1F-5AD2-DE6DC368436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05386" y="1724018"/>
            <a:ext cx="6701722" cy="4166738"/>
          </a:xfrm>
          <a:prstGeom prst="rect">
            <a:avLst/>
          </a:prstGeom>
        </p:spPr>
        <p:txBody>
          <a:bodyPr numCol="1" anchor="t" anchorCtr="0">
            <a:normAutofit/>
          </a:bodyPr>
          <a:lstStyle>
            <a:lvl1pPr marL="0" indent="0" algn="l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copy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5E316B2-169D-6D52-A527-C6B40B1B89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386" y="351463"/>
            <a:ext cx="6701722" cy="89176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2500" b="0" i="0" cap="none" spc="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D1717C-52FB-144E-90CC-01C00177D593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5E018B2-282C-AF42-808E-B3E6AC365A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AF661FA-6AB4-12E7-8FFA-2DCD444306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06985" y="6440128"/>
            <a:ext cx="6716308" cy="282996"/>
          </a:xfrm>
          <a:prstGeom prst="rect">
            <a:avLst/>
          </a:prstGeom>
        </p:spPr>
        <p:txBody>
          <a:bodyPr numCol="1" anchor="ctr" anchorCtr="0">
            <a:normAutofit/>
          </a:bodyPr>
          <a:lstStyle>
            <a:lvl1pPr marL="0" indent="0" algn="l">
              <a:buClr>
                <a:srgbClr val="EFB100"/>
              </a:buClr>
              <a:buFontTx/>
              <a:buNone/>
              <a:defRPr sz="8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Source info</a:t>
            </a:r>
          </a:p>
        </p:txBody>
      </p:sp>
    </p:spTree>
    <p:extLst>
      <p:ext uri="{BB962C8B-B14F-4D97-AF65-F5344CB8AC3E}">
        <p14:creationId xmlns:p14="http://schemas.microsoft.com/office/powerpoint/2010/main" val="23402630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CB76F5-443D-307A-4F4F-A54222DC00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96762-1918-7E1F-5AD2-DE6DC368436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05386" y="1724018"/>
            <a:ext cx="6701722" cy="4166738"/>
          </a:xfrm>
          <a:prstGeom prst="rect">
            <a:avLst/>
          </a:prstGeom>
        </p:spPr>
        <p:txBody>
          <a:bodyPr numCol="1" anchor="t" anchorCtr="0">
            <a:normAutofit/>
          </a:bodyPr>
          <a:lstStyle>
            <a:lvl1pPr marL="0" indent="0" algn="l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copy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5E316B2-169D-6D52-A527-C6B40B1B89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386" y="351463"/>
            <a:ext cx="6701722" cy="89176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2500" b="0" i="0" cap="none" spc="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D1717C-52FB-144E-90CC-01C00177D593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5E018B2-282C-AF42-808E-B3E6AC365A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AF661FA-6AB4-12E7-8FFA-2DCD444306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06985" y="6440128"/>
            <a:ext cx="6716308" cy="282996"/>
          </a:xfrm>
          <a:prstGeom prst="rect">
            <a:avLst/>
          </a:prstGeom>
        </p:spPr>
        <p:txBody>
          <a:bodyPr numCol="1" anchor="ctr" anchorCtr="0">
            <a:normAutofit/>
          </a:bodyPr>
          <a:lstStyle>
            <a:lvl1pPr marL="0" indent="0" algn="l">
              <a:buClr>
                <a:srgbClr val="EFB100"/>
              </a:buClr>
              <a:buFontTx/>
              <a:buNone/>
              <a:defRPr sz="8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Source info</a:t>
            </a:r>
          </a:p>
        </p:txBody>
      </p:sp>
    </p:spTree>
    <p:extLst>
      <p:ext uri="{BB962C8B-B14F-4D97-AF65-F5344CB8AC3E}">
        <p14:creationId xmlns:p14="http://schemas.microsoft.com/office/powerpoint/2010/main" val="13662052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hydrozoan&#10;&#10;Description automatically generated">
            <a:extLst>
              <a:ext uri="{FF2B5EF4-FFF2-40B4-BE49-F238E27FC236}">
                <a16:creationId xmlns:a16="http://schemas.microsoft.com/office/drawing/2014/main" id="{BF1AD092-F683-8AD7-F3CC-C04FA1E179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BC4C458-4D67-DC4F-BF96-F486AAA87FB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79501" y="981300"/>
            <a:ext cx="10282350" cy="270222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4000" b="1" i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PULL QUOTE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031D7B3-B5FB-5C48-8540-E32AA9B908C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79501" y="3737998"/>
            <a:ext cx="10282350" cy="71775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1500" b="1" i="1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- CLICK TO ADD QUOTE SOURCE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002F6E-25D1-944B-ACCE-6DFDA9F57082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9" name="Picture 8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BD4D1B4-A145-2C41-BEB5-82A163F4A9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9908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feather&#10;&#10;Description automatically generated with low confidence">
            <a:extLst>
              <a:ext uri="{FF2B5EF4-FFF2-40B4-BE49-F238E27FC236}">
                <a16:creationId xmlns:a16="http://schemas.microsoft.com/office/drawing/2014/main" id="{8F58AF28-C054-C943-9847-D52F9E6274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6812" y="0"/>
            <a:ext cx="12005188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69E47C-F884-1846-90B4-C593BF99860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9497" y="2349203"/>
            <a:ext cx="5692052" cy="237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1214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B683237A-D616-494D-A4AC-846B37D735AD}"/>
              </a:ext>
            </a:extLst>
          </p:cNvPr>
          <p:cNvGrpSpPr/>
          <p:nvPr userDrawn="1"/>
        </p:nvGrpSpPr>
        <p:grpSpPr>
          <a:xfrm>
            <a:off x="-2" y="-9060"/>
            <a:ext cx="12374464" cy="6945013"/>
            <a:chOff x="-2" y="-9060"/>
            <a:chExt cx="12374464" cy="6945013"/>
          </a:xfrm>
        </p:grpSpPr>
        <p:sp>
          <p:nvSpPr>
            <p:cNvPr id="4" name="black">
              <a:extLst>
                <a:ext uri="{FF2B5EF4-FFF2-40B4-BE49-F238E27FC236}">
                  <a16:creationId xmlns:a16="http://schemas.microsoft.com/office/drawing/2014/main" id="{F6DCD5AC-DCF6-0647-95B4-F2E652987841}"/>
                </a:ext>
              </a:extLst>
            </p:cNvPr>
            <p:cNvSpPr/>
            <p:nvPr userDrawn="1"/>
          </p:nvSpPr>
          <p:spPr>
            <a:xfrm>
              <a:off x="238538" y="0"/>
              <a:ext cx="11953461" cy="685800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9E94A27-A225-6147-851C-A0890CE294B7}"/>
                </a:ext>
              </a:extLst>
            </p:cNvPr>
            <p:cNvSpPr/>
            <p:nvPr userDrawn="1"/>
          </p:nvSpPr>
          <p:spPr>
            <a:xfrm rot="5400000" flipV="1">
              <a:off x="5786565" y="539284"/>
              <a:ext cx="6935953" cy="5857385"/>
            </a:xfrm>
            <a:custGeom>
              <a:avLst/>
              <a:gdLst>
                <a:gd name="connsiteX0" fmla="*/ 6858001 w 6858001"/>
                <a:gd name="connsiteY0" fmla="*/ 0 h 6878597"/>
                <a:gd name="connsiteX1" fmla="*/ 6858000 w 6858001"/>
                <a:gd name="connsiteY1" fmla="*/ 6878597 h 6878597"/>
                <a:gd name="connsiteX2" fmla="*/ 0 w 6858001"/>
                <a:gd name="connsiteY2" fmla="*/ 6878596 h 6878597"/>
                <a:gd name="connsiteX3" fmla="*/ 0 w 6858001"/>
                <a:gd name="connsiteY3" fmla="*/ 3420129 h 6878597"/>
                <a:gd name="connsiteX4" fmla="*/ 6858001 w 6858001"/>
                <a:gd name="connsiteY4" fmla="*/ 0 h 6878597"/>
                <a:gd name="connsiteX0" fmla="*/ 6858001 w 6858001"/>
                <a:gd name="connsiteY0" fmla="*/ 501092 h 7379689"/>
                <a:gd name="connsiteX1" fmla="*/ 6858000 w 6858001"/>
                <a:gd name="connsiteY1" fmla="*/ 7379689 h 7379689"/>
                <a:gd name="connsiteX2" fmla="*/ 0 w 6858001"/>
                <a:gd name="connsiteY2" fmla="*/ 7379688 h 7379689"/>
                <a:gd name="connsiteX3" fmla="*/ 0 w 6858001"/>
                <a:gd name="connsiteY3" fmla="*/ 1 h 7379689"/>
                <a:gd name="connsiteX4" fmla="*/ 6858001 w 6858001"/>
                <a:gd name="connsiteY4" fmla="*/ 501092 h 7379689"/>
                <a:gd name="connsiteX0" fmla="*/ 6622611 w 6858000"/>
                <a:gd name="connsiteY0" fmla="*/ 2602753 h 7379687"/>
                <a:gd name="connsiteX1" fmla="*/ 6858000 w 6858000"/>
                <a:gd name="connsiteY1" fmla="*/ 7379687 h 7379687"/>
                <a:gd name="connsiteX2" fmla="*/ 0 w 6858000"/>
                <a:gd name="connsiteY2" fmla="*/ 7379686 h 7379687"/>
                <a:gd name="connsiteX3" fmla="*/ 0 w 6858000"/>
                <a:gd name="connsiteY3" fmla="*/ -1 h 7379687"/>
                <a:gd name="connsiteX4" fmla="*/ 6622611 w 6858000"/>
                <a:gd name="connsiteY4" fmla="*/ 2602753 h 7379687"/>
                <a:gd name="connsiteX0" fmla="*/ 6858001 w 6858001"/>
                <a:gd name="connsiteY0" fmla="*/ 3759377 h 7379689"/>
                <a:gd name="connsiteX1" fmla="*/ 6858000 w 6858001"/>
                <a:gd name="connsiteY1" fmla="*/ 7379689 h 7379689"/>
                <a:gd name="connsiteX2" fmla="*/ 0 w 6858001"/>
                <a:gd name="connsiteY2" fmla="*/ 7379688 h 7379689"/>
                <a:gd name="connsiteX3" fmla="*/ 0 w 6858001"/>
                <a:gd name="connsiteY3" fmla="*/ 1 h 7379689"/>
                <a:gd name="connsiteX4" fmla="*/ 6858001 w 6858001"/>
                <a:gd name="connsiteY4" fmla="*/ 3759377 h 7379689"/>
                <a:gd name="connsiteX0" fmla="*/ 6867055 w 6867055"/>
                <a:gd name="connsiteY0" fmla="*/ 5451991 h 9072303"/>
                <a:gd name="connsiteX1" fmla="*/ 6867054 w 6867055"/>
                <a:gd name="connsiteY1" fmla="*/ 9072303 h 9072303"/>
                <a:gd name="connsiteX2" fmla="*/ 9054 w 6867055"/>
                <a:gd name="connsiteY2" fmla="*/ 9072302 h 9072303"/>
                <a:gd name="connsiteX3" fmla="*/ 0 w 6867055"/>
                <a:gd name="connsiteY3" fmla="*/ 0 h 9072303"/>
                <a:gd name="connsiteX4" fmla="*/ 6867055 w 6867055"/>
                <a:gd name="connsiteY4" fmla="*/ 5451991 h 9072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7055" h="9072303">
                  <a:moveTo>
                    <a:pt x="6867055" y="5451991"/>
                  </a:moveTo>
                  <a:cubicBezTo>
                    <a:pt x="6867055" y="7744857"/>
                    <a:pt x="6867054" y="6779437"/>
                    <a:pt x="6867054" y="9072303"/>
                  </a:cubicBezTo>
                  <a:lnTo>
                    <a:pt x="9054" y="9072302"/>
                  </a:lnTo>
                  <a:lnTo>
                    <a:pt x="0" y="0"/>
                  </a:lnTo>
                  <a:lnTo>
                    <a:pt x="6867055" y="5451991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AC3B53E-2B70-3B41-A899-8B16315F2C1C}"/>
                </a:ext>
              </a:extLst>
            </p:cNvPr>
            <p:cNvSpPr/>
            <p:nvPr userDrawn="1"/>
          </p:nvSpPr>
          <p:spPr>
            <a:xfrm rot="5400000" flipH="1" flipV="1">
              <a:off x="5772827" y="326150"/>
              <a:ext cx="6936846" cy="6266425"/>
            </a:xfrm>
            <a:custGeom>
              <a:avLst/>
              <a:gdLst>
                <a:gd name="connsiteX0" fmla="*/ 6858001 w 6858001"/>
                <a:gd name="connsiteY0" fmla="*/ 0 h 6878597"/>
                <a:gd name="connsiteX1" fmla="*/ 6858000 w 6858001"/>
                <a:gd name="connsiteY1" fmla="*/ 6878597 h 6878597"/>
                <a:gd name="connsiteX2" fmla="*/ 0 w 6858001"/>
                <a:gd name="connsiteY2" fmla="*/ 6878596 h 6878597"/>
                <a:gd name="connsiteX3" fmla="*/ 0 w 6858001"/>
                <a:gd name="connsiteY3" fmla="*/ 3420129 h 6878597"/>
                <a:gd name="connsiteX4" fmla="*/ 6858001 w 6858001"/>
                <a:gd name="connsiteY4" fmla="*/ 0 h 6878597"/>
                <a:gd name="connsiteX0" fmla="*/ 6858001 w 6858001"/>
                <a:gd name="connsiteY0" fmla="*/ 501092 h 7379689"/>
                <a:gd name="connsiteX1" fmla="*/ 6858000 w 6858001"/>
                <a:gd name="connsiteY1" fmla="*/ 7379689 h 7379689"/>
                <a:gd name="connsiteX2" fmla="*/ 0 w 6858001"/>
                <a:gd name="connsiteY2" fmla="*/ 7379688 h 7379689"/>
                <a:gd name="connsiteX3" fmla="*/ 0 w 6858001"/>
                <a:gd name="connsiteY3" fmla="*/ 1 h 7379689"/>
                <a:gd name="connsiteX4" fmla="*/ 6858001 w 6858001"/>
                <a:gd name="connsiteY4" fmla="*/ 501092 h 7379689"/>
                <a:gd name="connsiteX0" fmla="*/ 6622611 w 6858000"/>
                <a:gd name="connsiteY0" fmla="*/ 2602753 h 7379687"/>
                <a:gd name="connsiteX1" fmla="*/ 6858000 w 6858000"/>
                <a:gd name="connsiteY1" fmla="*/ 7379687 h 7379687"/>
                <a:gd name="connsiteX2" fmla="*/ 0 w 6858000"/>
                <a:gd name="connsiteY2" fmla="*/ 7379686 h 7379687"/>
                <a:gd name="connsiteX3" fmla="*/ 0 w 6858000"/>
                <a:gd name="connsiteY3" fmla="*/ -1 h 7379687"/>
                <a:gd name="connsiteX4" fmla="*/ 6622611 w 6858000"/>
                <a:gd name="connsiteY4" fmla="*/ 2602753 h 7379687"/>
                <a:gd name="connsiteX0" fmla="*/ 6858001 w 6858001"/>
                <a:gd name="connsiteY0" fmla="*/ 3759377 h 7379689"/>
                <a:gd name="connsiteX1" fmla="*/ 6858000 w 6858001"/>
                <a:gd name="connsiteY1" fmla="*/ 7379689 h 7379689"/>
                <a:gd name="connsiteX2" fmla="*/ 0 w 6858001"/>
                <a:gd name="connsiteY2" fmla="*/ 7379688 h 7379689"/>
                <a:gd name="connsiteX3" fmla="*/ 0 w 6858001"/>
                <a:gd name="connsiteY3" fmla="*/ 1 h 7379689"/>
                <a:gd name="connsiteX4" fmla="*/ 6858001 w 6858001"/>
                <a:gd name="connsiteY4" fmla="*/ 3759377 h 7379689"/>
                <a:gd name="connsiteX0" fmla="*/ 6867055 w 6867055"/>
                <a:gd name="connsiteY0" fmla="*/ 5451991 h 9072303"/>
                <a:gd name="connsiteX1" fmla="*/ 6867054 w 6867055"/>
                <a:gd name="connsiteY1" fmla="*/ 9072303 h 9072303"/>
                <a:gd name="connsiteX2" fmla="*/ 9054 w 6867055"/>
                <a:gd name="connsiteY2" fmla="*/ 9072302 h 9072303"/>
                <a:gd name="connsiteX3" fmla="*/ 0 w 6867055"/>
                <a:gd name="connsiteY3" fmla="*/ 0 h 9072303"/>
                <a:gd name="connsiteX4" fmla="*/ 6867055 w 6867055"/>
                <a:gd name="connsiteY4" fmla="*/ 5451991 h 9072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7055" h="9072303">
                  <a:moveTo>
                    <a:pt x="6867055" y="5451991"/>
                  </a:moveTo>
                  <a:cubicBezTo>
                    <a:pt x="6867055" y="7744857"/>
                    <a:pt x="6867054" y="6779437"/>
                    <a:pt x="6867054" y="9072303"/>
                  </a:cubicBezTo>
                  <a:lnTo>
                    <a:pt x="9054" y="9072302"/>
                  </a:lnTo>
                  <a:lnTo>
                    <a:pt x="0" y="0"/>
                  </a:lnTo>
                  <a:lnTo>
                    <a:pt x="6867055" y="5451991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" name="white">
              <a:extLst>
                <a:ext uri="{FF2B5EF4-FFF2-40B4-BE49-F238E27FC236}">
                  <a16:creationId xmlns:a16="http://schemas.microsoft.com/office/drawing/2014/main" id="{A8B156E5-1BF1-664F-BB39-E9961319055F}"/>
                </a:ext>
              </a:extLst>
            </p:cNvPr>
            <p:cNvSpPr/>
            <p:nvPr userDrawn="1"/>
          </p:nvSpPr>
          <p:spPr>
            <a:xfrm rot="16200000" flipV="1">
              <a:off x="1468629" y="-1459867"/>
              <a:ext cx="6857997" cy="9777725"/>
            </a:xfrm>
            <a:custGeom>
              <a:avLst/>
              <a:gdLst>
                <a:gd name="connsiteX0" fmla="*/ 6858001 w 6858001"/>
                <a:gd name="connsiteY0" fmla="*/ 0 h 6878597"/>
                <a:gd name="connsiteX1" fmla="*/ 6858000 w 6858001"/>
                <a:gd name="connsiteY1" fmla="*/ 6878597 h 6878597"/>
                <a:gd name="connsiteX2" fmla="*/ 0 w 6858001"/>
                <a:gd name="connsiteY2" fmla="*/ 6878596 h 6878597"/>
                <a:gd name="connsiteX3" fmla="*/ 0 w 6858001"/>
                <a:gd name="connsiteY3" fmla="*/ 3420129 h 6878597"/>
                <a:gd name="connsiteX4" fmla="*/ 6858001 w 6858001"/>
                <a:gd name="connsiteY4" fmla="*/ 0 h 6878597"/>
                <a:gd name="connsiteX0" fmla="*/ 6858001 w 6858001"/>
                <a:gd name="connsiteY0" fmla="*/ 0 h 6878597"/>
                <a:gd name="connsiteX1" fmla="*/ 6858000 w 6858001"/>
                <a:gd name="connsiteY1" fmla="*/ 6878597 h 6878597"/>
                <a:gd name="connsiteX2" fmla="*/ 0 w 6858001"/>
                <a:gd name="connsiteY2" fmla="*/ 6878596 h 6878597"/>
                <a:gd name="connsiteX3" fmla="*/ 0 w 6858001"/>
                <a:gd name="connsiteY3" fmla="*/ 5547693 h 6878597"/>
                <a:gd name="connsiteX4" fmla="*/ 6858001 w 6858001"/>
                <a:gd name="connsiteY4" fmla="*/ 0 h 687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58001" h="6878597">
                  <a:moveTo>
                    <a:pt x="6858001" y="0"/>
                  </a:moveTo>
                  <a:cubicBezTo>
                    <a:pt x="6858001" y="2292866"/>
                    <a:pt x="6858000" y="4585731"/>
                    <a:pt x="6858000" y="6878597"/>
                  </a:cubicBezTo>
                  <a:lnTo>
                    <a:pt x="0" y="6878596"/>
                  </a:lnTo>
                  <a:lnTo>
                    <a:pt x="0" y="5547693"/>
                  </a:lnTo>
                  <a:lnTo>
                    <a:pt x="685800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" name="white shadow">
              <a:extLst>
                <a:ext uri="{FF2B5EF4-FFF2-40B4-BE49-F238E27FC236}">
                  <a16:creationId xmlns:a16="http://schemas.microsoft.com/office/drawing/2014/main" id="{33E7780B-0330-044C-92C7-124D4A4ED3BB}"/>
                </a:ext>
              </a:extLst>
            </p:cNvPr>
            <p:cNvSpPr/>
            <p:nvPr userDrawn="1"/>
          </p:nvSpPr>
          <p:spPr>
            <a:xfrm rot="5400000">
              <a:off x="-2489149" y="2489148"/>
              <a:ext cx="6867058" cy="1888762"/>
            </a:xfrm>
            <a:custGeom>
              <a:avLst/>
              <a:gdLst>
                <a:gd name="connsiteX0" fmla="*/ 6858001 w 6858001"/>
                <a:gd name="connsiteY0" fmla="*/ 0 h 6878597"/>
                <a:gd name="connsiteX1" fmla="*/ 6858000 w 6858001"/>
                <a:gd name="connsiteY1" fmla="*/ 6878597 h 6878597"/>
                <a:gd name="connsiteX2" fmla="*/ 0 w 6858001"/>
                <a:gd name="connsiteY2" fmla="*/ 6878596 h 6878597"/>
                <a:gd name="connsiteX3" fmla="*/ 0 w 6858001"/>
                <a:gd name="connsiteY3" fmla="*/ 3420129 h 6878597"/>
                <a:gd name="connsiteX4" fmla="*/ 6858001 w 6858001"/>
                <a:gd name="connsiteY4" fmla="*/ 0 h 6878597"/>
                <a:gd name="connsiteX0" fmla="*/ 6858001 w 6858001"/>
                <a:gd name="connsiteY0" fmla="*/ 0 h 6878597"/>
                <a:gd name="connsiteX1" fmla="*/ 6858000 w 6858001"/>
                <a:gd name="connsiteY1" fmla="*/ 6878597 h 6878597"/>
                <a:gd name="connsiteX2" fmla="*/ 0 w 6858001"/>
                <a:gd name="connsiteY2" fmla="*/ 6878596 h 6878597"/>
                <a:gd name="connsiteX3" fmla="*/ 0 w 6858001"/>
                <a:gd name="connsiteY3" fmla="*/ 5547693 h 6878597"/>
                <a:gd name="connsiteX4" fmla="*/ 6858001 w 6858001"/>
                <a:gd name="connsiteY4" fmla="*/ 0 h 687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58001" h="6878597">
                  <a:moveTo>
                    <a:pt x="6858001" y="0"/>
                  </a:moveTo>
                  <a:cubicBezTo>
                    <a:pt x="6858001" y="2292866"/>
                    <a:pt x="6858000" y="4585731"/>
                    <a:pt x="6858000" y="6878597"/>
                  </a:cubicBezTo>
                  <a:lnTo>
                    <a:pt x="0" y="6878596"/>
                  </a:lnTo>
                  <a:lnTo>
                    <a:pt x="0" y="5547693"/>
                  </a:lnTo>
                  <a:lnTo>
                    <a:pt x="6858001" y="0"/>
                  </a:lnTo>
                  <a:close/>
                </a:path>
              </a:pathLst>
            </a:custGeom>
            <a:solidFill>
              <a:schemeClr val="tx1">
                <a:alpha val="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" name="white shadow">
              <a:extLst>
                <a:ext uri="{FF2B5EF4-FFF2-40B4-BE49-F238E27FC236}">
                  <a16:creationId xmlns:a16="http://schemas.microsoft.com/office/drawing/2014/main" id="{8F4294AD-BB43-D940-BAA6-E0B8D219B62B}"/>
                </a:ext>
              </a:extLst>
            </p:cNvPr>
            <p:cNvSpPr/>
            <p:nvPr userDrawn="1"/>
          </p:nvSpPr>
          <p:spPr>
            <a:xfrm rot="5400000">
              <a:off x="-1040662" y="1031600"/>
              <a:ext cx="6867055" cy="4785735"/>
            </a:xfrm>
            <a:custGeom>
              <a:avLst/>
              <a:gdLst>
                <a:gd name="connsiteX0" fmla="*/ 6858001 w 6858001"/>
                <a:gd name="connsiteY0" fmla="*/ 0 h 6878597"/>
                <a:gd name="connsiteX1" fmla="*/ 6858000 w 6858001"/>
                <a:gd name="connsiteY1" fmla="*/ 6878597 h 6878597"/>
                <a:gd name="connsiteX2" fmla="*/ 0 w 6858001"/>
                <a:gd name="connsiteY2" fmla="*/ 6878596 h 6878597"/>
                <a:gd name="connsiteX3" fmla="*/ 0 w 6858001"/>
                <a:gd name="connsiteY3" fmla="*/ 3420129 h 6878597"/>
                <a:gd name="connsiteX4" fmla="*/ 6858001 w 6858001"/>
                <a:gd name="connsiteY4" fmla="*/ 0 h 6878597"/>
                <a:gd name="connsiteX0" fmla="*/ 6858001 w 6858001"/>
                <a:gd name="connsiteY0" fmla="*/ 501092 h 7379689"/>
                <a:gd name="connsiteX1" fmla="*/ 6858000 w 6858001"/>
                <a:gd name="connsiteY1" fmla="*/ 7379689 h 7379689"/>
                <a:gd name="connsiteX2" fmla="*/ 0 w 6858001"/>
                <a:gd name="connsiteY2" fmla="*/ 7379688 h 7379689"/>
                <a:gd name="connsiteX3" fmla="*/ 0 w 6858001"/>
                <a:gd name="connsiteY3" fmla="*/ 1 h 7379689"/>
                <a:gd name="connsiteX4" fmla="*/ 6858001 w 6858001"/>
                <a:gd name="connsiteY4" fmla="*/ 501092 h 7379689"/>
                <a:gd name="connsiteX0" fmla="*/ 6622611 w 6858000"/>
                <a:gd name="connsiteY0" fmla="*/ 2602753 h 7379687"/>
                <a:gd name="connsiteX1" fmla="*/ 6858000 w 6858000"/>
                <a:gd name="connsiteY1" fmla="*/ 7379687 h 7379687"/>
                <a:gd name="connsiteX2" fmla="*/ 0 w 6858000"/>
                <a:gd name="connsiteY2" fmla="*/ 7379686 h 7379687"/>
                <a:gd name="connsiteX3" fmla="*/ 0 w 6858000"/>
                <a:gd name="connsiteY3" fmla="*/ -1 h 7379687"/>
                <a:gd name="connsiteX4" fmla="*/ 6622611 w 6858000"/>
                <a:gd name="connsiteY4" fmla="*/ 2602753 h 7379687"/>
                <a:gd name="connsiteX0" fmla="*/ 6858001 w 6858001"/>
                <a:gd name="connsiteY0" fmla="*/ 3759377 h 7379689"/>
                <a:gd name="connsiteX1" fmla="*/ 6858000 w 6858001"/>
                <a:gd name="connsiteY1" fmla="*/ 7379689 h 7379689"/>
                <a:gd name="connsiteX2" fmla="*/ 0 w 6858001"/>
                <a:gd name="connsiteY2" fmla="*/ 7379688 h 7379689"/>
                <a:gd name="connsiteX3" fmla="*/ 0 w 6858001"/>
                <a:gd name="connsiteY3" fmla="*/ 1 h 7379689"/>
                <a:gd name="connsiteX4" fmla="*/ 6858001 w 6858001"/>
                <a:gd name="connsiteY4" fmla="*/ 3759377 h 7379689"/>
                <a:gd name="connsiteX0" fmla="*/ 6867055 w 6867055"/>
                <a:gd name="connsiteY0" fmla="*/ 5451991 h 9072303"/>
                <a:gd name="connsiteX1" fmla="*/ 6867054 w 6867055"/>
                <a:gd name="connsiteY1" fmla="*/ 9072303 h 9072303"/>
                <a:gd name="connsiteX2" fmla="*/ 9054 w 6867055"/>
                <a:gd name="connsiteY2" fmla="*/ 9072302 h 9072303"/>
                <a:gd name="connsiteX3" fmla="*/ 0 w 6867055"/>
                <a:gd name="connsiteY3" fmla="*/ 0 h 9072303"/>
                <a:gd name="connsiteX4" fmla="*/ 6867055 w 6867055"/>
                <a:gd name="connsiteY4" fmla="*/ 5451991 h 9072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7055" h="9072303">
                  <a:moveTo>
                    <a:pt x="6867055" y="5451991"/>
                  </a:moveTo>
                  <a:cubicBezTo>
                    <a:pt x="6867055" y="7744857"/>
                    <a:pt x="6867054" y="6779437"/>
                    <a:pt x="6867054" y="9072303"/>
                  </a:cubicBezTo>
                  <a:lnTo>
                    <a:pt x="9054" y="9072302"/>
                  </a:lnTo>
                  <a:lnTo>
                    <a:pt x="0" y="0"/>
                  </a:lnTo>
                  <a:lnTo>
                    <a:pt x="6867055" y="5451991"/>
                  </a:lnTo>
                  <a:close/>
                </a:path>
              </a:pathLst>
            </a:custGeom>
            <a:solidFill>
              <a:schemeClr val="tx1">
                <a:alpha val="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93309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050505"/>
                </a:solidFill>
                <a:latin typeface="Tw Cen MT Condensed"/>
                <a:cs typeface="Tw Cen MT Condense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Tw Cen MT"/>
                <a:cs typeface="Tw Cen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41893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04AAB1-8FA4-094A-A0C5-6F581A3E1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AE00BE4-ADF4-7C4A-868E-2CFE138433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38514607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F52C5AA-B235-4A56-B959-4594845941DF}"/>
              </a:ext>
            </a:extLst>
          </p:cNvPr>
          <p:cNvSpPr/>
          <p:nvPr userDrawn="1"/>
        </p:nvSpPr>
        <p:spPr>
          <a:xfrm>
            <a:off x="-17418" y="0"/>
            <a:ext cx="12255335" cy="6858000"/>
          </a:xfrm>
          <a:prstGeom prst="rect">
            <a:avLst/>
          </a:prstGeom>
          <a:solidFill>
            <a:srgbClr val="010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picture containing train&#10;&#10;Description automatically generated">
            <a:extLst>
              <a:ext uri="{FF2B5EF4-FFF2-40B4-BE49-F238E27FC236}">
                <a16:creationId xmlns:a16="http://schemas.microsoft.com/office/drawing/2014/main" id="{31E95731-2E1A-784D-8D55-F0D1E26999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959"/>
          <a:stretch/>
        </p:blipFill>
        <p:spPr>
          <a:xfrm>
            <a:off x="2849389" y="1185334"/>
            <a:ext cx="9342611" cy="5675308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1716456-8D7A-1040-AFFC-84FF08E6B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533"/>
            <a:ext cx="10777451" cy="9511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0" i="0">
                <a:latin typeface="Montserrat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CD427AF-6F91-1D45-96C9-FEFF051FC0CA}"/>
              </a:ext>
            </a:extLst>
          </p:cNvPr>
          <p:cNvCxnSpPr>
            <a:cxnSpLocks/>
          </p:cNvCxnSpPr>
          <p:nvPr userDrawn="1"/>
        </p:nvCxnSpPr>
        <p:spPr>
          <a:xfrm>
            <a:off x="350838" y="956732"/>
            <a:ext cx="11460162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BAEF76-77F2-2240-ABC6-B31D136134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Source: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B20BD5E-0F9C-2540-9989-63B05FC0F9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lum bright="100000"/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1925" y="6388042"/>
            <a:ext cx="1058910" cy="41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0087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B683237A-D616-494D-A4AC-846B37D735AD}"/>
              </a:ext>
            </a:extLst>
          </p:cNvPr>
          <p:cNvGrpSpPr/>
          <p:nvPr userDrawn="1"/>
        </p:nvGrpSpPr>
        <p:grpSpPr>
          <a:xfrm>
            <a:off x="-1" y="-9060"/>
            <a:ext cx="12374463" cy="6945013"/>
            <a:chOff x="-1" y="-9060"/>
            <a:chExt cx="12374463" cy="6945013"/>
          </a:xfrm>
        </p:grpSpPr>
        <p:sp>
          <p:nvSpPr>
            <p:cNvPr id="4" name="black">
              <a:extLst>
                <a:ext uri="{FF2B5EF4-FFF2-40B4-BE49-F238E27FC236}">
                  <a16:creationId xmlns:a16="http://schemas.microsoft.com/office/drawing/2014/main" id="{F6DCD5AC-DCF6-0647-95B4-F2E652987841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9E94A27-A225-6147-851C-A0890CE294B7}"/>
                </a:ext>
              </a:extLst>
            </p:cNvPr>
            <p:cNvSpPr/>
            <p:nvPr userDrawn="1"/>
          </p:nvSpPr>
          <p:spPr>
            <a:xfrm rot="5400000" flipV="1">
              <a:off x="5786565" y="539284"/>
              <a:ext cx="6935953" cy="5857385"/>
            </a:xfrm>
            <a:custGeom>
              <a:avLst/>
              <a:gdLst>
                <a:gd name="connsiteX0" fmla="*/ 6858001 w 6858001"/>
                <a:gd name="connsiteY0" fmla="*/ 0 h 6878597"/>
                <a:gd name="connsiteX1" fmla="*/ 6858000 w 6858001"/>
                <a:gd name="connsiteY1" fmla="*/ 6878597 h 6878597"/>
                <a:gd name="connsiteX2" fmla="*/ 0 w 6858001"/>
                <a:gd name="connsiteY2" fmla="*/ 6878596 h 6878597"/>
                <a:gd name="connsiteX3" fmla="*/ 0 w 6858001"/>
                <a:gd name="connsiteY3" fmla="*/ 3420129 h 6878597"/>
                <a:gd name="connsiteX4" fmla="*/ 6858001 w 6858001"/>
                <a:gd name="connsiteY4" fmla="*/ 0 h 6878597"/>
                <a:gd name="connsiteX0" fmla="*/ 6858001 w 6858001"/>
                <a:gd name="connsiteY0" fmla="*/ 501092 h 7379689"/>
                <a:gd name="connsiteX1" fmla="*/ 6858000 w 6858001"/>
                <a:gd name="connsiteY1" fmla="*/ 7379689 h 7379689"/>
                <a:gd name="connsiteX2" fmla="*/ 0 w 6858001"/>
                <a:gd name="connsiteY2" fmla="*/ 7379688 h 7379689"/>
                <a:gd name="connsiteX3" fmla="*/ 0 w 6858001"/>
                <a:gd name="connsiteY3" fmla="*/ 1 h 7379689"/>
                <a:gd name="connsiteX4" fmla="*/ 6858001 w 6858001"/>
                <a:gd name="connsiteY4" fmla="*/ 501092 h 7379689"/>
                <a:gd name="connsiteX0" fmla="*/ 6622611 w 6858000"/>
                <a:gd name="connsiteY0" fmla="*/ 2602753 h 7379687"/>
                <a:gd name="connsiteX1" fmla="*/ 6858000 w 6858000"/>
                <a:gd name="connsiteY1" fmla="*/ 7379687 h 7379687"/>
                <a:gd name="connsiteX2" fmla="*/ 0 w 6858000"/>
                <a:gd name="connsiteY2" fmla="*/ 7379686 h 7379687"/>
                <a:gd name="connsiteX3" fmla="*/ 0 w 6858000"/>
                <a:gd name="connsiteY3" fmla="*/ -1 h 7379687"/>
                <a:gd name="connsiteX4" fmla="*/ 6622611 w 6858000"/>
                <a:gd name="connsiteY4" fmla="*/ 2602753 h 7379687"/>
                <a:gd name="connsiteX0" fmla="*/ 6858001 w 6858001"/>
                <a:gd name="connsiteY0" fmla="*/ 3759377 h 7379689"/>
                <a:gd name="connsiteX1" fmla="*/ 6858000 w 6858001"/>
                <a:gd name="connsiteY1" fmla="*/ 7379689 h 7379689"/>
                <a:gd name="connsiteX2" fmla="*/ 0 w 6858001"/>
                <a:gd name="connsiteY2" fmla="*/ 7379688 h 7379689"/>
                <a:gd name="connsiteX3" fmla="*/ 0 w 6858001"/>
                <a:gd name="connsiteY3" fmla="*/ 1 h 7379689"/>
                <a:gd name="connsiteX4" fmla="*/ 6858001 w 6858001"/>
                <a:gd name="connsiteY4" fmla="*/ 3759377 h 7379689"/>
                <a:gd name="connsiteX0" fmla="*/ 6867055 w 6867055"/>
                <a:gd name="connsiteY0" fmla="*/ 5451991 h 9072303"/>
                <a:gd name="connsiteX1" fmla="*/ 6867054 w 6867055"/>
                <a:gd name="connsiteY1" fmla="*/ 9072303 h 9072303"/>
                <a:gd name="connsiteX2" fmla="*/ 9054 w 6867055"/>
                <a:gd name="connsiteY2" fmla="*/ 9072302 h 9072303"/>
                <a:gd name="connsiteX3" fmla="*/ 0 w 6867055"/>
                <a:gd name="connsiteY3" fmla="*/ 0 h 9072303"/>
                <a:gd name="connsiteX4" fmla="*/ 6867055 w 6867055"/>
                <a:gd name="connsiteY4" fmla="*/ 5451991 h 9072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7055" h="9072303">
                  <a:moveTo>
                    <a:pt x="6867055" y="5451991"/>
                  </a:moveTo>
                  <a:cubicBezTo>
                    <a:pt x="6867055" y="7744857"/>
                    <a:pt x="6867054" y="6779437"/>
                    <a:pt x="6867054" y="9072303"/>
                  </a:cubicBezTo>
                  <a:lnTo>
                    <a:pt x="9054" y="9072302"/>
                  </a:lnTo>
                  <a:lnTo>
                    <a:pt x="0" y="0"/>
                  </a:lnTo>
                  <a:lnTo>
                    <a:pt x="6867055" y="5451991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AC3B53E-2B70-3B41-A899-8B16315F2C1C}"/>
                </a:ext>
              </a:extLst>
            </p:cNvPr>
            <p:cNvSpPr/>
            <p:nvPr userDrawn="1"/>
          </p:nvSpPr>
          <p:spPr>
            <a:xfrm rot="5400000" flipH="1" flipV="1">
              <a:off x="5772827" y="326150"/>
              <a:ext cx="6936846" cy="6266425"/>
            </a:xfrm>
            <a:custGeom>
              <a:avLst/>
              <a:gdLst>
                <a:gd name="connsiteX0" fmla="*/ 6858001 w 6858001"/>
                <a:gd name="connsiteY0" fmla="*/ 0 h 6878597"/>
                <a:gd name="connsiteX1" fmla="*/ 6858000 w 6858001"/>
                <a:gd name="connsiteY1" fmla="*/ 6878597 h 6878597"/>
                <a:gd name="connsiteX2" fmla="*/ 0 w 6858001"/>
                <a:gd name="connsiteY2" fmla="*/ 6878596 h 6878597"/>
                <a:gd name="connsiteX3" fmla="*/ 0 w 6858001"/>
                <a:gd name="connsiteY3" fmla="*/ 3420129 h 6878597"/>
                <a:gd name="connsiteX4" fmla="*/ 6858001 w 6858001"/>
                <a:gd name="connsiteY4" fmla="*/ 0 h 6878597"/>
                <a:gd name="connsiteX0" fmla="*/ 6858001 w 6858001"/>
                <a:gd name="connsiteY0" fmla="*/ 501092 h 7379689"/>
                <a:gd name="connsiteX1" fmla="*/ 6858000 w 6858001"/>
                <a:gd name="connsiteY1" fmla="*/ 7379689 h 7379689"/>
                <a:gd name="connsiteX2" fmla="*/ 0 w 6858001"/>
                <a:gd name="connsiteY2" fmla="*/ 7379688 h 7379689"/>
                <a:gd name="connsiteX3" fmla="*/ 0 w 6858001"/>
                <a:gd name="connsiteY3" fmla="*/ 1 h 7379689"/>
                <a:gd name="connsiteX4" fmla="*/ 6858001 w 6858001"/>
                <a:gd name="connsiteY4" fmla="*/ 501092 h 7379689"/>
                <a:gd name="connsiteX0" fmla="*/ 6622611 w 6858000"/>
                <a:gd name="connsiteY0" fmla="*/ 2602753 h 7379687"/>
                <a:gd name="connsiteX1" fmla="*/ 6858000 w 6858000"/>
                <a:gd name="connsiteY1" fmla="*/ 7379687 h 7379687"/>
                <a:gd name="connsiteX2" fmla="*/ 0 w 6858000"/>
                <a:gd name="connsiteY2" fmla="*/ 7379686 h 7379687"/>
                <a:gd name="connsiteX3" fmla="*/ 0 w 6858000"/>
                <a:gd name="connsiteY3" fmla="*/ -1 h 7379687"/>
                <a:gd name="connsiteX4" fmla="*/ 6622611 w 6858000"/>
                <a:gd name="connsiteY4" fmla="*/ 2602753 h 7379687"/>
                <a:gd name="connsiteX0" fmla="*/ 6858001 w 6858001"/>
                <a:gd name="connsiteY0" fmla="*/ 3759377 h 7379689"/>
                <a:gd name="connsiteX1" fmla="*/ 6858000 w 6858001"/>
                <a:gd name="connsiteY1" fmla="*/ 7379689 h 7379689"/>
                <a:gd name="connsiteX2" fmla="*/ 0 w 6858001"/>
                <a:gd name="connsiteY2" fmla="*/ 7379688 h 7379689"/>
                <a:gd name="connsiteX3" fmla="*/ 0 w 6858001"/>
                <a:gd name="connsiteY3" fmla="*/ 1 h 7379689"/>
                <a:gd name="connsiteX4" fmla="*/ 6858001 w 6858001"/>
                <a:gd name="connsiteY4" fmla="*/ 3759377 h 7379689"/>
                <a:gd name="connsiteX0" fmla="*/ 6867055 w 6867055"/>
                <a:gd name="connsiteY0" fmla="*/ 5451991 h 9072303"/>
                <a:gd name="connsiteX1" fmla="*/ 6867054 w 6867055"/>
                <a:gd name="connsiteY1" fmla="*/ 9072303 h 9072303"/>
                <a:gd name="connsiteX2" fmla="*/ 9054 w 6867055"/>
                <a:gd name="connsiteY2" fmla="*/ 9072302 h 9072303"/>
                <a:gd name="connsiteX3" fmla="*/ 0 w 6867055"/>
                <a:gd name="connsiteY3" fmla="*/ 0 h 9072303"/>
                <a:gd name="connsiteX4" fmla="*/ 6867055 w 6867055"/>
                <a:gd name="connsiteY4" fmla="*/ 5451991 h 9072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7055" h="9072303">
                  <a:moveTo>
                    <a:pt x="6867055" y="5451991"/>
                  </a:moveTo>
                  <a:cubicBezTo>
                    <a:pt x="6867055" y="7744857"/>
                    <a:pt x="6867054" y="6779437"/>
                    <a:pt x="6867054" y="9072303"/>
                  </a:cubicBezTo>
                  <a:lnTo>
                    <a:pt x="9054" y="9072302"/>
                  </a:lnTo>
                  <a:lnTo>
                    <a:pt x="0" y="0"/>
                  </a:lnTo>
                  <a:lnTo>
                    <a:pt x="6867055" y="5451991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" name="white">
              <a:extLst>
                <a:ext uri="{FF2B5EF4-FFF2-40B4-BE49-F238E27FC236}">
                  <a16:creationId xmlns:a16="http://schemas.microsoft.com/office/drawing/2014/main" id="{A8B156E5-1BF1-664F-BB39-E9961319055F}"/>
                </a:ext>
              </a:extLst>
            </p:cNvPr>
            <p:cNvSpPr/>
            <p:nvPr userDrawn="1"/>
          </p:nvSpPr>
          <p:spPr>
            <a:xfrm rot="16200000" flipV="1">
              <a:off x="1473598" y="-1464834"/>
              <a:ext cx="6858001" cy="9787666"/>
            </a:xfrm>
            <a:custGeom>
              <a:avLst/>
              <a:gdLst>
                <a:gd name="connsiteX0" fmla="*/ 6858001 w 6858001"/>
                <a:gd name="connsiteY0" fmla="*/ 0 h 6878597"/>
                <a:gd name="connsiteX1" fmla="*/ 6858000 w 6858001"/>
                <a:gd name="connsiteY1" fmla="*/ 6878597 h 6878597"/>
                <a:gd name="connsiteX2" fmla="*/ 0 w 6858001"/>
                <a:gd name="connsiteY2" fmla="*/ 6878596 h 6878597"/>
                <a:gd name="connsiteX3" fmla="*/ 0 w 6858001"/>
                <a:gd name="connsiteY3" fmla="*/ 3420129 h 6878597"/>
                <a:gd name="connsiteX4" fmla="*/ 6858001 w 6858001"/>
                <a:gd name="connsiteY4" fmla="*/ 0 h 6878597"/>
                <a:gd name="connsiteX0" fmla="*/ 6858001 w 6858001"/>
                <a:gd name="connsiteY0" fmla="*/ 0 h 6878597"/>
                <a:gd name="connsiteX1" fmla="*/ 6858000 w 6858001"/>
                <a:gd name="connsiteY1" fmla="*/ 6878597 h 6878597"/>
                <a:gd name="connsiteX2" fmla="*/ 0 w 6858001"/>
                <a:gd name="connsiteY2" fmla="*/ 6878596 h 6878597"/>
                <a:gd name="connsiteX3" fmla="*/ 0 w 6858001"/>
                <a:gd name="connsiteY3" fmla="*/ 5547693 h 6878597"/>
                <a:gd name="connsiteX4" fmla="*/ 6858001 w 6858001"/>
                <a:gd name="connsiteY4" fmla="*/ 0 h 687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58001" h="6878597">
                  <a:moveTo>
                    <a:pt x="6858001" y="0"/>
                  </a:moveTo>
                  <a:cubicBezTo>
                    <a:pt x="6858001" y="2292866"/>
                    <a:pt x="6858000" y="4585731"/>
                    <a:pt x="6858000" y="6878597"/>
                  </a:cubicBezTo>
                  <a:lnTo>
                    <a:pt x="0" y="6878596"/>
                  </a:lnTo>
                  <a:lnTo>
                    <a:pt x="0" y="5547693"/>
                  </a:lnTo>
                  <a:lnTo>
                    <a:pt x="685800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" name="white shadow">
              <a:extLst>
                <a:ext uri="{FF2B5EF4-FFF2-40B4-BE49-F238E27FC236}">
                  <a16:creationId xmlns:a16="http://schemas.microsoft.com/office/drawing/2014/main" id="{33E7780B-0330-044C-92C7-124D4A4ED3BB}"/>
                </a:ext>
              </a:extLst>
            </p:cNvPr>
            <p:cNvSpPr/>
            <p:nvPr userDrawn="1"/>
          </p:nvSpPr>
          <p:spPr>
            <a:xfrm rot="5400000">
              <a:off x="-2489149" y="2489148"/>
              <a:ext cx="6867058" cy="1888762"/>
            </a:xfrm>
            <a:custGeom>
              <a:avLst/>
              <a:gdLst>
                <a:gd name="connsiteX0" fmla="*/ 6858001 w 6858001"/>
                <a:gd name="connsiteY0" fmla="*/ 0 h 6878597"/>
                <a:gd name="connsiteX1" fmla="*/ 6858000 w 6858001"/>
                <a:gd name="connsiteY1" fmla="*/ 6878597 h 6878597"/>
                <a:gd name="connsiteX2" fmla="*/ 0 w 6858001"/>
                <a:gd name="connsiteY2" fmla="*/ 6878596 h 6878597"/>
                <a:gd name="connsiteX3" fmla="*/ 0 w 6858001"/>
                <a:gd name="connsiteY3" fmla="*/ 3420129 h 6878597"/>
                <a:gd name="connsiteX4" fmla="*/ 6858001 w 6858001"/>
                <a:gd name="connsiteY4" fmla="*/ 0 h 6878597"/>
                <a:gd name="connsiteX0" fmla="*/ 6858001 w 6858001"/>
                <a:gd name="connsiteY0" fmla="*/ 0 h 6878597"/>
                <a:gd name="connsiteX1" fmla="*/ 6858000 w 6858001"/>
                <a:gd name="connsiteY1" fmla="*/ 6878597 h 6878597"/>
                <a:gd name="connsiteX2" fmla="*/ 0 w 6858001"/>
                <a:gd name="connsiteY2" fmla="*/ 6878596 h 6878597"/>
                <a:gd name="connsiteX3" fmla="*/ 0 w 6858001"/>
                <a:gd name="connsiteY3" fmla="*/ 5547693 h 6878597"/>
                <a:gd name="connsiteX4" fmla="*/ 6858001 w 6858001"/>
                <a:gd name="connsiteY4" fmla="*/ 0 h 687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58001" h="6878597">
                  <a:moveTo>
                    <a:pt x="6858001" y="0"/>
                  </a:moveTo>
                  <a:cubicBezTo>
                    <a:pt x="6858001" y="2292866"/>
                    <a:pt x="6858000" y="4585731"/>
                    <a:pt x="6858000" y="6878597"/>
                  </a:cubicBezTo>
                  <a:lnTo>
                    <a:pt x="0" y="6878596"/>
                  </a:lnTo>
                  <a:lnTo>
                    <a:pt x="0" y="5547693"/>
                  </a:lnTo>
                  <a:lnTo>
                    <a:pt x="6858001" y="0"/>
                  </a:lnTo>
                  <a:close/>
                </a:path>
              </a:pathLst>
            </a:custGeom>
            <a:solidFill>
              <a:schemeClr val="tx1">
                <a:alpha val="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" name="white shadow">
              <a:extLst>
                <a:ext uri="{FF2B5EF4-FFF2-40B4-BE49-F238E27FC236}">
                  <a16:creationId xmlns:a16="http://schemas.microsoft.com/office/drawing/2014/main" id="{8F4294AD-BB43-D940-BAA6-E0B8D219B62B}"/>
                </a:ext>
              </a:extLst>
            </p:cNvPr>
            <p:cNvSpPr/>
            <p:nvPr userDrawn="1"/>
          </p:nvSpPr>
          <p:spPr>
            <a:xfrm rot="5400000">
              <a:off x="-1019605" y="1052656"/>
              <a:ext cx="6867055" cy="4743623"/>
            </a:xfrm>
            <a:custGeom>
              <a:avLst/>
              <a:gdLst>
                <a:gd name="connsiteX0" fmla="*/ 6858001 w 6858001"/>
                <a:gd name="connsiteY0" fmla="*/ 0 h 6878597"/>
                <a:gd name="connsiteX1" fmla="*/ 6858000 w 6858001"/>
                <a:gd name="connsiteY1" fmla="*/ 6878597 h 6878597"/>
                <a:gd name="connsiteX2" fmla="*/ 0 w 6858001"/>
                <a:gd name="connsiteY2" fmla="*/ 6878596 h 6878597"/>
                <a:gd name="connsiteX3" fmla="*/ 0 w 6858001"/>
                <a:gd name="connsiteY3" fmla="*/ 3420129 h 6878597"/>
                <a:gd name="connsiteX4" fmla="*/ 6858001 w 6858001"/>
                <a:gd name="connsiteY4" fmla="*/ 0 h 6878597"/>
                <a:gd name="connsiteX0" fmla="*/ 6858001 w 6858001"/>
                <a:gd name="connsiteY0" fmla="*/ 501092 h 7379689"/>
                <a:gd name="connsiteX1" fmla="*/ 6858000 w 6858001"/>
                <a:gd name="connsiteY1" fmla="*/ 7379689 h 7379689"/>
                <a:gd name="connsiteX2" fmla="*/ 0 w 6858001"/>
                <a:gd name="connsiteY2" fmla="*/ 7379688 h 7379689"/>
                <a:gd name="connsiteX3" fmla="*/ 0 w 6858001"/>
                <a:gd name="connsiteY3" fmla="*/ 1 h 7379689"/>
                <a:gd name="connsiteX4" fmla="*/ 6858001 w 6858001"/>
                <a:gd name="connsiteY4" fmla="*/ 501092 h 7379689"/>
                <a:gd name="connsiteX0" fmla="*/ 6622611 w 6858000"/>
                <a:gd name="connsiteY0" fmla="*/ 2602753 h 7379687"/>
                <a:gd name="connsiteX1" fmla="*/ 6858000 w 6858000"/>
                <a:gd name="connsiteY1" fmla="*/ 7379687 h 7379687"/>
                <a:gd name="connsiteX2" fmla="*/ 0 w 6858000"/>
                <a:gd name="connsiteY2" fmla="*/ 7379686 h 7379687"/>
                <a:gd name="connsiteX3" fmla="*/ 0 w 6858000"/>
                <a:gd name="connsiteY3" fmla="*/ -1 h 7379687"/>
                <a:gd name="connsiteX4" fmla="*/ 6622611 w 6858000"/>
                <a:gd name="connsiteY4" fmla="*/ 2602753 h 7379687"/>
                <a:gd name="connsiteX0" fmla="*/ 6858001 w 6858001"/>
                <a:gd name="connsiteY0" fmla="*/ 3759377 h 7379689"/>
                <a:gd name="connsiteX1" fmla="*/ 6858000 w 6858001"/>
                <a:gd name="connsiteY1" fmla="*/ 7379689 h 7379689"/>
                <a:gd name="connsiteX2" fmla="*/ 0 w 6858001"/>
                <a:gd name="connsiteY2" fmla="*/ 7379688 h 7379689"/>
                <a:gd name="connsiteX3" fmla="*/ 0 w 6858001"/>
                <a:gd name="connsiteY3" fmla="*/ 1 h 7379689"/>
                <a:gd name="connsiteX4" fmla="*/ 6858001 w 6858001"/>
                <a:gd name="connsiteY4" fmla="*/ 3759377 h 7379689"/>
                <a:gd name="connsiteX0" fmla="*/ 6867055 w 6867055"/>
                <a:gd name="connsiteY0" fmla="*/ 5451991 h 9072303"/>
                <a:gd name="connsiteX1" fmla="*/ 6867054 w 6867055"/>
                <a:gd name="connsiteY1" fmla="*/ 9072303 h 9072303"/>
                <a:gd name="connsiteX2" fmla="*/ 9054 w 6867055"/>
                <a:gd name="connsiteY2" fmla="*/ 9072302 h 9072303"/>
                <a:gd name="connsiteX3" fmla="*/ 0 w 6867055"/>
                <a:gd name="connsiteY3" fmla="*/ 0 h 9072303"/>
                <a:gd name="connsiteX4" fmla="*/ 6867055 w 6867055"/>
                <a:gd name="connsiteY4" fmla="*/ 5451991 h 9072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7055" h="9072303">
                  <a:moveTo>
                    <a:pt x="6867055" y="5451991"/>
                  </a:moveTo>
                  <a:cubicBezTo>
                    <a:pt x="6867055" y="7744857"/>
                    <a:pt x="6867054" y="6779437"/>
                    <a:pt x="6867054" y="9072303"/>
                  </a:cubicBezTo>
                  <a:lnTo>
                    <a:pt x="9054" y="9072302"/>
                  </a:lnTo>
                  <a:lnTo>
                    <a:pt x="0" y="0"/>
                  </a:lnTo>
                  <a:lnTo>
                    <a:pt x="6867055" y="5451991"/>
                  </a:lnTo>
                  <a:close/>
                </a:path>
              </a:pathLst>
            </a:custGeom>
            <a:solidFill>
              <a:schemeClr val="tx1">
                <a:alpha val="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04366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9A7BB89-A1D5-C04A-B6FB-94634C90DC18}"/>
              </a:ext>
            </a:extLst>
          </p:cNvPr>
          <p:cNvSpPr/>
          <p:nvPr userDrawn="1"/>
        </p:nvSpPr>
        <p:spPr>
          <a:xfrm>
            <a:off x="0" y="-1"/>
            <a:ext cx="12192000" cy="692701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D786F338-575C-F94B-B2BC-367AA1F309BF}"/>
              </a:ext>
            </a:extLst>
          </p:cNvPr>
          <p:cNvSpPr/>
          <p:nvPr userDrawn="1"/>
        </p:nvSpPr>
        <p:spPr>
          <a:xfrm rot="5400000" flipV="1">
            <a:off x="5715002" y="380997"/>
            <a:ext cx="6857999" cy="6096000"/>
          </a:xfrm>
          <a:custGeom>
            <a:avLst/>
            <a:gdLst>
              <a:gd name="connsiteX0" fmla="*/ 6858001 w 6858001"/>
              <a:gd name="connsiteY0" fmla="*/ 0 h 6878597"/>
              <a:gd name="connsiteX1" fmla="*/ 6858000 w 6858001"/>
              <a:gd name="connsiteY1" fmla="*/ 6878597 h 6878597"/>
              <a:gd name="connsiteX2" fmla="*/ 0 w 6858001"/>
              <a:gd name="connsiteY2" fmla="*/ 6878596 h 6878597"/>
              <a:gd name="connsiteX3" fmla="*/ 0 w 6858001"/>
              <a:gd name="connsiteY3" fmla="*/ 3420129 h 6878597"/>
              <a:gd name="connsiteX4" fmla="*/ 6858001 w 6858001"/>
              <a:gd name="connsiteY4" fmla="*/ 0 h 6878597"/>
              <a:gd name="connsiteX0" fmla="*/ 6872991 w 6872991"/>
              <a:gd name="connsiteY0" fmla="*/ 0 h 6428892"/>
              <a:gd name="connsiteX1" fmla="*/ 6858000 w 6872991"/>
              <a:gd name="connsiteY1" fmla="*/ 6428892 h 6428892"/>
              <a:gd name="connsiteX2" fmla="*/ 0 w 6872991"/>
              <a:gd name="connsiteY2" fmla="*/ 6428891 h 6428892"/>
              <a:gd name="connsiteX3" fmla="*/ 0 w 6872991"/>
              <a:gd name="connsiteY3" fmla="*/ 2970424 h 6428892"/>
              <a:gd name="connsiteX4" fmla="*/ 6872991 w 6872991"/>
              <a:gd name="connsiteY4" fmla="*/ 0 h 6428892"/>
              <a:gd name="connsiteX0" fmla="*/ 6872991 w 6872991"/>
              <a:gd name="connsiteY0" fmla="*/ 0 h 6428892"/>
              <a:gd name="connsiteX1" fmla="*/ 6858000 w 6872991"/>
              <a:gd name="connsiteY1" fmla="*/ 6428892 h 6428892"/>
              <a:gd name="connsiteX2" fmla="*/ 0 w 6872991"/>
              <a:gd name="connsiteY2" fmla="*/ 6428891 h 6428892"/>
              <a:gd name="connsiteX3" fmla="*/ 14991 w 6872991"/>
              <a:gd name="connsiteY3" fmla="*/ 1276539 h 6428892"/>
              <a:gd name="connsiteX4" fmla="*/ 6872991 w 6872991"/>
              <a:gd name="connsiteY4" fmla="*/ 0 h 6428892"/>
              <a:gd name="connsiteX0" fmla="*/ 6872991 w 6872991"/>
              <a:gd name="connsiteY0" fmla="*/ 0 h 6428892"/>
              <a:gd name="connsiteX1" fmla="*/ 6858000 w 6872991"/>
              <a:gd name="connsiteY1" fmla="*/ 6428892 h 6428892"/>
              <a:gd name="connsiteX2" fmla="*/ 0 w 6872991"/>
              <a:gd name="connsiteY2" fmla="*/ 6428891 h 6428892"/>
              <a:gd name="connsiteX3" fmla="*/ 1 w 6872991"/>
              <a:gd name="connsiteY3" fmla="*/ 1593211 h 6428892"/>
              <a:gd name="connsiteX4" fmla="*/ 6872991 w 6872991"/>
              <a:gd name="connsiteY4" fmla="*/ 0 h 6428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2991" h="6428892">
                <a:moveTo>
                  <a:pt x="6872991" y="0"/>
                </a:moveTo>
                <a:lnTo>
                  <a:pt x="6858000" y="6428892"/>
                </a:lnTo>
                <a:lnTo>
                  <a:pt x="0" y="6428891"/>
                </a:lnTo>
                <a:cubicBezTo>
                  <a:pt x="0" y="4816998"/>
                  <a:pt x="1" y="3205104"/>
                  <a:pt x="1" y="1593211"/>
                </a:cubicBezTo>
                <a:lnTo>
                  <a:pt x="6872991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94A4DCA-7DFE-274C-8236-8B19852B9FA9}"/>
              </a:ext>
            </a:extLst>
          </p:cNvPr>
          <p:cNvSpPr/>
          <p:nvPr userDrawn="1"/>
        </p:nvSpPr>
        <p:spPr>
          <a:xfrm rot="16200000">
            <a:off x="5033666" y="767528"/>
            <a:ext cx="7925862" cy="6390804"/>
          </a:xfrm>
          <a:custGeom>
            <a:avLst/>
            <a:gdLst>
              <a:gd name="connsiteX0" fmla="*/ 6858001 w 6858001"/>
              <a:gd name="connsiteY0" fmla="*/ 0 h 6878597"/>
              <a:gd name="connsiteX1" fmla="*/ 6858000 w 6858001"/>
              <a:gd name="connsiteY1" fmla="*/ 6878597 h 6878597"/>
              <a:gd name="connsiteX2" fmla="*/ 0 w 6858001"/>
              <a:gd name="connsiteY2" fmla="*/ 6878596 h 6878597"/>
              <a:gd name="connsiteX3" fmla="*/ 0 w 6858001"/>
              <a:gd name="connsiteY3" fmla="*/ 3420129 h 6878597"/>
              <a:gd name="connsiteX4" fmla="*/ 6858001 w 6858001"/>
              <a:gd name="connsiteY4" fmla="*/ 0 h 6878597"/>
              <a:gd name="connsiteX0" fmla="*/ 6872991 w 6872991"/>
              <a:gd name="connsiteY0" fmla="*/ 0 h 6878597"/>
              <a:gd name="connsiteX1" fmla="*/ 6872990 w 6872991"/>
              <a:gd name="connsiteY1" fmla="*/ 6878597 h 6878597"/>
              <a:gd name="connsiteX2" fmla="*/ 14990 w 6872991"/>
              <a:gd name="connsiteY2" fmla="*/ 6878596 h 6878597"/>
              <a:gd name="connsiteX3" fmla="*/ 0 w 6872991"/>
              <a:gd name="connsiteY3" fmla="*/ 2871562 h 6878597"/>
              <a:gd name="connsiteX4" fmla="*/ 6872991 w 6872991"/>
              <a:gd name="connsiteY4" fmla="*/ 0 h 6878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2991" h="6878597">
                <a:moveTo>
                  <a:pt x="6872991" y="0"/>
                </a:moveTo>
                <a:cubicBezTo>
                  <a:pt x="6872991" y="2292866"/>
                  <a:pt x="6872990" y="4585731"/>
                  <a:pt x="6872990" y="6878597"/>
                </a:cubicBezTo>
                <a:lnTo>
                  <a:pt x="14990" y="6878596"/>
                </a:lnTo>
                <a:cubicBezTo>
                  <a:pt x="9993" y="5542918"/>
                  <a:pt x="4997" y="4207240"/>
                  <a:pt x="0" y="2871562"/>
                </a:cubicBezTo>
                <a:lnTo>
                  <a:pt x="6872991" y="0"/>
                </a:lnTo>
                <a:close/>
              </a:path>
            </a:pathLst>
          </a:custGeom>
          <a:solidFill>
            <a:schemeClr val="bg1"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18E03B-A5E9-8D44-88CE-B965B2EB6532}"/>
              </a:ext>
            </a:extLst>
          </p:cNvPr>
          <p:cNvSpPr/>
          <p:nvPr userDrawn="1"/>
        </p:nvSpPr>
        <p:spPr>
          <a:xfrm flipV="1">
            <a:off x="0" y="5638799"/>
            <a:ext cx="12191999" cy="1219200"/>
          </a:xfrm>
          <a:prstGeom prst="rect">
            <a:avLst/>
          </a:prstGeom>
          <a:solidFill>
            <a:schemeClr val="bg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page8image8359168">
            <a:extLst>
              <a:ext uri="{FF2B5EF4-FFF2-40B4-BE49-F238E27FC236}">
                <a16:creationId xmlns:a16="http://schemas.microsoft.com/office/drawing/2014/main" id="{8181F404-1C6A-524F-87EB-FBE3B5DB03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2276" y="5936958"/>
            <a:ext cx="1885949" cy="737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A50E1C2C-0B89-F44A-AD1F-171467332E9B}"/>
              </a:ext>
            </a:extLst>
          </p:cNvPr>
          <p:cNvSpPr txBox="1">
            <a:spLocks/>
          </p:cNvSpPr>
          <p:nvPr userDrawn="1"/>
        </p:nvSpPr>
        <p:spPr>
          <a:xfrm>
            <a:off x="8946838" y="6016659"/>
            <a:ext cx="3257861" cy="468279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i="0" kern="1200">
                <a:solidFill>
                  <a:schemeClr val="bg1"/>
                </a:solidFill>
                <a:latin typeface="Montserrat" panose="02000505000000020004" pitchFamily="2" charset="77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ct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600" normalizeH="0" baseline="0" noProof="0">
              <a:ln>
                <a:noFill/>
              </a:ln>
              <a:effectLst/>
              <a:uLnTx/>
              <a:uFillTx/>
              <a:latin typeface="Montserra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02039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F9D1049-9EE9-F8B8-6B22-B8DBCEA959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17483636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CA4F6712-2DE1-DC40-95B8-E560BFECB4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0D80FE1-8301-8444-BA64-16ADD2DA969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609610" y="4600445"/>
            <a:ext cx="3358870" cy="124099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lnSpc>
                <a:spcPct val="80000"/>
              </a:lnSpc>
              <a:buClr>
                <a:srgbClr val="EFB100"/>
              </a:buClr>
              <a:buFont typeface=".AppleSystemUIFont"/>
              <a:buNone/>
              <a:defRPr sz="3000" b="1" i="1" cap="none" baseline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PRESENTATION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6D7D8BD-5E3C-204B-B09D-FA482ABD5ED4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609610" y="5859744"/>
            <a:ext cx="3358870" cy="489976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cap="none" spc="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Click to Edit Subtitle/Date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69E47C-F884-1846-90B4-C593BF99860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753" y="1070533"/>
            <a:ext cx="5268440" cy="219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080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32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117F6194-F2D5-5CE6-B3F2-44DA9251BD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0D80FE1-8301-8444-BA64-16ADD2DA969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679342" y="3997465"/>
            <a:ext cx="4289138" cy="184397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lnSpc>
                <a:spcPct val="80000"/>
              </a:lnSpc>
              <a:buClr>
                <a:srgbClr val="EFB100"/>
              </a:buClr>
              <a:buFont typeface=".AppleSystemUIFont"/>
              <a:buNone/>
              <a:defRPr sz="3500" b="1" i="1" cap="none" baseline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PRESENTATION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6D7D8BD-5E3C-204B-B09D-FA482ABD5ED4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7695210" y="5859744"/>
            <a:ext cx="4281002" cy="489976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cap="none" spc="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Click to Edit Subtitle/Date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69E47C-F884-1846-90B4-C593BF99860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753" y="1070533"/>
            <a:ext cx="5268440" cy="219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447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32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5D94673-FE21-CB41-B5A0-9DEE2A8E2D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 picture containing black, dark, open&#10;&#10;Description automatically generated">
            <a:extLst>
              <a:ext uri="{FF2B5EF4-FFF2-40B4-BE49-F238E27FC236}">
                <a16:creationId xmlns:a16="http://schemas.microsoft.com/office/drawing/2014/main" id="{8EF00CA7-F53F-3849-ADE1-F7DD16A1E3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067"/>
            <a:ext cx="12192000" cy="3131094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0D437DD-0AF7-DF46-B405-439A1A5C601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 rot="16811517">
            <a:off x="-967841" y="2496988"/>
            <a:ext cx="5297125" cy="134753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11500" b="1" i="0">
                <a:solidFill>
                  <a:schemeClr val="bg1">
                    <a:alpha val="14882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agenda</a:t>
            </a: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E35E4295-FD3A-C64B-807F-1FB8DD2B6919}"/>
              </a:ext>
            </a:extLst>
          </p:cNvPr>
          <p:cNvSpPr/>
          <p:nvPr userDrawn="1"/>
        </p:nvSpPr>
        <p:spPr>
          <a:xfrm>
            <a:off x="2989439" y="1187715"/>
            <a:ext cx="4640433" cy="743030"/>
          </a:xfrm>
          <a:custGeom>
            <a:avLst/>
            <a:gdLst>
              <a:gd name="connsiteX0" fmla="*/ 0 w 5350476"/>
              <a:gd name="connsiteY0" fmla="*/ 0 h 506627"/>
              <a:gd name="connsiteX1" fmla="*/ 5350476 w 5350476"/>
              <a:gd name="connsiteY1" fmla="*/ 0 h 506627"/>
              <a:gd name="connsiteX2" fmla="*/ 5350476 w 5350476"/>
              <a:gd name="connsiteY2" fmla="*/ 506627 h 506627"/>
              <a:gd name="connsiteX3" fmla="*/ 0 w 5350476"/>
              <a:gd name="connsiteY3" fmla="*/ 506627 h 506627"/>
              <a:gd name="connsiteX4" fmla="*/ 0 w 5350476"/>
              <a:gd name="connsiteY4" fmla="*/ 0 h 506627"/>
              <a:gd name="connsiteX0" fmla="*/ 123568 w 5474044"/>
              <a:gd name="connsiteY0" fmla="*/ 0 h 506627"/>
              <a:gd name="connsiteX1" fmla="*/ 5474044 w 5474044"/>
              <a:gd name="connsiteY1" fmla="*/ 0 h 506627"/>
              <a:gd name="connsiteX2" fmla="*/ 5474044 w 5474044"/>
              <a:gd name="connsiteY2" fmla="*/ 506627 h 506627"/>
              <a:gd name="connsiteX3" fmla="*/ 0 w 5474044"/>
              <a:gd name="connsiteY3" fmla="*/ 506627 h 506627"/>
              <a:gd name="connsiteX4" fmla="*/ 123568 w 5474044"/>
              <a:gd name="connsiteY4" fmla="*/ 0 h 506627"/>
              <a:gd name="connsiteX0" fmla="*/ 149694 w 5500170"/>
              <a:gd name="connsiteY0" fmla="*/ 0 h 515335"/>
              <a:gd name="connsiteX1" fmla="*/ 5500170 w 5500170"/>
              <a:gd name="connsiteY1" fmla="*/ 0 h 515335"/>
              <a:gd name="connsiteX2" fmla="*/ 5500170 w 5500170"/>
              <a:gd name="connsiteY2" fmla="*/ 506627 h 515335"/>
              <a:gd name="connsiteX3" fmla="*/ 0 w 5500170"/>
              <a:gd name="connsiteY3" fmla="*/ 515335 h 515335"/>
              <a:gd name="connsiteX4" fmla="*/ 149694 w 5500170"/>
              <a:gd name="connsiteY4" fmla="*/ 0 h 515335"/>
              <a:gd name="connsiteX0" fmla="*/ 198931 w 5500170"/>
              <a:gd name="connsiteY0" fmla="*/ 9760 h 515335"/>
              <a:gd name="connsiteX1" fmla="*/ 5500170 w 5500170"/>
              <a:gd name="connsiteY1" fmla="*/ 0 h 515335"/>
              <a:gd name="connsiteX2" fmla="*/ 5500170 w 5500170"/>
              <a:gd name="connsiteY2" fmla="*/ 506627 h 515335"/>
              <a:gd name="connsiteX3" fmla="*/ 0 w 5500170"/>
              <a:gd name="connsiteY3" fmla="*/ 515335 h 515335"/>
              <a:gd name="connsiteX4" fmla="*/ 198931 w 5500170"/>
              <a:gd name="connsiteY4" fmla="*/ 9760 h 515335"/>
              <a:gd name="connsiteX0" fmla="*/ 232978 w 5500170"/>
              <a:gd name="connsiteY0" fmla="*/ 16404 h 515335"/>
              <a:gd name="connsiteX1" fmla="*/ 5500170 w 5500170"/>
              <a:gd name="connsiteY1" fmla="*/ 0 h 515335"/>
              <a:gd name="connsiteX2" fmla="*/ 5500170 w 5500170"/>
              <a:gd name="connsiteY2" fmla="*/ 506627 h 515335"/>
              <a:gd name="connsiteX3" fmla="*/ 0 w 5500170"/>
              <a:gd name="connsiteY3" fmla="*/ 515335 h 515335"/>
              <a:gd name="connsiteX4" fmla="*/ 232978 w 5500170"/>
              <a:gd name="connsiteY4" fmla="*/ 16404 h 515335"/>
              <a:gd name="connsiteX0" fmla="*/ 227303 w 5500170"/>
              <a:gd name="connsiteY0" fmla="*/ 3118 h 515335"/>
              <a:gd name="connsiteX1" fmla="*/ 5500170 w 5500170"/>
              <a:gd name="connsiteY1" fmla="*/ 0 h 515335"/>
              <a:gd name="connsiteX2" fmla="*/ 5500170 w 5500170"/>
              <a:gd name="connsiteY2" fmla="*/ 506627 h 515335"/>
              <a:gd name="connsiteX3" fmla="*/ 0 w 5500170"/>
              <a:gd name="connsiteY3" fmla="*/ 515335 h 515335"/>
              <a:gd name="connsiteX4" fmla="*/ 227303 w 5500170"/>
              <a:gd name="connsiteY4" fmla="*/ 3118 h 515335"/>
              <a:gd name="connsiteX0" fmla="*/ 250001 w 5500170"/>
              <a:gd name="connsiteY0" fmla="*/ 0 h 515538"/>
              <a:gd name="connsiteX1" fmla="*/ 5500170 w 5500170"/>
              <a:gd name="connsiteY1" fmla="*/ 203 h 515538"/>
              <a:gd name="connsiteX2" fmla="*/ 5500170 w 5500170"/>
              <a:gd name="connsiteY2" fmla="*/ 506830 h 515538"/>
              <a:gd name="connsiteX3" fmla="*/ 0 w 5500170"/>
              <a:gd name="connsiteY3" fmla="*/ 515538 h 515538"/>
              <a:gd name="connsiteX4" fmla="*/ 250001 w 5500170"/>
              <a:gd name="connsiteY4" fmla="*/ 0 h 515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00170" h="515538">
                <a:moveTo>
                  <a:pt x="250001" y="0"/>
                </a:moveTo>
                <a:lnTo>
                  <a:pt x="5500170" y="203"/>
                </a:lnTo>
                <a:lnTo>
                  <a:pt x="5500170" y="506830"/>
                </a:lnTo>
                <a:lnTo>
                  <a:pt x="0" y="515538"/>
                </a:lnTo>
                <a:lnTo>
                  <a:pt x="250001" y="0"/>
                </a:lnTo>
                <a:close/>
              </a:path>
            </a:pathLst>
          </a:custGeom>
          <a:solidFill>
            <a:schemeClr val="tx1">
              <a:alpha val="39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3B621A-8BF3-014A-808D-4975D3AFF7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23978" y="1181100"/>
            <a:ext cx="927100" cy="4495800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69A39D3-78A0-2D41-8196-A1C2FAD1F5F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428005" y="1934899"/>
            <a:ext cx="7802104" cy="408164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C2D3"/>
              </a:buClr>
              <a:buSzTx/>
              <a:buFont typeface="Arial" panose="020B0604020202020204" pitchFamily="34" charset="0"/>
              <a:buNone/>
              <a:tabLst/>
              <a:defRPr sz="3000" b="0" i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C2D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to add agenda</a:t>
            </a:r>
          </a:p>
          <a:p>
            <a:pPr lvl="0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8710B3B-67D9-D04A-BEDF-95019EBC9E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004" y="1305021"/>
            <a:ext cx="4102349" cy="51682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2500" b="1" i="1" cap="none" spc="0" baseline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</a:lstStyle>
          <a:p>
            <a:pPr lvl="0"/>
            <a:r>
              <a:rPr lang="en-US"/>
              <a:t>TODAY’S DATE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ED87AD-B539-E64E-BBE5-D01E9A99D203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12" name="Picture 1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0B2C979-244F-8F4D-8D81-A0CAA0B434F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7320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blur&#10;&#10;Description automatically generated">
            <a:extLst>
              <a:ext uri="{FF2B5EF4-FFF2-40B4-BE49-F238E27FC236}">
                <a16:creationId xmlns:a16="http://schemas.microsoft.com/office/drawing/2014/main" id="{E0556FAF-C821-AA45-864D-1437975CD9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BC4C458-4D67-DC4F-BF96-F486AAA87FB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69108" y="2048394"/>
            <a:ext cx="5486401" cy="27612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5000" b="1" i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TRANSITION SLIDE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E1762D-87A3-FB45-9204-FE27B3705E85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F9381C8-1B0C-CF46-B08B-2D36AC4AD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50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-up of some marijuana&#10;&#10;Description automatically generated with low confidence">
            <a:extLst>
              <a:ext uri="{FF2B5EF4-FFF2-40B4-BE49-F238E27FC236}">
                <a16:creationId xmlns:a16="http://schemas.microsoft.com/office/drawing/2014/main" id="{5B3E013E-11C4-3EB1-12CB-2F16C6F8A0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BC4C458-4D67-DC4F-BF96-F486AAA87FB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87876" y="964061"/>
            <a:ext cx="5486401" cy="27612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4500" b="1" i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TRANSITION SLIDE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E1762D-87A3-FB45-9204-FE27B3705E85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F9381C8-1B0C-CF46-B08B-2D36AC4AD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823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light&#10;&#10;Description automatically generated">
            <a:extLst>
              <a:ext uri="{FF2B5EF4-FFF2-40B4-BE49-F238E27FC236}">
                <a16:creationId xmlns:a16="http://schemas.microsoft.com/office/drawing/2014/main" id="{B132F532-49CF-10AB-187A-0F44883C17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040"/>
          <a:stretch/>
        </p:blipFill>
        <p:spPr>
          <a:xfrm>
            <a:off x="1215571" y="0"/>
            <a:ext cx="10976429" cy="6858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BC4C458-4D67-DC4F-BF96-F486AAA87FB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69108" y="2048394"/>
            <a:ext cx="5486401" cy="27612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5000" b="1" i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TRANSITION SLIDE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E1762D-87A3-FB45-9204-FE27B3705E85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F9381C8-1B0C-CF46-B08B-2D36AC4AD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697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lur&#10;&#10;Description automatically generated">
            <a:extLst>
              <a:ext uri="{FF2B5EF4-FFF2-40B4-BE49-F238E27FC236}">
                <a16:creationId xmlns:a16="http://schemas.microsoft.com/office/drawing/2014/main" id="{D581ACC2-24FF-77F9-97F3-A68351BA7A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1"/>
          <a:stretch/>
        </p:blipFill>
        <p:spPr>
          <a:xfrm flipH="1">
            <a:off x="-1" y="-15851"/>
            <a:ext cx="12196470" cy="6873851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BC4C458-4D67-DC4F-BF96-F486AAA87FB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87876" y="964061"/>
            <a:ext cx="5486401" cy="27612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4500" b="1" i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TRANSITION SLIDE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E1762D-87A3-FB45-9204-FE27B3705E85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F9381C8-1B0C-CF46-B08B-2D36AC4AD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22615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5589B6-C636-ACE0-E30A-BAD98AF9D5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12192001" cy="6858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BC4C458-4D67-DC4F-BF96-F486AAA87FB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69108" y="2048394"/>
            <a:ext cx="5486401" cy="27612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5000" b="1" i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TRANSITION SLIDE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E1762D-87A3-FB45-9204-FE27B3705E85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F9381C8-1B0C-CF46-B08B-2D36AC4AD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980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red&#10;&#10;Description automatically generated">
            <a:extLst>
              <a:ext uri="{FF2B5EF4-FFF2-40B4-BE49-F238E27FC236}">
                <a16:creationId xmlns:a16="http://schemas.microsoft.com/office/drawing/2014/main" id="{09D97A60-9B65-D78D-25D9-854FA75FC8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239"/>
          <a:stretch/>
        </p:blipFill>
        <p:spPr>
          <a:xfrm flipH="1">
            <a:off x="-2" y="0"/>
            <a:ext cx="13440229" cy="6858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BC4C458-4D67-DC4F-BF96-F486AAA87FB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87876" y="964061"/>
            <a:ext cx="5486401" cy="27612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4500" b="1" i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TRANSITION SLIDE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E1762D-87A3-FB45-9204-FE27B3705E85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F9381C8-1B0C-CF46-B08B-2D36AC4AD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77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5D94673-FE21-CB41-B5A0-9DEE2A8E2D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BC4C458-4D67-DC4F-BF96-F486AAA87FB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340608" y="2048394"/>
            <a:ext cx="5486401" cy="27612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5000" b="1" i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TRANSITION SLIDE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3B621A-8BF3-014A-808D-4975D3AFF7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27010" y="1181100"/>
            <a:ext cx="927100" cy="4495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B0A2C5-9E10-B844-8399-3B5CD9EF2146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ED97352-4C19-574E-8717-61E1D5D9A9B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36462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30ECA69A-E2CF-1167-0C37-B9D5D3201A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BC4C458-4D67-DC4F-BF96-F486AAA87FB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340608" y="2048394"/>
            <a:ext cx="5486401" cy="27612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5000" b="1" i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TRANSITION SLIDE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3B621A-8BF3-014A-808D-4975D3AFF7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27010" y="1181100"/>
            <a:ext cx="927100" cy="4495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B0A2C5-9E10-B844-8399-3B5CD9EF2146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ED97352-4C19-574E-8717-61E1D5D9A9B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002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6494AAD-5D44-A2DD-DACE-8887DC09E9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D1717C-52FB-144E-90CC-01C00177D593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5E018B2-282C-AF42-808E-B3E6AC365A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27F89F5-78C1-749D-B2A8-07EA2F0F135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69108" y="2048394"/>
            <a:ext cx="5486401" cy="27612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3500" b="1" i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19806241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F87659-C30B-D350-0A2F-9C77BAD4E3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D1717C-52FB-144E-90CC-01C00177D593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5E018B2-282C-AF42-808E-B3E6AC365A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27F89F5-78C1-749D-B2A8-07EA2F0F135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69108" y="2048394"/>
            <a:ext cx="5486401" cy="27612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3500" b="1" i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106425608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6494AAD-5D44-A2DD-DACE-8887DC09E9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D1717C-52FB-144E-90CC-01C00177D593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5E018B2-282C-AF42-808E-B3E6AC365A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27F89F5-78C1-749D-B2A8-07EA2F0F135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69108" y="2048394"/>
            <a:ext cx="5486401" cy="27612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3500" b="1" i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415009257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CB76F5-443D-307A-4F4F-A54222DC00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D1717C-52FB-144E-90CC-01C00177D593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5E018B2-282C-AF42-808E-B3E6AC365A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27F89F5-78C1-749D-B2A8-07EA2F0F135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69108" y="2048394"/>
            <a:ext cx="5486401" cy="27612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3500" b="1" i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22661781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1236AA9-BC68-AC41-AE07-770EA4B17E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386" y="365624"/>
            <a:ext cx="11007494" cy="45720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2500" b="0" i="0" cap="none" spc="0" baseline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1E359A-18F3-9142-9BE2-908271B727CA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C7F0F63-92F6-3E4E-A28E-A2FA4FE867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0F157E9-C817-E849-8FBC-443CBEE738B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06984" y="6440128"/>
            <a:ext cx="9117119" cy="282996"/>
          </a:xfrm>
          <a:prstGeom prst="rect">
            <a:avLst/>
          </a:prstGeom>
        </p:spPr>
        <p:txBody>
          <a:bodyPr numCol="1" anchor="ctr" anchorCtr="0">
            <a:normAutofit/>
          </a:bodyPr>
          <a:lstStyle>
            <a:lvl1pPr marL="0" indent="0" algn="l">
              <a:buClr>
                <a:srgbClr val="EFB100"/>
              </a:buClr>
              <a:buFontTx/>
              <a:buNone/>
              <a:defRPr sz="8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Source info</a:t>
            </a:r>
          </a:p>
        </p:txBody>
      </p:sp>
    </p:spTree>
    <p:extLst>
      <p:ext uri="{BB962C8B-B14F-4D97-AF65-F5344CB8AC3E}">
        <p14:creationId xmlns:p14="http://schemas.microsoft.com/office/powerpoint/2010/main" val="1157953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5D94673-FE21-CB41-B5A0-9DEE2A8E2D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C9B075F-880D-FA46-B646-B83254CF2E1B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14" name="Picture 1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78BD73E-4F74-AE45-B8B4-F086FE3534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9F93687-A09E-D84A-8D13-1A104B645A6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4937" y="1057566"/>
            <a:ext cx="10890303" cy="5196000"/>
          </a:xfrm>
          <a:prstGeom prst="rect">
            <a:avLst/>
          </a:prstGeom>
        </p:spPr>
        <p:txBody>
          <a:bodyPr numCol="1" anchor="t" anchorCtr="0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800100" indent="-342900">
              <a:buClr>
                <a:schemeClr val="bg1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copy</a:t>
            </a:r>
          </a:p>
          <a:p>
            <a:pPr lvl="1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941EDA7-B486-DB4E-9300-7AFEB726D5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386" y="365624"/>
            <a:ext cx="11007494" cy="45720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2500" b="0" i="0" cap="none" spc="0" baseline="0">
                <a:solidFill>
                  <a:schemeClr val="accent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621886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1E359A-18F3-9142-9BE2-908271B727CA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C7F0F63-92F6-3E4E-A28E-A2FA4FE867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C83B43F-3A10-457D-89EC-E30AD18B247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05386" y="1497876"/>
            <a:ext cx="10967182" cy="4765271"/>
          </a:xfrm>
          <a:prstGeom prst="rect">
            <a:avLst/>
          </a:prstGeom>
        </p:spPr>
        <p:txBody>
          <a:bodyPr numCol="1" anchor="t" anchorCtr="0"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copy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A36D76F-A572-312B-F97C-EA05ED69D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386" y="446742"/>
            <a:ext cx="10967182" cy="89176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2500" b="0" i="0" cap="none" spc="0" baseline="0">
                <a:solidFill>
                  <a:schemeClr val="accent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93CA701-BAFE-5427-F22C-93B38906640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06984" y="6440128"/>
            <a:ext cx="9117119" cy="282996"/>
          </a:xfrm>
          <a:prstGeom prst="rect">
            <a:avLst/>
          </a:prstGeom>
        </p:spPr>
        <p:txBody>
          <a:bodyPr numCol="1" anchor="ctr" anchorCtr="0">
            <a:normAutofit/>
          </a:bodyPr>
          <a:lstStyle>
            <a:lvl1pPr marL="0" indent="0" algn="l">
              <a:buClr>
                <a:srgbClr val="EFB100"/>
              </a:buClr>
              <a:buFontTx/>
              <a:buNone/>
              <a:defRPr sz="8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Source info</a:t>
            </a:r>
          </a:p>
        </p:txBody>
      </p:sp>
    </p:spTree>
    <p:extLst>
      <p:ext uri="{BB962C8B-B14F-4D97-AF65-F5344CB8AC3E}">
        <p14:creationId xmlns:p14="http://schemas.microsoft.com/office/powerpoint/2010/main" val="2015008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 with medium confidence">
            <a:extLst>
              <a:ext uri="{FF2B5EF4-FFF2-40B4-BE49-F238E27FC236}">
                <a16:creationId xmlns:a16="http://schemas.microsoft.com/office/drawing/2014/main" id="{833C5155-4C10-F945-ADA9-7732CC8A14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445623" cy="6858000"/>
          </a:xfrm>
          <a:prstGeom prst="rect">
            <a:avLst/>
          </a:prstGeom>
        </p:spPr>
      </p:pic>
      <p:sp>
        <p:nvSpPr>
          <p:cNvPr id="13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1531216" y="1724018"/>
            <a:ext cx="9997620" cy="4166738"/>
          </a:xfrm>
          <a:prstGeom prst="rect">
            <a:avLst/>
          </a:prstGeom>
        </p:spPr>
        <p:txBody>
          <a:bodyPr numCol="1" anchor="t" anchorCtr="0">
            <a:normAutofit/>
          </a:bodyPr>
          <a:lstStyle>
            <a:lvl1pPr marL="0" indent="0" algn="l">
              <a:buClr>
                <a:schemeClr val="accent1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copy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474AB59-02BC-4B43-B7D4-CE0D496520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1216" y="351464"/>
            <a:ext cx="9997620" cy="89176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2500" b="0" i="0" cap="none" spc="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146020F-FF2B-B943-A997-9645525567F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06984" y="6440128"/>
            <a:ext cx="9117119" cy="282996"/>
          </a:xfrm>
          <a:prstGeom prst="rect">
            <a:avLst/>
          </a:prstGeom>
        </p:spPr>
        <p:txBody>
          <a:bodyPr numCol="1" anchor="ctr" anchorCtr="0">
            <a:normAutofit/>
          </a:bodyPr>
          <a:lstStyle>
            <a:lvl1pPr marL="0" indent="0" algn="l">
              <a:buClr>
                <a:srgbClr val="EFB100"/>
              </a:buClr>
              <a:buFontTx/>
              <a:buNone/>
              <a:defRPr sz="8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Source info</a:t>
            </a:r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A7183181-2B5E-6142-82FA-55E53D4B1D8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9522" y="6363852"/>
            <a:ext cx="1097277" cy="4571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615D563-30E3-DC43-823B-2AE9BD423A1B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67132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605386" y="1724018"/>
            <a:ext cx="9997620" cy="4166738"/>
          </a:xfrm>
          <a:prstGeom prst="rect">
            <a:avLst/>
          </a:prstGeom>
        </p:spPr>
        <p:txBody>
          <a:bodyPr numCol="1" anchor="t" anchorCtr="0">
            <a:normAutofit/>
          </a:bodyPr>
          <a:lstStyle>
            <a:lvl1pPr marL="0" indent="0" algn="l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copy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474AB59-02BC-4B43-B7D4-CE0D496520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386" y="351463"/>
            <a:ext cx="9997620" cy="89176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2500" b="0" i="0" cap="none" spc="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D7E931-2BC8-0842-AC8A-BC7B53C964BB}"/>
              </a:ext>
            </a:extLst>
          </p:cNvPr>
          <p:cNvSpPr txBox="1"/>
          <p:nvPr userDrawn="1"/>
        </p:nvSpPr>
        <p:spPr>
          <a:xfrm>
            <a:off x="10603006" y="6484981"/>
            <a:ext cx="1435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8" name="Picture 7" descr="A picture containing logo&#10;&#10;Description automatically generated">
            <a:extLst>
              <a:ext uri="{FF2B5EF4-FFF2-40B4-BE49-F238E27FC236}">
                <a16:creationId xmlns:a16="http://schemas.microsoft.com/office/drawing/2014/main" id="{1427FEA0-F0CF-D64F-9980-B13D561066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64836" y="6368716"/>
            <a:ext cx="1097277" cy="457199"/>
          </a:xfrm>
          <a:prstGeom prst="rect">
            <a:avLst/>
          </a:prstGeom>
        </p:spPr>
      </p:pic>
      <p:pic>
        <p:nvPicPr>
          <p:cNvPr id="3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200B7BA6-9A6A-284F-B0F1-516E0941BA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76708" y="0"/>
            <a:ext cx="1515291" cy="6858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C0A6D4A-9529-C343-8CF7-152B28132B8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06984" y="6440128"/>
            <a:ext cx="9117119" cy="282996"/>
          </a:xfrm>
          <a:prstGeom prst="rect">
            <a:avLst/>
          </a:prstGeom>
        </p:spPr>
        <p:txBody>
          <a:bodyPr numCol="1" anchor="ctr" anchorCtr="0">
            <a:normAutofit/>
          </a:bodyPr>
          <a:lstStyle>
            <a:lvl1pPr marL="0" indent="0" algn="l">
              <a:buClr>
                <a:srgbClr val="EFB100"/>
              </a:buClr>
              <a:buFontTx/>
              <a:buNone/>
              <a:defRPr sz="8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Source info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C10CA9-5B6A-B32F-B425-B734ECAE36CF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2869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7640B7-7AFF-7417-1F11-E50F1DCCD6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96762-1918-7E1F-5AD2-DE6DC368436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05386" y="1724018"/>
            <a:ext cx="6701722" cy="4166738"/>
          </a:xfrm>
          <a:prstGeom prst="rect">
            <a:avLst/>
          </a:prstGeom>
        </p:spPr>
        <p:txBody>
          <a:bodyPr numCol="1" anchor="t" anchorCtr="0">
            <a:normAutofit/>
          </a:bodyPr>
          <a:lstStyle>
            <a:lvl1pPr marL="0" indent="0" algn="l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copy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5E316B2-169D-6D52-A527-C6B40B1B89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386" y="351463"/>
            <a:ext cx="6701722" cy="89176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2500" b="0" i="0" cap="none" spc="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D1717C-52FB-144E-90CC-01C00177D593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5E018B2-282C-AF42-808E-B3E6AC365A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AF661FA-6AB4-12E7-8FFA-2DCD444306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06985" y="6440128"/>
            <a:ext cx="6716308" cy="282996"/>
          </a:xfrm>
          <a:prstGeom prst="rect">
            <a:avLst/>
          </a:prstGeom>
        </p:spPr>
        <p:txBody>
          <a:bodyPr numCol="1" anchor="ctr" anchorCtr="0">
            <a:normAutofit/>
          </a:bodyPr>
          <a:lstStyle>
            <a:lvl1pPr marL="0" indent="0" algn="l">
              <a:buClr>
                <a:srgbClr val="EFB100"/>
              </a:buClr>
              <a:buFontTx/>
              <a:buNone/>
              <a:defRPr sz="8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Source info</a:t>
            </a:r>
          </a:p>
        </p:txBody>
      </p:sp>
    </p:spTree>
    <p:extLst>
      <p:ext uri="{BB962C8B-B14F-4D97-AF65-F5344CB8AC3E}">
        <p14:creationId xmlns:p14="http://schemas.microsoft.com/office/powerpoint/2010/main" val="273250066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CB76F5-443D-307A-4F4F-A54222DC00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96762-1918-7E1F-5AD2-DE6DC368436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05386" y="1724018"/>
            <a:ext cx="6701722" cy="4166738"/>
          </a:xfrm>
          <a:prstGeom prst="rect">
            <a:avLst/>
          </a:prstGeom>
        </p:spPr>
        <p:txBody>
          <a:bodyPr numCol="1" anchor="t" anchorCtr="0">
            <a:normAutofit/>
          </a:bodyPr>
          <a:lstStyle>
            <a:lvl1pPr marL="0" indent="0" algn="l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copy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5E316B2-169D-6D52-A527-C6B40B1B89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386" y="351463"/>
            <a:ext cx="6701722" cy="89176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defRPr sz="2500" b="0" i="0" cap="none" spc="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D1717C-52FB-144E-90CC-01C00177D593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5E018B2-282C-AF42-808E-B3E6AC365A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AF661FA-6AB4-12E7-8FFA-2DCD444306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06985" y="6440128"/>
            <a:ext cx="6716308" cy="282996"/>
          </a:xfrm>
          <a:prstGeom prst="rect">
            <a:avLst/>
          </a:prstGeom>
        </p:spPr>
        <p:txBody>
          <a:bodyPr numCol="1" anchor="ctr" anchorCtr="0">
            <a:normAutofit/>
          </a:bodyPr>
          <a:lstStyle>
            <a:lvl1pPr marL="0" indent="0" algn="l">
              <a:buClr>
                <a:srgbClr val="EFB100"/>
              </a:buClr>
              <a:buFontTx/>
              <a:buNone/>
              <a:defRPr sz="8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  <a:lvl2pPr marL="457200" indent="0">
              <a:buClr>
                <a:srgbClr val="EFB100"/>
              </a:buClr>
              <a:buFontTx/>
              <a:buNone/>
              <a:defRPr sz="20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Source info</a:t>
            </a:r>
          </a:p>
        </p:txBody>
      </p:sp>
    </p:spTree>
    <p:extLst>
      <p:ext uri="{BB962C8B-B14F-4D97-AF65-F5344CB8AC3E}">
        <p14:creationId xmlns:p14="http://schemas.microsoft.com/office/powerpoint/2010/main" val="110946038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hydrozoan&#10;&#10;Description automatically generated">
            <a:extLst>
              <a:ext uri="{FF2B5EF4-FFF2-40B4-BE49-F238E27FC236}">
                <a16:creationId xmlns:a16="http://schemas.microsoft.com/office/drawing/2014/main" id="{BF1AD092-F683-8AD7-F3CC-C04FA1E179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BC4C458-4D67-DC4F-BF96-F486AAA87FB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79501" y="981300"/>
            <a:ext cx="10282350" cy="270222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4000" b="1" i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PULL QUOTE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031D7B3-B5FB-5C48-8540-E32AA9B908C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79501" y="3737998"/>
            <a:ext cx="10282350" cy="71775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Clr>
                <a:srgbClr val="EFB100"/>
              </a:buClr>
              <a:buFont typeface=".AppleSystemUIFont"/>
              <a:buNone/>
              <a:defRPr sz="1500" b="1" i="1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Verdana" charset="0"/>
              </a:defRPr>
            </a:lvl1pPr>
            <a:lvl2pPr marL="457200" indent="0" algn="l">
              <a:buClr>
                <a:srgbClr val="EFB100"/>
              </a:buClr>
              <a:buFont typeface="Arial" panose="020B0604020202020204" pitchFamily="34" charset="0"/>
              <a:buNone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- CLICK TO ADD QUOTE SOURCE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002F6E-25D1-944B-ACCE-6DFDA9F57082}"/>
              </a:ext>
            </a:extLst>
          </p:cNvPr>
          <p:cNvSpPr txBox="1"/>
          <p:nvPr userDrawn="1"/>
        </p:nvSpPr>
        <p:spPr>
          <a:xfrm>
            <a:off x="11628783" y="6484981"/>
            <a:ext cx="410038" cy="2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8A3AFE-316C-3143-99BA-2B5756BDC721}" type="slidenum">
              <a:rPr lang="en-US" sz="800" b="1" i="0" spc="2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Verdan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2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Verdana" panose="020B0604030504040204" pitchFamily="34" charset="0"/>
            </a:endParaRPr>
          </a:p>
        </p:txBody>
      </p:sp>
      <p:pic>
        <p:nvPicPr>
          <p:cNvPr id="9" name="Picture 8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BD4D1B4-A145-2C41-BEB5-82A163F4A9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668" y="6363441"/>
            <a:ext cx="109728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45854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feather&#10;&#10;Description automatically generated with low confidence">
            <a:extLst>
              <a:ext uri="{FF2B5EF4-FFF2-40B4-BE49-F238E27FC236}">
                <a16:creationId xmlns:a16="http://schemas.microsoft.com/office/drawing/2014/main" id="{8F58AF28-C054-C943-9847-D52F9E6274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6812" y="0"/>
            <a:ext cx="12005188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69E47C-F884-1846-90B4-C593BF99860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9497" y="2349203"/>
            <a:ext cx="5692052" cy="237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5258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B683237A-D616-494D-A4AC-846B37D735AD}"/>
              </a:ext>
            </a:extLst>
          </p:cNvPr>
          <p:cNvGrpSpPr/>
          <p:nvPr userDrawn="1"/>
        </p:nvGrpSpPr>
        <p:grpSpPr>
          <a:xfrm>
            <a:off x="-2" y="-9060"/>
            <a:ext cx="12374464" cy="6945013"/>
            <a:chOff x="-2" y="-9060"/>
            <a:chExt cx="12374464" cy="6945013"/>
          </a:xfrm>
        </p:grpSpPr>
        <p:sp>
          <p:nvSpPr>
            <p:cNvPr id="4" name="black">
              <a:extLst>
                <a:ext uri="{FF2B5EF4-FFF2-40B4-BE49-F238E27FC236}">
                  <a16:creationId xmlns:a16="http://schemas.microsoft.com/office/drawing/2014/main" id="{F6DCD5AC-DCF6-0647-95B4-F2E652987841}"/>
                </a:ext>
              </a:extLst>
            </p:cNvPr>
            <p:cNvSpPr/>
            <p:nvPr userDrawn="1"/>
          </p:nvSpPr>
          <p:spPr>
            <a:xfrm>
              <a:off x="238538" y="0"/>
              <a:ext cx="11953461" cy="685800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9E94A27-A225-6147-851C-A0890CE294B7}"/>
                </a:ext>
              </a:extLst>
            </p:cNvPr>
            <p:cNvSpPr/>
            <p:nvPr userDrawn="1"/>
          </p:nvSpPr>
          <p:spPr>
            <a:xfrm rot="5400000" flipV="1">
              <a:off x="5786565" y="539284"/>
              <a:ext cx="6935953" cy="5857385"/>
            </a:xfrm>
            <a:custGeom>
              <a:avLst/>
              <a:gdLst>
                <a:gd name="connsiteX0" fmla="*/ 6858001 w 6858001"/>
                <a:gd name="connsiteY0" fmla="*/ 0 h 6878597"/>
                <a:gd name="connsiteX1" fmla="*/ 6858000 w 6858001"/>
                <a:gd name="connsiteY1" fmla="*/ 6878597 h 6878597"/>
                <a:gd name="connsiteX2" fmla="*/ 0 w 6858001"/>
                <a:gd name="connsiteY2" fmla="*/ 6878596 h 6878597"/>
                <a:gd name="connsiteX3" fmla="*/ 0 w 6858001"/>
                <a:gd name="connsiteY3" fmla="*/ 3420129 h 6878597"/>
                <a:gd name="connsiteX4" fmla="*/ 6858001 w 6858001"/>
                <a:gd name="connsiteY4" fmla="*/ 0 h 6878597"/>
                <a:gd name="connsiteX0" fmla="*/ 6858001 w 6858001"/>
                <a:gd name="connsiteY0" fmla="*/ 501092 h 7379689"/>
                <a:gd name="connsiteX1" fmla="*/ 6858000 w 6858001"/>
                <a:gd name="connsiteY1" fmla="*/ 7379689 h 7379689"/>
                <a:gd name="connsiteX2" fmla="*/ 0 w 6858001"/>
                <a:gd name="connsiteY2" fmla="*/ 7379688 h 7379689"/>
                <a:gd name="connsiteX3" fmla="*/ 0 w 6858001"/>
                <a:gd name="connsiteY3" fmla="*/ 1 h 7379689"/>
                <a:gd name="connsiteX4" fmla="*/ 6858001 w 6858001"/>
                <a:gd name="connsiteY4" fmla="*/ 501092 h 7379689"/>
                <a:gd name="connsiteX0" fmla="*/ 6622611 w 6858000"/>
                <a:gd name="connsiteY0" fmla="*/ 2602753 h 7379687"/>
                <a:gd name="connsiteX1" fmla="*/ 6858000 w 6858000"/>
                <a:gd name="connsiteY1" fmla="*/ 7379687 h 7379687"/>
                <a:gd name="connsiteX2" fmla="*/ 0 w 6858000"/>
                <a:gd name="connsiteY2" fmla="*/ 7379686 h 7379687"/>
                <a:gd name="connsiteX3" fmla="*/ 0 w 6858000"/>
                <a:gd name="connsiteY3" fmla="*/ -1 h 7379687"/>
                <a:gd name="connsiteX4" fmla="*/ 6622611 w 6858000"/>
                <a:gd name="connsiteY4" fmla="*/ 2602753 h 7379687"/>
                <a:gd name="connsiteX0" fmla="*/ 6858001 w 6858001"/>
                <a:gd name="connsiteY0" fmla="*/ 3759377 h 7379689"/>
                <a:gd name="connsiteX1" fmla="*/ 6858000 w 6858001"/>
                <a:gd name="connsiteY1" fmla="*/ 7379689 h 7379689"/>
                <a:gd name="connsiteX2" fmla="*/ 0 w 6858001"/>
                <a:gd name="connsiteY2" fmla="*/ 7379688 h 7379689"/>
                <a:gd name="connsiteX3" fmla="*/ 0 w 6858001"/>
                <a:gd name="connsiteY3" fmla="*/ 1 h 7379689"/>
                <a:gd name="connsiteX4" fmla="*/ 6858001 w 6858001"/>
                <a:gd name="connsiteY4" fmla="*/ 3759377 h 7379689"/>
                <a:gd name="connsiteX0" fmla="*/ 6867055 w 6867055"/>
                <a:gd name="connsiteY0" fmla="*/ 5451991 h 9072303"/>
                <a:gd name="connsiteX1" fmla="*/ 6867054 w 6867055"/>
                <a:gd name="connsiteY1" fmla="*/ 9072303 h 9072303"/>
                <a:gd name="connsiteX2" fmla="*/ 9054 w 6867055"/>
                <a:gd name="connsiteY2" fmla="*/ 9072302 h 9072303"/>
                <a:gd name="connsiteX3" fmla="*/ 0 w 6867055"/>
                <a:gd name="connsiteY3" fmla="*/ 0 h 9072303"/>
                <a:gd name="connsiteX4" fmla="*/ 6867055 w 6867055"/>
                <a:gd name="connsiteY4" fmla="*/ 5451991 h 9072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7055" h="9072303">
                  <a:moveTo>
                    <a:pt x="6867055" y="5451991"/>
                  </a:moveTo>
                  <a:cubicBezTo>
                    <a:pt x="6867055" y="7744857"/>
                    <a:pt x="6867054" y="6779437"/>
                    <a:pt x="6867054" y="9072303"/>
                  </a:cubicBezTo>
                  <a:lnTo>
                    <a:pt x="9054" y="9072302"/>
                  </a:lnTo>
                  <a:lnTo>
                    <a:pt x="0" y="0"/>
                  </a:lnTo>
                  <a:lnTo>
                    <a:pt x="6867055" y="5451991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AC3B53E-2B70-3B41-A899-8B16315F2C1C}"/>
                </a:ext>
              </a:extLst>
            </p:cNvPr>
            <p:cNvSpPr/>
            <p:nvPr userDrawn="1"/>
          </p:nvSpPr>
          <p:spPr>
            <a:xfrm rot="5400000" flipH="1" flipV="1">
              <a:off x="5772827" y="326150"/>
              <a:ext cx="6936846" cy="6266425"/>
            </a:xfrm>
            <a:custGeom>
              <a:avLst/>
              <a:gdLst>
                <a:gd name="connsiteX0" fmla="*/ 6858001 w 6858001"/>
                <a:gd name="connsiteY0" fmla="*/ 0 h 6878597"/>
                <a:gd name="connsiteX1" fmla="*/ 6858000 w 6858001"/>
                <a:gd name="connsiteY1" fmla="*/ 6878597 h 6878597"/>
                <a:gd name="connsiteX2" fmla="*/ 0 w 6858001"/>
                <a:gd name="connsiteY2" fmla="*/ 6878596 h 6878597"/>
                <a:gd name="connsiteX3" fmla="*/ 0 w 6858001"/>
                <a:gd name="connsiteY3" fmla="*/ 3420129 h 6878597"/>
                <a:gd name="connsiteX4" fmla="*/ 6858001 w 6858001"/>
                <a:gd name="connsiteY4" fmla="*/ 0 h 6878597"/>
                <a:gd name="connsiteX0" fmla="*/ 6858001 w 6858001"/>
                <a:gd name="connsiteY0" fmla="*/ 501092 h 7379689"/>
                <a:gd name="connsiteX1" fmla="*/ 6858000 w 6858001"/>
                <a:gd name="connsiteY1" fmla="*/ 7379689 h 7379689"/>
                <a:gd name="connsiteX2" fmla="*/ 0 w 6858001"/>
                <a:gd name="connsiteY2" fmla="*/ 7379688 h 7379689"/>
                <a:gd name="connsiteX3" fmla="*/ 0 w 6858001"/>
                <a:gd name="connsiteY3" fmla="*/ 1 h 7379689"/>
                <a:gd name="connsiteX4" fmla="*/ 6858001 w 6858001"/>
                <a:gd name="connsiteY4" fmla="*/ 501092 h 7379689"/>
                <a:gd name="connsiteX0" fmla="*/ 6622611 w 6858000"/>
                <a:gd name="connsiteY0" fmla="*/ 2602753 h 7379687"/>
                <a:gd name="connsiteX1" fmla="*/ 6858000 w 6858000"/>
                <a:gd name="connsiteY1" fmla="*/ 7379687 h 7379687"/>
                <a:gd name="connsiteX2" fmla="*/ 0 w 6858000"/>
                <a:gd name="connsiteY2" fmla="*/ 7379686 h 7379687"/>
                <a:gd name="connsiteX3" fmla="*/ 0 w 6858000"/>
                <a:gd name="connsiteY3" fmla="*/ -1 h 7379687"/>
                <a:gd name="connsiteX4" fmla="*/ 6622611 w 6858000"/>
                <a:gd name="connsiteY4" fmla="*/ 2602753 h 7379687"/>
                <a:gd name="connsiteX0" fmla="*/ 6858001 w 6858001"/>
                <a:gd name="connsiteY0" fmla="*/ 3759377 h 7379689"/>
                <a:gd name="connsiteX1" fmla="*/ 6858000 w 6858001"/>
                <a:gd name="connsiteY1" fmla="*/ 7379689 h 7379689"/>
                <a:gd name="connsiteX2" fmla="*/ 0 w 6858001"/>
                <a:gd name="connsiteY2" fmla="*/ 7379688 h 7379689"/>
                <a:gd name="connsiteX3" fmla="*/ 0 w 6858001"/>
                <a:gd name="connsiteY3" fmla="*/ 1 h 7379689"/>
                <a:gd name="connsiteX4" fmla="*/ 6858001 w 6858001"/>
                <a:gd name="connsiteY4" fmla="*/ 3759377 h 7379689"/>
                <a:gd name="connsiteX0" fmla="*/ 6867055 w 6867055"/>
                <a:gd name="connsiteY0" fmla="*/ 5451991 h 9072303"/>
                <a:gd name="connsiteX1" fmla="*/ 6867054 w 6867055"/>
                <a:gd name="connsiteY1" fmla="*/ 9072303 h 9072303"/>
                <a:gd name="connsiteX2" fmla="*/ 9054 w 6867055"/>
                <a:gd name="connsiteY2" fmla="*/ 9072302 h 9072303"/>
                <a:gd name="connsiteX3" fmla="*/ 0 w 6867055"/>
                <a:gd name="connsiteY3" fmla="*/ 0 h 9072303"/>
                <a:gd name="connsiteX4" fmla="*/ 6867055 w 6867055"/>
                <a:gd name="connsiteY4" fmla="*/ 5451991 h 9072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7055" h="9072303">
                  <a:moveTo>
                    <a:pt x="6867055" y="5451991"/>
                  </a:moveTo>
                  <a:cubicBezTo>
                    <a:pt x="6867055" y="7744857"/>
                    <a:pt x="6867054" y="6779437"/>
                    <a:pt x="6867054" y="9072303"/>
                  </a:cubicBezTo>
                  <a:lnTo>
                    <a:pt x="9054" y="9072302"/>
                  </a:lnTo>
                  <a:lnTo>
                    <a:pt x="0" y="0"/>
                  </a:lnTo>
                  <a:lnTo>
                    <a:pt x="6867055" y="5451991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" name="white">
              <a:extLst>
                <a:ext uri="{FF2B5EF4-FFF2-40B4-BE49-F238E27FC236}">
                  <a16:creationId xmlns:a16="http://schemas.microsoft.com/office/drawing/2014/main" id="{A8B156E5-1BF1-664F-BB39-E9961319055F}"/>
                </a:ext>
              </a:extLst>
            </p:cNvPr>
            <p:cNvSpPr/>
            <p:nvPr userDrawn="1"/>
          </p:nvSpPr>
          <p:spPr>
            <a:xfrm rot="16200000" flipV="1">
              <a:off x="1468629" y="-1459867"/>
              <a:ext cx="6857997" cy="9777725"/>
            </a:xfrm>
            <a:custGeom>
              <a:avLst/>
              <a:gdLst>
                <a:gd name="connsiteX0" fmla="*/ 6858001 w 6858001"/>
                <a:gd name="connsiteY0" fmla="*/ 0 h 6878597"/>
                <a:gd name="connsiteX1" fmla="*/ 6858000 w 6858001"/>
                <a:gd name="connsiteY1" fmla="*/ 6878597 h 6878597"/>
                <a:gd name="connsiteX2" fmla="*/ 0 w 6858001"/>
                <a:gd name="connsiteY2" fmla="*/ 6878596 h 6878597"/>
                <a:gd name="connsiteX3" fmla="*/ 0 w 6858001"/>
                <a:gd name="connsiteY3" fmla="*/ 3420129 h 6878597"/>
                <a:gd name="connsiteX4" fmla="*/ 6858001 w 6858001"/>
                <a:gd name="connsiteY4" fmla="*/ 0 h 6878597"/>
                <a:gd name="connsiteX0" fmla="*/ 6858001 w 6858001"/>
                <a:gd name="connsiteY0" fmla="*/ 0 h 6878597"/>
                <a:gd name="connsiteX1" fmla="*/ 6858000 w 6858001"/>
                <a:gd name="connsiteY1" fmla="*/ 6878597 h 6878597"/>
                <a:gd name="connsiteX2" fmla="*/ 0 w 6858001"/>
                <a:gd name="connsiteY2" fmla="*/ 6878596 h 6878597"/>
                <a:gd name="connsiteX3" fmla="*/ 0 w 6858001"/>
                <a:gd name="connsiteY3" fmla="*/ 5547693 h 6878597"/>
                <a:gd name="connsiteX4" fmla="*/ 6858001 w 6858001"/>
                <a:gd name="connsiteY4" fmla="*/ 0 h 687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58001" h="6878597">
                  <a:moveTo>
                    <a:pt x="6858001" y="0"/>
                  </a:moveTo>
                  <a:cubicBezTo>
                    <a:pt x="6858001" y="2292866"/>
                    <a:pt x="6858000" y="4585731"/>
                    <a:pt x="6858000" y="6878597"/>
                  </a:cubicBezTo>
                  <a:lnTo>
                    <a:pt x="0" y="6878596"/>
                  </a:lnTo>
                  <a:lnTo>
                    <a:pt x="0" y="5547693"/>
                  </a:lnTo>
                  <a:lnTo>
                    <a:pt x="685800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" name="white shadow">
              <a:extLst>
                <a:ext uri="{FF2B5EF4-FFF2-40B4-BE49-F238E27FC236}">
                  <a16:creationId xmlns:a16="http://schemas.microsoft.com/office/drawing/2014/main" id="{33E7780B-0330-044C-92C7-124D4A4ED3BB}"/>
                </a:ext>
              </a:extLst>
            </p:cNvPr>
            <p:cNvSpPr/>
            <p:nvPr userDrawn="1"/>
          </p:nvSpPr>
          <p:spPr>
            <a:xfrm rot="5400000">
              <a:off x="-2489149" y="2489148"/>
              <a:ext cx="6867058" cy="1888762"/>
            </a:xfrm>
            <a:custGeom>
              <a:avLst/>
              <a:gdLst>
                <a:gd name="connsiteX0" fmla="*/ 6858001 w 6858001"/>
                <a:gd name="connsiteY0" fmla="*/ 0 h 6878597"/>
                <a:gd name="connsiteX1" fmla="*/ 6858000 w 6858001"/>
                <a:gd name="connsiteY1" fmla="*/ 6878597 h 6878597"/>
                <a:gd name="connsiteX2" fmla="*/ 0 w 6858001"/>
                <a:gd name="connsiteY2" fmla="*/ 6878596 h 6878597"/>
                <a:gd name="connsiteX3" fmla="*/ 0 w 6858001"/>
                <a:gd name="connsiteY3" fmla="*/ 3420129 h 6878597"/>
                <a:gd name="connsiteX4" fmla="*/ 6858001 w 6858001"/>
                <a:gd name="connsiteY4" fmla="*/ 0 h 6878597"/>
                <a:gd name="connsiteX0" fmla="*/ 6858001 w 6858001"/>
                <a:gd name="connsiteY0" fmla="*/ 0 h 6878597"/>
                <a:gd name="connsiteX1" fmla="*/ 6858000 w 6858001"/>
                <a:gd name="connsiteY1" fmla="*/ 6878597 h 6878597"/>
                <a:gd name="connsiteX2" fmla="*/ 0 w 6858001"/>
                <a:gd name="connsiteY2" fmla="*/ 6878596 h 6878597"/>
                <a:gd name="connsiteX3" fmla="*/ 0 w 6858001"/>
                <a:gd name="connsiteY3" fmla="*/ 5547693 h 6878597"/>
                <a:gd name="connsiteX4" fmla="*/ 6858001 w 6858001"/>
                <a:gd name="connsiteY4" fmla="*/ 0 h 687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58001" h="6878597">
                  <a:moveTo>
                    <a:pt x="6858001" y="0"/>
                  </a:moveTo>
                  <a:cubicBezTo>
                    <a:pt x="6858001" y="2292866"/>
                    <a:pt x="6858000" y="4585731"/>
                    <a:pt x="6858000" y="6878597"/>
                  </a:cubicBezTo>
                  <a:lnTo>
                    <a:pt x="0" y="6878596"/>
                  </a:lnTo>
                  <a:lnTo>
                    <a:pt x="0" y="5547693"/>
                  </a:lnTo>
                  <a:lnTo>
                    <a:pt x="6858001" y="0"/>
                  </a:lnTo>
                  <a:close/>
                </a:path>
              </a:pathLst>
            </a:custGeom>
            <a:solidFill>
              <a:schemeClr val="tx1">
                <a:alpha val="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" name="white shadow">
              <a:extLst>
                <a:ext uri="{FF2B5EF4-FFF2-40B4-BE49-F238E27FC236}">
                  <a16:creationId xmlns:a16="http://schemas.microsoft.com/office/drawing/2014/main" id="{8F4294AD-BB43-D940-BAA6-E0B8D219B62B}"/>
                </a:ext>
              </a:extLst>
            </p:cNvPr>
            <p:cNvSpPr/>
            <p:nvPr userDrawn="1"/>
          </p:nvSpPr>
          <p:spPr>
            <a:xfrm rot="5400000">
              <a:off x="-1040662" y="1031600"/>
              <a:ext cx="6867055" cy="4785735"/>
            </a:xfrm>
            <a:custGeom>
              <a:avLst/>
              <a:gdLst>
                <a:gd name="connsiteX0" fmla="*/ 6858001 w 6858001"/>
                <a:gd name="connsiteY0" fmla="*/ 0 h 6878597"/>
                <a:gd name="connsiteX1" fmla="*/ 6858000 w 6858001"/>
                <a:gd name="connsiteY1" fmla="*/ 6878597 h 6878597"/>
                <a:gd name="connsiteX2" fmla="*/ 0 w 6858001"/>
                <a:gd name="connsiteY2" fmla="*/ 6878596 h 6878597"/>
                <a:gd name="connsiteX3" fmla="*/ 0 w 6858001"/>
                <a:gd name="connsiteY3" fmla="*/ 3420129 h 6878597"/>
                <a:gd name="connsiteX4" fmla="*/ 6858001 w 6858001"/>
                <a:gd name="connsiteY4" fmla="*/ 0 h 6878597"/>
                <a:gd name="connsiteX0" fmla="*/ 6858001 w 6858001"/>
                <a:gd name="connsiteY0" fmla="*/ 501092 h 7379689"/>
                <a:gd name="connsiteX1" fmla="*/ 6858000 w 6858001"/>
                <a:gd name="connsiteY1" fmla="*/ 7379689 h 7379689"/>
                <a:gd name="connsiteX2" fmla="*/ 0 w 6858001"/>
                <a:gd name="connsiteY2" fmla="*/ 7379688 h 7379689"/>
                <a:gd name="connsiteX3" fmla="*/ 0 w 6858001"/>
                <a:gd name="connsiteY3" fmla="*/ 1 h 7379689"/>
                <a:gd name="connsiteX4" fmla="*/ 6858001 w 6858001"/>
                <a:gd name="connsiteY4" fmla="*/ 501092 h 7379689"/>
                <a:gd name="connsiteX0" fmla="*/ 6622611 w 6858000"/>
                <a:gd name="connsiteY0" fmla="*/ 2602753 h 7379687"/>
                <a:gd name="connsiteX1" fmla="*/ 6858000 w 6858000"/>
                <a:gd name="connsiteY1" fmla="*/ 7379687 h 7379687"/>
                <a:gd name="connsiteX2" fmla="*/ 0 w 6858000"/>
                <a:gd name="connsiteY2" fmla="*/ 7379686 h 7379687"/>
                <a:gd name="connsiteX3" fmla="*/ 0 w 6858000"/>
                <a:gd name="connsiteY3" fmla="*/ -1 h 7379687"/>
                <a:gd name="connsiteX4" fmla="*/ 6622611 w 6858000"/>
                <a:gd name="connsiteY4" fmla="*/ 2602753 h 7379687"/>
                <a:gd name="connsiteX0" fmla="*/ 6858001 w 6858001"/>
                <a:gd name="connsiteY0" fmla="*/ 3759377 h 7379689"/>
                <a:gd name="connsiteX1" fmla="*/ 6858000 w 6858001"/>
                <a:gd name="connsiteY1" fmla="*/ 7379689 h 7379689"/>
                <a:gd name="connsiteX2" fmla="*/ 0 w 6858001"/>
                <a:gd name="connsiteY2" fmla="*/ 7379688 h 7379689"/>
                <a:gd name="connsiteX3" fmla="*/ 0 w 6858001"/>
                <a:gd name="connsiteY3" fmla="*/ 1 h 7379689"/>
                <a:gd name="connsiteX4" fmla="*/ 6858001 w 6858001"/>
                <a:gd name="connsiteY4" fmla="*/ 3759377 h 7379689"/>
                <a:gd name="connsiteX0" fmla="*/ 6867055 w 6867055"/>
                <a:gd name="connsiteY0" fmla="*/ 5451991 h 9072303"/>
                <a:gd name="connsiteX1" fmla="*/ 6867054 w 6867055"/>
                <a:gd name="connsiteY1" fmla="*/ 9072303 h 9072303"/>
                <a:gd name="connsiteX2" fmla="*/ 9054 w 6867055"/>
                <a:gd name="connsiteY2" fmla="*/ 9072302 h 9072303"/>
                <a:gd name="connsiteX3" fmla="*/ 0 w 6867055"/>
                <a:gd name="connsiteY3" fmla="*/ 0 h 9072303"/>
                <a:gd name="connsiteX4" fmla="*/ 6867055 w 6867055"/>
                <a:gd name="connsiteY4" fmla="*/ 5451991 h 9072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7055" h="9072303">
                  <a:moveTo>
                    <a:pt x="6867055" y="5451991"/>
                  </a:moveTo>
                  <a:cubicBezTo>
                    <a:pt x="6867055" y="7744857"/>
                    <a:pt x="6867054" y="6779437"/>
                    <a:pt x="6867054" y="9072303"/>
                  </a:cubicBezTo>
                  <a:lnTo>
                    <a:pt x="9054" y="9072302"/>
                  </a:lnTo>
                  <a:lnTo>
                    <a:pt x="0" y="0"/>
                  </a:lnTo>
                  <a:lnTo>
                    <a:pt x="6867055" y="5451991"/>
                  </a:lnTo>
                  <a:close/>
                </a:path>
              </a:pathLst>
            </a:custGeom>
            <a:solidFill>
              <a:schemeClr val="tx1">
                <a:alpha val="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2449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30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slideLayout" Target="../slideLayouts/slideLayout29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theme" Target="../theme/theme2.xml"/><Relationship Id="rId11" Type="http://schemas.openxmlformats.org/officeDocument/2006/relationships/image" Target="../media/image25.tiff"/><Relationship Id="rId5" Type="http://schemas.openxmlformats.org/officeDocument/2006/relationships/slideLayout" Target="../slideLayouts/slideLayout31.xml"/><Relationship Id="rId10" Type="http://schemas.openxmlformats.org/officeDocument/2006/relationships/image" Target="../media/image24.png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2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52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51.xml"/><Relationship Id="rId29" Type="http://schemas.openxmlformats.org/officeDocument/2006/relationships/image" Target="../media/image1.emf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oleObject" Target="../embeddings/oleObject1.bin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F35353F7-2B55-79E1-9E2A-B65EE1EE5B4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38877744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9" imgW="360" imgH="360" progId="TCLayout.ActiveDocument.1">
                  <p:embed/>
                </p:oleObj>
              </mc:Choice>
              <mc:Fallback>
                <p:oleObj name="think-cell Slide" r:id="rId29" imgW="360" imgH="36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F35353F7-2B55-79E1-9E2A-B65EE1EE5B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7603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00" r:id="rId3"/>
    <p:sldLayoutId id="2147483720" r:id="rId4"/>
    <p:sldLayoutId id="2147483701" r:id="rId5"/>
    <p:sldLayoutId id="2147483728" r:id="rId6"/>
    <p:sldLayoutId id="2147483729" r:id="rId7"/>
    <p:sldLayoutId id="2147483730" r:id="rId8"/>
    <p:sldLayoutId id="2147483731" r:id="rId9"/>
    <p:sldLayoutId id="2147483702" r:id="rId10"/>
    <p:sldLayoutId id="2147483721" r:id="rId11"/>
    <p:sldLayoutId id="2147483723" r:id="rId12"/>
    <p:sldLayoutId id="2147483745" r:id="rId13"/>
    <p:sldLayoutId id="2147483724" r:id="rId14"/>
    <p:sldLayoutId id="2147483725" r:id="rId15"/>
    <p:sldLayoutId id="2147483732" r:id="rId16"/>
    <p:sldLayoutId id="2147483722" r:id="rId17"/>
    <p:sldLayoutId id="2147483727" r:id="rId18"/>
    <p:sldLayoutId id="2147483706" r:id="rId19"/>
    <p:sldLayoutId id="2147483707" r:id="rId20"/>
    <p:sldLayoutId id="2147483726" r:id="rId21"/>
    <p:sldLayoutId id="2147483746" r:id="rId22"/>
    <p:sldLayoutId id="2147483708" r:id="rId23"/>
    <p:sldLayoutId id="2147483717" r:id="rId24"/>
    <p:sldLayoutId id="2147483766" r:id="rId25"/>
    <p:sldLayoutId id="2147483792" r:id="rId26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7CEE401-D5FB-463B-841E-3339305FB0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506012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44" imgH="344" progId="TCLayout.ActiveDocument.1">
                  <p:embed/>
                </p:oleObj>
              </mc:Choice>
              <mc:Fallback>
                <p:oleObj name="think-cell Slide" r:id="rId8" imgW="344" imgH="34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7CEE401-D5FB-463B-841E-3339305FB0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E321214-D068-FD43-BD6E-06E3A705458F}"/>
              </a:ext>
            </a:extLst>
          </p:cNvPr>
          <p:cNvSpPr/>
          <p:nvPr userDrawn="1"/>
        </p:nvSpPr>
        <p:spPr>
          <a:xfrm>
            <a:off x="3" y="6272212"/>
            <a:ext cx="12191999" cy="601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4A6596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F24F90-740D-3641-8907-ED82254E12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1925" y="6388042"/>
            <a:ext cx="1058910" cy="414161"/>
          </a:xfrm>
          <a:prstGeom prst="rect">
            <a:avLst/>
          </a:prstGeom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92BEDA6-BE04-2F43-8C5A-D063F55FDF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8410" y="6327972"/>
            <a:ext cx="8365324" cy="493614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l">
              <a:defRPr sz="800" b="0" i="1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Source: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E51408-E656-D246-9ACD-E2F930C8F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0"/>
            <a:ext cx="11740896" cy="801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1C0D5B-4B57-E148-84E9-E3371213B7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135167" y="135166"/>
            <a:ext cx="1278541" cy="1008209"/>
          </a:xfrm>
          <a:prstGeom prst="rtTriangle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AC776DC-5A9F-7A46-8F68-9707EA653AFD}"/>
              </a:ext>
            </a:extLst>
          </p:cNvPr>
          <p:cNvSpPr/>
          <p:nvPr userDrawn="1"/>
        </p:nvSpPr>
        <p:spPr>
          <a:xfrm>
            <a:off x="0" y="404603"/>
            <a:ext cx="12192000" cy="39651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1CEC558B-BC98-6D4B-AE0D-7CD03D41052D}"/>
              </a:ext>
            </a:extLst>
          </p:cNvPr>
          <p:cNvSpPr txBox="1">
            <a:spLocks/>
          </p:cNvSpPr>
          <p:nvPr userDrawn="1"/>
        </p:nvSpPr>
        <p:spPr>
          <a:xfrm>
            <a:off x="11369310" y="6421029"/>
            <a:ext cx="776212" cy="26807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i="1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i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PAGE </a:t>
            </a:r>
            <a:fld id="{5F66B632-9B25-B440-A5E4-F2149998E2B2}" type="slidenum">
              <a:rPr lang="en-US" sz="900" i="0" smtClean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pPr algn="l"/>
              <a:t>‹#›</a:t>
            </a:fld>
            <a:endParaRPr lang="en-US" sz="900" i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CEEA2A4C-8A3F-7948-95E1-F8D59349BE45}"/>
              </a:ext>
            </a:extLst>
          </p:cNvPr>
          <p:cNvSpPr txBox="1">
            <a:spLocks/>
          </p:cNvSpPr>
          <p:nvPr userDrawn="1"/>
        </p:nvSpPr>
        <p:spPr>
          <a:xfrm>
            <a:off x="9815641" y="6421029"/>
            <a:ext cx="1279995" cy="26807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i="1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i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CONFIDENTIAL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54EDFE-9849-0044-AA3E-B2049BB99708}"/>
              </a:ext>
            </a:extLst>
          </p:cNvPr>
          <p:cNvCxnSpPr/>
          <p:nvPr userDrawn="1"/>
        </p:nvCxnSpPr>
        <p:spPr>
          <a:xfrm>
            <a:off x="11208923" y="6385555"/>
            <a:ext cx="0" cy="3552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230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1" r:id="rId5"/>
  </p:sldLayoutIdLst>
  <p:hf hdr="0" dt="0"/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2200" b="0" i="0" kern="1200">
          <a:solidFill>
            <a:schemeClr val="tx1"/>
          </a:solidFill>
          <a:latin typeface="Montserrat Light" pitchFamily="2" charset="77"/>
          <a:ea typeface="+mj-ea"/>
          <a:cs typeface="Arial" panose="020B0604020202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>
          <p15:clr>
            <a:srgbClr val="F26B43"/>
          </p15:clr>
        </p15:guide>
        <p15:guide id="2" orient="horz" pos="216">
          <p15:clr>
            <a:srgbClr val="F26B43"/>
          </p15:clr>
        </p15:guide>
        <p15:guide id="3" orient="horz" pos="701">
          <p15:clr>
            <a:srgbClr val="F26B43"/>
          </p15:clr>
        </p15:guide>
        <p15:guide id="4" orient="horz" pos="3949">
          <p15:clr>
            <a:srgbClr val="F26B43"/>
          </p15:clr>
        </p15:guide>
        <p15:guide id="5">
          <p15:clr>
            <a:srgbClr val="F26B43"/>
          </p15:clr>
        </p15:guide>
        <p15:guide id="6" pos="221">
          <p15:clr>
            <a:srgbClr val="F26B43"/>
          </p15:clr>
        </p15:guide>
        <p15:guide id="7" pos="7440">
          <p15:clr>
            <a:srgbClr val="F26B43"/>
          </p15:clr>
        </p15:guide>
        <p15:guide id="8" pos="7680">
          <p15:clr>
            <a:srgbClr val="F26B43"/>
          </p15:clr>
        </p15:guide>
        <p15:guide id="9" orient="horz" pos="4320">
          <p15:clr>
            <a:srgbClr val="F26B43"/>
          </p15:clr>
        </p15:guide>
        <p15:guide id="10" orient="horz" pos="3768">
          <p15:clr>
            <a:srgbClr val="F26B43"/>
          </p15:clr>
        </p15:guide>
        <p15:guide id="11" orient="horz" pos="888">
          <p15:clr>
            <a:srgbClr val="F26B43"/>
          </p15:clr>
        </p15:guide>
        <p15:guide id="12" pos="7224">
          <p15:clr>
            <a:srgbClr val="F26B43"/>
          </p15:clr>
        </p15:guide>
        <p15:guide id="13" pos="43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F35353F7-2B55-79E1-9E2A-B65EE1EE5B4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38877744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360" imgH="360" progId="TCLayout.ActiveDocument.1">
                  <p:embed/>
                </p:oleObj>
              </mc:Choice>
              <mc:Fallback>
                <p:oleObj name="think-cell Slide" r:id="rId28" imgW="360" imgH="36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F35353F7-2B55-79E1-9E2A-B65EE1EE5B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2045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  <p:sldLayoutId id="2147483810" r:id="rId17"/>
    <p:sldLayoutId id="2147483811" r:id="rId18"/>
    <p:sldLayoutId id="2147483812" r:id="rId19"/>
    <p:sldLayoutId id="2147483813" r:id="rId20"/>
    <p:sldLayoutId id="2147483814" r:id="rId21"/>
    <p:sldLayoutId id="2147483815" r:id="rId22"/>
    <p:sldLayoutId id="2147483816" r:id="rId23"/>
    <p:sldLayoutId id="2147483817" r:id="rId24"/>
    <p:sldLayoutId id="2147483818" r:id="rId25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5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5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5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svg"/><Relationship Id="rId1" Type="http://schemas.openxmlformats.org/officeDocument/2006/relationships/slideLayout" Target="../slideLayouts/slideLayout5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12B23F-4D10-4F15-FDCB-A732A75DF901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/>
              <a:t>Lunch and Learn</a:t>
            </a:r>
          </a:p>
          <a:p>
            <a:r>
              <a:rPr lang="en-US"/>
              <a:t>Pharmacokinetics—What Is It and Why Does It Matter?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22AC3F-790F-6F05-DFCF-6A917630411F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March 19, 2026</a:t>
            </a:r>
          </a:p>
        </p:txBody>
      </p:sp>
    </p:spTree>
    <p:extLst>
      <p:ext uri="{BB962C8B-B14F-4D97-AF65-F5344CB8AC3E}">
        <p14:creationId xmlns:p14="http://schemas.microsoft.com/office/powerpoint/2010/main" val="2969158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6D8C9A-BBA8-66E7-B72A-1C4638B35252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531216" y="1316119"/>
            <a:ext cx="9997620" cy="464752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Recent Work Experience: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Associate director, Clin Pharm &amp; Pharmacometrics, Praxis Precision Medicines (Sept 2024-July 2026)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Principal Scientist, Quantitative Clinical Pharmacology, Legend Biotech (Jan 2022-Sept 2024)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Principal Scientific Researcher, Genentech (May 2020-Dec2021)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Therapeutic area and modality experience: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Immunology, Oncology, hematology, neurology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Small molecules, mono/bispecific antibodies, cell and gene therapies (CAR-T, ASO)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Education: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Georgia Tech; MS Computer Science, 2022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University of Toronto; MS Chemistry and PharmD, 2020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University of British Columbia; BS Chemistry, 2013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6DF3288-6831-EC26-7266-CC0CB6E59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985516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A0FCC4-E2D6-BE72-8238-D34A007E4896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97189" y="1659724"/>
            <a:ext cx="10123703" cy="4166738"/>
          </a:xfrm>
        </p:spPr>
        <p:txBody>
          <a:bodyPr lIns="91440" tIns="45720" rIns="91440" bIns="45720" numCol="1" anchor="t" anchorCtr="0">
            <a:normAutofit fontScale="70000" lnSpcReduction="20000"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PK describes the fate of the drug you take: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Absorption (How much? How fast? Is it affected by food?)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Distribution (Limited or extensive?)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Roboto Light"/>
                <a:cs typeface="Arial"/>
              </a:rPr>
              <a:t>Metabolism (What metabolites are formed? What enzymes are involved? DDIs?)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Excretion (Urine or feces? Intact or as metabolites?)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Roboto Light"/>
                <a:cs typeface="Arial"/>
              </a:rPr>
              <a:t>Relevant information gleaned from an analysis: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Bioavailability: Fraction of a dose that reaches the plasma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Overall exposure: AUC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Roboto Light"/>
                <a:cs typeface="Arial"/>
              </a:rPr>
              <a:t>Peak concentration:  </a:t>
            </a:r>
            <a:r>
              <a:rPr lang="en-US" dirty="0" err="1">
                <a:latin typeface="Arial"/>
                <a:ea typeface="Roboto Light"/>
                <a:cs typeface="Arial"/>
              </a:rPr>
              <a:t>C</a:t>
            </a:r>
            <a:r>
              <a:rPr lang="en-US" baseline="-25000" dirty="0" err="1">
                <a:latin typeface="Arial"/>
                <a:ea typeface="Roboto Light"/>
                <a:cs typeface="Arial"/>
              </a:rPr>
              <a:t>max</a:t>
            </a:r>
            <a:endParaRPr lang="en-US" baseline="-25000" dirty="0">
              <a:latin typeface="Arial"/>
              <a:ea typeface="Roboto Light"/>
              <a:cs typeface="Arial"/>
            </a:endParaRP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Roboto Light"/>
                <a:cs typeface="Arial"/>
              </a:rPr>
              <a:t>Time of peak concentration: </a:t>
            </a:r>
            <a:r>
              <a:rPr lang="en-US" dirty="0" err="1">
                <a:latin typeface="Arial"/>
                <a:ea typeface="Roboto Light"/>
                <a:cs typeface="Arial"/>
              </a:rPr>
              <a:t>t</a:t>
            </a:r>
            <a:r>
              <a:rPr lang="en-US" baseline="-25000" dirty="0" err="1">
                <a:latin typeface="Arial"/>
                <a:ea typeface="Roboto Light"/>
                <a:cs typeface="Arial"/>
              </a:rPr>
              <a:t>max</a:t>
            </a:r>
            <a:endParaRPr lang="en-US" baseline="-25000" dirty="0">
              <a:latin typeface="Arial"/>
              <a:ea typeface="Roboto Light"/>
              <a:cs typeface="Arial"/>
            </a:endParaRP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Roboto Light"/>
                <a:cs typeface="Arial"/>
              </a:rPr>
              <a:t>Half-life for elimination: t</a:t>
            </a:r>
            <a:r>
              <a:rPr lang="en-US" baseline="-25000" dirty="0">
                <a:latin typeface="Arial"/>
                <a:ea typeface="Roboto Light"/>
                <a:cs typeface="Arial"/>
              </a:rPr>
              <a:t>½</a:t>
            </a:r>
            <a:r>
              <a:rPr lang="en-US" dirty="0">
                <a:latin typeface="Arial"/>
                <a:ea typeface="Roboto Light"/>
                <a:cs typeface="Arial"/>
              </a:rPr>
              <a:t> 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Rate of irreversible removal of drug from plasma: CL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Volume of distribution: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Roboto Light"/>
                <a:cs typeface="Arial"/>
              </a:rPr>
              <a:t>PK analyses give “parameter estimates” that can be important on their own (e.g., bioavailability, </a:t>
            </a:r>
            <a:r>
              <a:rPr lang="en-US" sz="2100" dirty="0">
                <a:latin typeface="Arial"/>
                <a:ea typeface="Roboto Light"/>
                <a:cs typeface="Arial"/>
              </a:rPr>
              <a:t>t</a:t>
            </a:r>
            <a:r>
              <a:rPr lang="en-US" sz="1300" baseline="-25000" dirty="0">
                <a:latin typeface="Arial"/>
                <a:ea typeface="Roboto Light"/>
                <a:cs typeface="Arial"/>
              </a:rPr>
              <a:t>½</a:t>
            </a:r>
            <a:r>
              <a:rPr lang="en-US" dirty="0">
                <a:latin typeface="Arial"/>
                <a:ea typeface="Roboto Light"/>
                <a:cs typeface="Arial"/>
              </a:rPr>
              <a:t>, </a:t>
            </a:r>
            <a:r>
              <a:rPr lang="en-US" sz="2100" dirty="0" err="1">
                <a:latin typeface="Arial"/>
                <a:ea typeface="Roboto Light"/>
                <a:cs typeface="Arial"/>
              </a:rPr>
              <a:t>t</a:t>
            </a:r>
            <a:r>
              <a:rPr lang="en-US" sz="1300" baseline="-25000" dirty="0" err="1">
                <a:latin typeface="Arial"/>
                <a:ea typeface="Roboto Light"/>
                <a:cs typeface="Arial"/>
              </a:rPr>
              <a:t>max</a:t>
            </a:r>
            <a:r>
              <a:rPr lang="en-US" dirty="0">
                <a:latin typeface="Arial"/>
                <a:ea typeface="Roboto Light"/>
                <a:cs typeface="Arial"/>
              </a:rPr>
              <a:t>) or useful only within the context of clinical response (e.g., AUC, </a:t>
            </a:r>
            <a:r>
              <a:rPr lang="en-US" dirty="0" err="1">
                <a:latin typeface="Arial"/>
                <a:ea typeface="Roboto Light"/>
                <a:cs typeface="Arial"/>
              </a:rPr>
              <a:t>C</a:t>
            </a:r>
            <a:r>
              <a:rPr lang="en-US" baseline="-25000" dirty="0" err="1">
                <a:latin typeface="Arial"/>
                <a:ea typeface="Roboto Light"/>
                <a:cs typeface="Arial"/>
              </a:rPr>
              <a:t>max</a:t>
            </a:r>
            <a:r>
              <a:rPr lang="en-US" dirty="0">
                <a:latin typeface="Arial"/>
                <a:ea typeface="Roboto Light"/>
                <a:cs typeface="Arial"/>
              </a:rPr>
              <a:t>). 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Roboto Light"/>
                <a:cs typeface="Arial"/>
              </a:rPr>
              <a:t>PK is a key component of dose selection, which combines PK information with efficacy, safety, and tolerability information to determine the dose strength and dosing frequency that produces a good balance between efficacy and safety/tolerability.  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C310000-43DB-6E88-1026-474A75F489C4}"/>
              </a:ext>
            </a:extLst>
          </p:cNvPr>
          <p:cNvSpPr/>
          <p:nvPr/>
        </p:nvSpPr>
        <p:spPr>
          <a:xfrm>
            <a:off x="315474" y="275272"/>
            <a:ext cx="11532476" cy="90651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Pharmacokinetics? </a:t>
            </a:r>
            <a:endParaRPr lang="en-US" sz="2800" b="1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539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FD6BA-41E7-5491-FAD0-B1BEEF2EE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81FDF5-4B7D-5239-48D7-F71948A2FB96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97189" y="1659724"/>
            <a:ext cx="10123703" cy="4166738"/>
          </a:xfrm>
        </p:spPr>
        <p:txBody>
          <a:bodyPr lIns="91440" tIns="45720" rIns="91440" bIns="45720" numCol="1" anchor="t" anchorCtr="0">
            <a:norm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Noncompartmental analyses: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Typical for Phase 1 studies, when subjects are housed and readily available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Serial samples are collected after a dose to provide a full concentration-time profile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Roboto Light"/>
                <a:cs typeface="Arial"/>
              </a:rPr>
              <a:t>PK parameter estimates are calculated for each profile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Roboto Light"/>
                <a:cs typeface="Arial"/>
              </a:rPr>
              <a:t>Parameter estimates are summarized across profiles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43A8E68-3848-CA11-FFC7-8038D511EF5F}"/>
              </a:ext>
            </a:extLst>
          </p:cNvPr>
          <p:cNvSpPr/>
          <p:nvPr/>
        </p:nvSpPr>
        <p:spPr>
          <a:xfrm>
            <a:off x="315474" y="275272"/>
            <a:ext cx="11532476" cy="90651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Type of PK Analyses We’ll Cover Today </a:t>
            </a:r>
            <a:endParaRPr lang="en-US" sz="2800" b="1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905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8C038-BC4B-19B4-5C2E-C1417DA9E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851AC1-809B-CC98-67EB-E6B6D85B8376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97189" y="1659724"/>
            <a:ext cx="10123703" cy="4166738"/>
          </a:xfrm>
        </p:spPr>
        <p:txBody>
          <a:bodyPr lIns="91440" tIns="45720" rIns="91440" bIns="45720" numCol="1" anchor="t" anchorCtr="0">
            <a:norm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Roboto Light"/>
                <a:cs typeface="Arial"/>
              </a:rPr>
              <a:t>Population PK (</a:t>
            </a:r>
            <a:r>
              <a:rPr lang="en-US" dirty="0" err="1">
                <a:latin typeface="Arial"/>
                <a:ea typeface="Roboto Light"/>
                <a:cs typeface="Arial"/>
              </a:rPr>
              <a:t>popPK</a:t>
            </a:r>
            <a:r>
              <a:rPr lang="en-US" dirty="0">
                <a:latin typeface="Arial"/>
                <a:ea typeface="Roboto Light"/>
                <a:cs typeface="Arial"/>
              </a:rPr>
              <a:t>) analyses: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Typical for Phase 2/3 studies, when subjects are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housed and readily available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Roboto Light"/>
                <a:cs typeface="Arial"/>
              </a:rPr>
              <a:t>Only 1 or 2 PK samples are collected at a visit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Individual profiles are not available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Roboto Light"/>
                <a:cs typeface="Arial"/>
              </a:rPr>
              <a:t>The </a:t>
            </a:r>
            <a:r>
              <a:rPr lang="en-US" dirty="0" err="1">
                <a:latin typeface="Arial"/>
                <a:ea typeface="Roboto Light"/>
                <a:cs typeface="Arial"/>
              </a:rPr>
              <a:t>popPK</a:t>
            </a:r>
            <a:r>
              <a:rPr lang="en-US" dirty="0">
                <a:latin typeface="Arial"/>
                <a:ea typeface="Roboto Light"/>
                <a:cs typeface="Arial"/>
              </a:rPr>
              <a:t> analysis combines all data and uses specialized software to develop a model that describes the PK in the </a:t>
            </a:r>
            <a:r>
              <a:rPr lang="en-US" i="1" dirty="0">
                <a:latin typeface="Arial"/>
                <a:ea typeface="Roboto Light"/>
                <a:cs typeface="Arial"/>
              </a:rPr>
              <a:t>population</a:t>
            </a:r>
            <a:r>
              <a:rPr lang="en-US" dirty="0">
                <a:latin typeface="Arial"/>
                <a:ea typeface="Roboto Light"/>
                <a:cs typeface="Arial"/>
              </a:rPr>
              <a:t>, not in </a:t>
            </a:r>
            <a:r>
              <a:rPr lang="en-US" i="1" dirty="0">
                <a:latin typeface="Arial"/>
                <a:ea typeface="Roboto Light"/>
                <a:cs typeface="Arial"/>
              </a:rPr>
              <a:t>individuals</a:t>
            </a:r>
            <a:r>
              <a:rPr lang="en-US" dirty="0">
                <a:latin typeface="Arial"/>
                <a:ea typeface="Roboto Light"/>
                <a:cs typeface="Arial"/>
              </a:rPr>
              <a:t>.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is an empirical 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“top-down” approach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model calculates PK parameter estimates and their variability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Roboto Light"/>
                <a:cs typeface="Arial"/>
              </a:rPr>
              <a:t>The model can then be used to predict individual exposures that are used in exposure-response analyses for efficacy and safety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FC20A05-235B-A680-379E-339ED995D566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06984" y="6440128"/>
            <a:ext cx="9117119" cy="282996"/>
          </a:xfrm>
        </p:spPr>
        <p:txBody>
          <a:bodyPr>
            <a:noAutofit/>
          </a:bodyPr>
          <a:lstStyle/>
          <a:p>
            <a:endParaRPr lang="en-US" sz="14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CF706CF-0938-CD4A-3818-6F1B8D5302EA}"/>
              </a:ext>
            </a:extLst>
          </p:cNvPr>
          <p:cNvSpPr/>
          <p:nvPr/>
        </p:nvSpPr>
        <p:spPr>
          <a:xfrm>
            <a:off x="315474" y="275272"/>
            <a:ext cx="11532476" cy="90651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Type of PK Analyses We’ll Cover Today </a:t>
            </a:r>
            <a:endParaRPr lang="en-US" sz="2800" b="1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86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882F2-D39A-EE74-34CB-30ED493F8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2EB6B7D-785C-FFAF-5EE1-03C34253F3B5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97189" y="1659724"/>
            <a:ext cx="10123703" cy="4166738"/>
          </a:xfrm>
        </p:spPr>
        <p:txBody>
          <a:bodyPr lIns="91440" tIns="45720" rIns="91440" bIns="45720" numCol="1" anchor="t" anchorCtr="0">
            <a:norm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Physiologically based PK (PBPK) analysis: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be used across all phases, from preclinical to late development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Mechanistic “bottom-up” approach that develops a physiological model to predict exposures and compare scenarios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Especially useful to:</a:t>
            </a:r>
          </a:p>
          <a:p>
            <a:pPr marL="1257300" lvl="2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scale </a:t>
            </a:r>
            <a:r>
              <a:rPr lang="en-US" b="0" i="1" dirty="0">
                <a:latin typeface="Arial" panose="020B0604020202020204" pitchFamily="34" charset="0"/>
                <a:cs typeface="Arial" panose="020B0604020202020204" pitchFamily="34" charset="0"/>
              </a:rPr>
              <a:t>in vitro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 and animal data to predict human PK</a:t>
            </a:r>
          </a:p>
          <a:p>
            <a:pPr marL="1257300" lvl="2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predict exposure in first-in-human studies</a:t>
            </a:r>
          </a:p>
          <a:p>
            <a:pPr marL="1257300" lvl="2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Arial"/>
                <a:cs typeface="Arial"/>
              </a:rPr>
              <a:t>predict the magnitude of drug-drug interactions</a:t>
            </a:r>
          </a:p>
          <a:p>
            <a:pPr marL="1257300" lvl="2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predict the effects of organ impairment.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Roboto Light"/>
                <a:cs typeface="Arial"/>
              </a:rPr>
              <a:t>Regulatory agencies accept the results of PBPK modeling, so a good model can negate the need to conduct a $1,000,000+ clinical study.</a:t>
            </a:r>
          </a:p>
          <a:p>
            <a:pPr marL="800100" lvl="1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FAE52A6-2EC9-FF80-4607-8D3C18E18E83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06984" y="6440128"/>
            <a:ext cx="9117119" cy="282996"/>
          </a:xfrm>
        </p:spPr>
        <p:txBody>
          <a:bodyPr>
            <a:noAutofit/>
          </a:bodyPr>
          <a:lstStyle/>
          <a:p>
            <a:endParaRPr lang="en-US" sz="14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CC2F5CE-C96F-1A91-37CC-901CC0DCD1C8}"/>
              </a:ext>
            </a:extLst>
          </p:cNvPr>
          <p:cNvSpPr/>
          <p:nvPr/>
        </p:nvSpPr>
        <p:spPr>
          <a:xfrm>
            <a:off x="315474" y="275272"/>
            <a:ext cx="11532476" cy="90651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Type of PK Analyses (Not Covered Today)</a:t>
            </a:r>
            <a:endParaRPr lang="en-US" sz="2800" b="1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079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12B23F-4D10-4F15-FDCB-A732A75DF901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/>
              <a:t>Non-Compartmental Analysis (NCA)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22AC3F-790F-6F05-DFCF-6A917630411F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March 19, 2026</a:t>
            </a:r>
          </a:p>
        </p:txBody>
      </p:sp>
    </p:spTree>
    <p:extLst>
      <p:ext uri="{BB962C8B-B14F-4D97-AF65-F5344CB8AC3E}">
        <p14:creationId xmlns:p14="http://schemas.microsoft.com/office/powerpoint/2010/main" val="1108599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F01B6-B850-9DB9-A024-62E120434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F16191-6D26-418C-E043-2630E8CF27E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727596" y="1345631"/>
            <a:ext cx="9997620" cy="4943202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There are 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major approaches to analyzing 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PK data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(also called “Bioanalytical data,” “Concentration-time data”):</a:t>
            </a:r>
          </a:p>
          <a:p>
            <a:pPr>
              <a:buClr>
                <a:schemeClr val="tx1"/>
              </a:buClr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</a:pPr>
            <a:r>
              <a:rPr lang="en-US" b="1" u="sng">
                <a:latin typeface="Arial" panose="020B0604020202020204" pitchFamily="34" charset="0"/>
                <a:cs typeface="Arial" panose="020B0604020202020204" pitchFamily="34" charset="0"/>
              </a:rPr>
              <a:t>Non-Compartmental Analysis (NCA)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Does 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not assume any body compartments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Uses simple math to estimate key 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PK parameters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directly from data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Faster, simpler, and very common in early clinical studies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Often used for Phase 1 studies, bioavailability, and PK summaries</a:t>
            </a:r>
          </a:p>
          <a:p>
            <a:pPr>
              <a:buClr>
                <a:schemeClr val="tx1"/>
              </a:buClr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  <a:r>
              <a:rPr lang="en-US" i="1">
                <a:latin typeface="Arial" panose="020B0604020202020204" pitchFamily="34" charset="0"/>
                <a:cs typeface="Arial" panose="020B0604020202020204" pitchFamily="34" charset="0"/>
              </a:rPr>
              <a:t>NCA = model-independent, easy to interpret, quick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Clr>
                <a:schemeClr val="tx1"/>
              </a:buClr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</a:pPr>
            <a:r>
              <a:rPr lang="en-US" b="1" u="sng">
                <a:latin typeface="Arial" panose="020B0604020202020204" pitchFamily="34" charset="0"/>
                <a:cs typeface="Arial" panose="020B0604020202020204" pitchFamily="34" charset="0"/>
              </a:rPr>
              <a:t>Compartmental Analysis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Assumes the body is like “boxes” (compartments) where the drug moves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Builds a model with equations and fits it to the data	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163FE3C-731A-E239-9117-D997041717B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06984" y="6440128"/>
            <a:ext cx="7641277" cy="282996"/>
          </a:xfrm>
        </p:spPr>
        <p:txBody>
          <a:bodyPr>
            <a:noAutofit/>
          </a:bodyPr>
          <a:lstStyle/>
          <a:p>
            <a:endParaRPr lang="en-US" sz="14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FBE2849-2F8A-E102-2C4D-7273F81E40C3}"/>
              </a:ext>
            </a:extLst>
          </p:cNvPr>
          <p:cNvSpPr/>
          <p:nvPr/>
        </p:nvSpPr>
        <p:spPr>
          <a:xfrm>
            <a:off x="1604864" y="275272"/>
            <a:ext cx="10243085" cy="90651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Model-Based vs. Model-Independent PK</a:t>
            </a:r>
            <a:endParaRPr lang="en-US" sz="2800" b="1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91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BBE40-F22B-4D98-7CBC-FD6011F0F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36FC9C5-E526-C94F-DB90-85304DD4D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16" y="3817232"/>
            <a:ext cx="6041291" cy="2765496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5E04A4-7F67-8D40-405F-E87555DDB01E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727596" y="1345631"/>
            <a:ext cx="9997620" cy="4943202"/>
          </a:xfrm>
        </p:spPr>
        <p:txBody>
          <a:bodyPr lIns="91440" tIns="45720" rIns="91440" bIns="45720" numCol="1" anchor="t" anchorCtr="0">
            <a:noAutofit/>
          </a:bodyPr>
          <a:lstStyle/>
          <a:p>
            <a:pPr>
              <a:buClr>
                <a:schemeClr val="tx1"/>
              </a:buCl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NCA uses observed drug concentration data over time; usually from blood samples; to create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concentration-vs-time curve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buClr>
                <a:schemeClr val="tx1"/>
              </a:buClr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</a:pPr>
            <a:r>
              <a:rPr lang="en-US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Non-Compartmental Analysis (NCA)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/>
                <a:ea typeface="Roboto Light"/>
                <a:cs typeface="Arial"/>
              </a:rPr>
              <a:t>C</a:t>
            </a:r>
            <a:r>
              <a:rPr lang="en-US" sz="1400" baseline="-25000" dirty="0">
                <a:latin typeface="Arial"/>
                <a:ea typeface="Roboto Light"/>
                <a:cs typeface="Arial"/>
              </a:rPr>
              <a:t>max</a:t>
            </a:r>
            <a:r>
              <a:rPr lang="en-US" sz="1400" dirty="0">
                <a:latin typeface="Arial"/>
                <a:ea typeface="Roboto Light"/>
                <a:cs typeface="Arial"/>
              </a:rPr>
              <a:t>: Highest concentration observed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 err="1">
                <a:latin typeface="Arial"/>
                <a:ea typeface="Roboto Light"/>
                <a:cs typeface="Arial"/>
              </a:rPr>
              <a:t>T</a:t>
            </a:r>
            <a:r>
              <a:rPr lang="en-US" sz="1400" baseline="-25000" dirty="0" err="1">
                <a:latin typeface="Arial"/>
                <a:ea typeface="Roboto Light"/>
                <a:cs typeface="Arial"/>
              </a:rPr>
              <a:t>max</a:t>
            </a:r>
            <a:r>
              <a:rPr lang="en-US" sz="1400" dirty="0">
                <a:latin typeface="Arial"/>
                <a:ea typeface="Roboto Light"/>
                <a:cs typeface="Arial"/>
              </a:rPr>
              <a:t>: Time of highest concentration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AUC: Total drug exposure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Half-life (t</a:t>
            </a:r>
            <a:r>
              <a:rPr lang="en-US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½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): Time for concentration to reduce by half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4312495-BD52-7E97-82C0-F975433041AF}"/>
              </a:ext>
            </a:extLst>
          </p:cNvPr>
          <p:cNvSpPr/>
          <p:nvPr/>
        </p:nvSpPr>
        <p:spPr>
          <a:xfrm>
            <a:off x="1604864" y="275272"/>
            <a:ext cx="10243085" cy="90651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Non-Compartmental Analysis (NCA) Works </a:t>
            </a:r>
            <a:endParaRPr lang="en-US" sz="2800" b="1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393ED7-FEAA-3BCA-B198-D3BAFC6A4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294" y="1894114"/>
            <a:ext cx="5486400" cy="4114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1ACEB4-13C5-213B-0F3A-73D3512A9113}"/>
              </a:ext>
            </a:extLst>
          </p:cNvPr>
          <p:cNvSpPr txBox="1"/>
          <p:nvPr/>
        </p:nvSpPr>
        <p:spPr>
          <a:xfrm>
            <a:off x="7954764" y="4075007"/>
            <a:ext cx="67450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latin typeface="Tahoma"/>
                <a:ea typeface="Tahoma"/>
                <a:cs typeface="Tahoma"/>
              </a:rPr>
              <a:t>AUC</a:t>
            </a:r>
          </a:p>
        </p:txBody>
      </p:sp>
    </p:spTree>
    <p:extLst>
      <p:ext uri="{BB962C8B-B14F-4D97-AF65-F5344CB8AC3E}">
        <p14:creationId xmlns:p14="http://schemas.microsoft.com/office/powerpoint/2010/main" val="1998082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86913-1B49-8CFE-08E5-FCBE50A12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E2997A7-FE4A-0FF0-7782-DCB799DA270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727596" y="1345631"/>
            <a:ext cx="9997620" cy="4943202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Used when: 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Early clinical/phase 1 studies 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Rich sampling over time 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Need basic exposure metrics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</a:pPr>
            <a:r>
              <a:rPr lang="en-US" b="1" u="sng">
                <a:latin typeface="Arial" panose="020B0604020202020204" pitchFamily="34" charset="0"/>
                <a:cs typeface="Arial" panose="020B0604020202020204" pitchFamily="34" charset="0"/>
              </a:rPr>
              <a:t>Advantages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Does not assume how many “compartments” the body has 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Simple, robust, and reproducible 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Commonly accepted by regulators for PK summaries </a:t>
            </a:r>
          </a:p>
          <a:p>
            <a:pPr>
              <a:buClr>
                <a:schemeClr val="tx1"/>
              </a:buClr>
            </a:pPr>
            <a:r>
              <a:rPr lang="en-US" b="1" u="sng"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Not good for sparse sampling designs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Cannot predict future levels under new conditions (e.g., new dose)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No mechanistic insight like compartmental or PBPK models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EFB2414-C5B0-FAA4-790D-3662F36E28A3}"/>
              </a:ext>
            </a:extLst>
          </p:cNvPr>
          <p:cNvSpPr/>
          <p:nvPr/>
        </p:nvSpPr>
        <p:spPr>
          <a:xfrm>
            <a:off x="1604864" y="275272"/>
            <a:ext cx="10243085" cy="90651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&amp; Why NCA is Used</a:t>
            </a:r>
            <a:endParaRPr lang="en-US" sz="2800" b="1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971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4F4098-8109-8234-2BD5-4741A9F76EA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7040880" y="3997465"/>
            <a:ext cx="4927600" cy="1843976"/>
          </a:xfrm>
        </p:spPr>
        <p:txBody>
          <a:bodyPr/>
          <a:lstStyle/>
          <a:p>
            <a:r>
              <a:rPr lang="en-US"/>
              <a:t>Population PK Modeling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93BD1-AE38-EB82-0B68-882F6F9AD204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7364179" y="5596453"/>
            <a:ext cx="4281002" cy="489976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March 19, 2026</a:t>
            </a:r>
          </a:p>
        </p:txBody>
      </p:sp>
    </p:spTree>
    <p:extLst>
      <p:ext uri="{BB962C8B-B14F-4D97-AF65-F5344CB8AC3E}">
        <p14:creationId xmlns:p14="http://schemas.microsoft.com/office/powerpoint/2010/main" val="1998270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1216" y="359728"/>
            <a:ext cx="9997620" cy="875240"/>
          </a:xfrm>
          <a:prstGeom prst="rect">
            <a:avLst/>
          </a:prstGeom>
        </p:spPr>
        <p:txBody>
          <a:bodyPr vert="horz" wrap="square" lIns="0" tIns="318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6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3600" spc="60">
                <a:latin typeface="Arial" panose="020B0604020202020204" pitchFamily="34" charset="0"/>
                <a:cs typeface="Arial" panose="020B0604020202020204" pitchFamily="34" charset="0"/>
              </a:rPr>
              <a:t>hy Do We Need </a:t>
            </a:r>
            <a:r>
              <a:rPr lang="en-US" sz="3600" spc="60" err="1">
                <a:latin typeface="Arial" panose="020B0604020202020204" pitchFamily="34" charset="0"/>
                <a:cs typeface="Arial" panose="020B0604020202020204" pitchFamily="34" charset="0"/>
              </a:rPr>
              <a:t>PopPK</a:t>
            </a:r>
            <a:r>
              <a:rPr lang="en-US" sz="3600" spc="60">
                <a:latin typeface="Arial" panose="020B0604020202020204" pitchFamily="34" charset="0"/>
                <a:cs typeface="Arial" panose="020B0604020202020204" pitchFamily="34" charset="0"/>
              </a:rPr>
              <a:t> Models</a:t>
            </a:r>
            <a:r>
              <a:rPr lang="en-US" sz="3600" spc="8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sz="3600" spc="8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A51147-814E-834B-E2AC-54D32124240F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1531914" y="1379657"/>
            <a:ext cx="9367013" cy="4790927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262255" marR="0" lvl="0" indent="-250825" algn="l" defTabSz="914400" rtl="0" eaLnBrk="1" fontAlgn="auto" latinLnBrk="0" hangingPunct="1">
              <a:lnSpc>
                <a:spcPts val="2630"/>
              </a:lnSpc>
              <a:spcBef>
                <a:spcPts val="95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262255" algn="l"/>
              </a:tabLst>
              <a:defRPr/>
            </a:pPr>
            <a:r>
              <a:rPr kumimoji="0" lang="en-US" sz="2000" b="0" i="0" u="none" strike="noStrike" kern="0" cap="none" spc="-10" normalizeH="0" baseline="0" noProof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Describe the PK of </a:t>
            </a:r>
            <a:r>
              <a:rPr lang="en-US" sz="2000" kern="0" spc="-10">
                <a:latin typeface="Arial"/>
                <a:cs typeface="Arial"/>
              </a:rPr>
              <a:t>a drug in a population</a:t>
            </a:r>
          </a:p>
          <a:p>
            <a:pPr marL="276860" lvl="0" indent="-136525">
              <a:lnSpc>
                <a:spcPts val="2150"/>
              </a:lnSpc>
              <a:buClr>
                <a:srgbClr val="1CADE4"/>
              </a:buClr>
              <a:buFont typeface="Wingdings"/>
              <a:buChar char=""/>
              <a:tabLst>
                <a:tab pos="276860" algn="l"/>
              </a:tabLst>
              <a:defRPr/>
            </a:pPr>
            <a:r>
              <a:rPr lang="en-US" kern="0">
                <a:latin typeface="Arial"/>
                <a:cs typeface="Arial"/>
              </a:rPr>
              <a:t>Develop a model that fits the PK data</a:t>
            </a:r>
          </a:p>
          <a:p>
            <a:pPr marL="459740" lvl="1" indent="-136525">
              <a:spcBef>
                <a:spcPts val="280"/>
              </a:spcBef>
              <a:buClr>
                <a:srgbClr val="1CADE4"/>
              </a:buClr>
              <a:buFont typeface="Arial"/>
              <a:buChar char="•"/>
              <a:tabLst>
                <a:tab pos="459740" algn="l"/>
              </a:tabLst>
              <a:defRPr/>
            </a:pPr>
            <a:r>
              <a:rPr lang="en-US" sz="1400" kern="0">
                <a:latin typeface="Arial"/>
                <a:cs typeface="Arial"/>
              </a:rPr>
              <a:t>determine the structure of the model</a:t>
            </a:r>
          </a:p>
          <a:p>
            <a:pPr marL="459740" lvl="1" indent="-136525">
              <a:spcBef>
                <a:spcPts val="280"/>
              </a:spcBef>
              <a:buClr>
                <a:srgbClr val="1CADE4"/>
              </a:buClr>
              <a:buFont typeface="Arial"/>
              <a:buChar char="•"/>
              <a:tabLst>
                <a:tab pos="459740" algn="l"/>
              </a:tabLst>
              <a:defRPr/>
            </a:pPr>
            <a:r>
              <a:rPr lang="en-US" sz="1400" kern="0">
                <a:latin typeface="Arial"/>
                <a:cs typeface="Arial"/>
              </a:rPr>
              <a:t>estimate key parameters of the model</a:t>
            </a:r>
          </a:p>
          <a:p>
            <a:pPr marL="459740" lvl="1" indent="-136525">
              <a:spcBef>
                <a:spcPts val="280"/>
              </a:spcBef>
              <a:buClr>
                <a:srgbClr val="1CADE4"/>
              </a:buClr>
              <a:buFont typeface="Arial"/>
              <a:buChar char="•"/>
              <a:tabLst>
                <a:tab pos="459740" algn="l"/>
              </a:tabLst>
              <a:defRPr/>
            </a:pPr>
            <a:r>
              <a:rPr lang="en-US" sz="1400" kern="0">
                <a:latin typeface="Arial"/>
                <a:cs typeface="Arial"/>
              </a:rPr>
              <a:t>these are developed systematically by trial and error with diagnostic evaluations of fit and quality</a:t>
            </a:r>
            <a:endParaRPr lang="en-US" sz="2200" kern="0" spc="-10">
              <a:latin typeface="Arial"/>
              <a:cs typeface="Arial"/>
            </a:endParaRPr>
          </a:p>
          <a:p>
            <a:pPr marL="262255" marR="0" lvl="0" indent="-250825" algn="l" defTabSz="914400" rtl="0" eaLnBrk="1" fontAlgn="auto" latinLnBrk="0" hangingPunct="1">
              <a:lnSpc>
                <a:spcPts val="2630"/>
              </a:lnSpc>
              <a:spcBef>
                <a:spcPts val="95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262255" algn="l"/>
              </a:tabLst>
              <a:defRPr/>
            </a:pPr>
            <a:r>
              <a:rPr kumimoji="0" lang="en-US" sz="20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Explain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6860" marR="0" lvl="0" indent="-136525" algn="l" defTabSz="914400" rtl="0" eaLnBrk="1" fontAlgn="auto" latinLnBrk="0" hangingPunct="1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Tx/>
              <a:buFont typeface="Wingdings"/>
              <a:buChar char=""/>
              <a:tabLst>
                <a:tab pos="276860" algn="l"/>
              </a:tabLst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Characterize</a:t>
            </a:r>
            <a:r>
              <a:rPr kumimoji="0" lang="en-US" sz="1800" b="0" i="0" u="none" strike="noStrike" kern="0" cap="none" spc="-5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lang="en-US" sz="18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effect</a:t>
            </a:r>
            <a:r>
              <a:rPr kumimoji="0" lang="en-US" sz="18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lang="en-US" sz="1800" b="0" i="0" u="none" strike="noStrike" kern="0" cap="none" spc="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various</a:t>
            </a:r>
            <a:r>
              <a:rPr kumimoji="0" lang="en-US" sz="18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intrinsic</a:t>
            </a:r>
            <a:r>
              <a:rPr kumimoji="0" lang="en-US" sz="1800" b="0" i="0" u="none" strike="noStrike" kern="0" cap="none" spc="-3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lang="en-US" sz="18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extrinsic</a:t>
            </a:r>
            <a:r>
              <a:rPr kumimoji="0" lang="en-US" sz="18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factors</a:t>
            </a:r>
            <a:r>
              <a:rPr kumimoji="0" lang="en-US" sz="18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on</a:t>
            </a:r>
            <a:r>
              <a:rPr kumimoji="0" lang="en-US" sz="1800" b="0" i="0" u="none" strike="noStrike" kern="0" cap="none" spc="-3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PK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9740" marR="0" lvl="1" indent="-136525" algn="l" defTabSz="914400" rtl="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1CADE4"/>
              </a:buClr>
              <a:buSzTx/>
              <a:buFont typeface="Arial"/>
              <a:buChar char="•"/>
              <a:tabLst>
                <a:tab pos="459740" algn="l"/>
              </a:tabLst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demographics</a:t>
            </a:r>
            <a:r>
              <a:rPr kumimoji="0" lang="en-US" sz="1400" b="0" i="0" u="none" strike="noStrike" kern="0" cap="none" spc="-7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(age,</a:t>
            </a:r>
            <a:r>
              <a:rPr kumimoji="0" lang="en-US" sz="1400" b="0" i="0" u="none" strike="noStrike" kern="0" cap="none" spc="-5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sex,</a:t>
            </a:r>
            <a:r>
              <a:rPr kumimoji="0" lang="en-US" sz="1400" b="0" i="0" u="none" strike="noStrike" kern="0" cap="none" spc="-6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0" i="0" u="none" strike="noStrike" kern="0" cap="none" spc="-2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race)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9740" marR="0" lvl="1" indent="-136525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1CADE4"/>
              </a:buClr>
              <a:buSzTx/>
              <a:buFont typeface="Arial"/>
              <a:buChar char="•"/>
              <a:tabLst>
                <a:tab pos="459740" algn="l"/>
              </a:tabLst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disease</a:t>
            </a:r>
            <a:r>
              <a:rPr kumimoji="0" lang="en-US" sz="14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(e.g.,</a:t>
            </a:r>
            <a:r>
              <a:rPr kumimoji="0" lang="en-US" sz="14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hepatic</a:t>
            </a:r>
            <a:r>
              <a:rPr kumimoji="0" lang="en-US" sz="14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disorder,</a:t>
            </a:r>
            <a:r>
              <a:rPr kumimoji="0" lang="en-US" sz="14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renal</a:t>
            </a:r>
            <a:r>
              <a:rPr kumimoji="0" lang="en-US" sz="1400" b="0" i="0" u="none" strike="noStrike" kern="0" cap="none" spc="-3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disorder,</a:t>
            </a:r>
            <a:r>
              <a:rPr kumimoji="0" lang="en-US" sz="14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circulatory</a:t>
            </a:r>
            <a:r>
              <a:rPr kumimoji="0" lang="en-US" sz="14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disorders)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9740" marR="0" lvl="1" indent="-136525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1CADE4"/>
              </a:buClr>
              <a:buSzTx/>
              <a:buFont typeface="Arial"/>
              <a:buChar char="•"/>
              <a:tabLst>
                <a:tab pos="459740" algn="l"/>
              </a:tabLst>
              <a:defRPr/>
            </a:pPr>
            <a:r>
              <a:rPr kumimoji="0" sz="14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genotype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9105" marR="5080" lvl="1" indent="-136525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1CADE4"/>
              </a:buClr>
              <a:buSzTx/>
              <a:buFont typeface="Arial"/>
              <a:buChar char="•"/>
              <a:tabLst>
                <a:tab pos="460375" algn="l"/>
              </a:tabLst>
              <a:defRPr/>
            </a:pPr>
            <a:r>
              <a:rPr lang="en-US" sz="1400" kern="0" spc="-10">
                <a:solidFill>
                  <a:sysClr val="windowText" lastClr="000000"/>
                </a:solidFill>
                <a:latin typeface="Arial"/>
                <a:cs typeface="Arial"/>
              </a:rPr>
              <a:t>dosing-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related</a:t>
            </a:r>
            <a:r>
              <a:rPr kumimoji="0" lang="en-US" sz="14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factors:</a:t>
            </a:r>
            <a:r>
              <a:rPr kumimoji="0" lang="en-US" sz="14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route</a:t>
            </a:r>
            <a:r>
              <a:rPr kumimoji="0" lang="en-US" sz="1400" b="0" i="0" u="none" strike="noStrike" kern="0" cap="none" spc="-2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(e.g.,</a:t>
            </a:r>
            <a:r>
              <a:rPr kumimoji="0" lang="en-US" sz="14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oral,</a:t>
            </a:r>
            <a:r>
              <a:rPr kumimoji="0" lang="en-US" sz="14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sub-cutaneous,</a:t>
            </a:r>
            <a:r>
              <a:rPr kumimoji="0" lang="en-US" sz="1400" b="0" i="0" u="none" strike="noStrike" kern="0" cap="none" spc="-3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intra-muscular,</a:t>
            </a:r>
            <a:r>
              <a:rPr kumimoji="0" lang="en-US" sz="14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0" i="0" u="none" strike="noStrike" kern="0" cap="none" spc="-35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etc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),</a:t>
            </a:r>
            <a:r>
              <a:rPr kumimoji="0" lang="en-US" sz="14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site</a:t>
            </a:r>
            <a:r>
              <a:rPr kumimoji="0" lang="en-US" sz="14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(e.g.,</a:t>
            </a:r>
            <a:r>
              <a:rPr kumimoji="0" lang="en-US" sz="14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arm</a:t>
            </a:r>
            <a:r>
              <a:rPr kumimoji="0" lang="en-US" sz="14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vs.</a:t>
            </a:r>
            <a:r>
              <a:rPr kumimoji="0" lang="en-US" sz="14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abdomen)</a:t>
            </a:r>
            <a:endParaRPr lang="en-US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9740" marR="0" lvl="1" indent="-136525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1CADE4"/>
              </a:buClr>
              <a:buSzTx/>
              <a:buFont typeface="Arial"/>
              <a:buChar char="•"/>
              <a:tabLst>
                <a:tab pos="459740" algn="l"/>
              </a:tabLst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meal,</a:t>
            </a:r>
            <a:r>
              <a:rPr kumimoji="0" lang="en-US" sz="1400" b="0" i="0" u="none" strike="noStrike" kern="0" cap="none" spc="-3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formulation,</a:t>
            </a:r>
            <a:r>
              <a:rPr kumimoji="0" lang="en-US" sz="1400" b="0" i="0" u="none" strike="noStrike" kern="0" cap="none" spc="-3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drug-drug</a:t>
            </a:r>
            <a:r>
              <a:rPr kumimoji="0" lang="en-US" sz="14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interaction,</a:t>
            </a:r>
            <a:r>
              <a:rPr kumimoji="0" lang="en-US" sz="14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0" i="0" u="none" strike="noStrike" kern="0" cap="none" spc="-25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etc</a:t>
            </a:r>
            <a:endParaRPr lang="en-US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2255" marR="0" lvl="0" indent="-250825" algn="l" defTabSz="914400" rtl="0" eaLnBrk="1" fontAlgn="auto" latinLnBrk="0" hangingPunct="1">
              <a:lnSpc>
                <a:spcPts val="2630"/>
              </a:lnSpc>
              <a:spcBef>
                <a:spcPts val="1065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/>
              <a:defRPr/>
            </a:pPr>
            <a:r>
              <a:rPr kumimoji="0" sz="20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Predict</a:t>
            </a:r>
            <a:endParaRPr lang="en-US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6860" marR="0" lvl="0" indent="-136525" algn="l" defTabSz="914400" rtl="0" eaLnBrk="1" fontAlgn="auto" latinLnBrk="0" hangingPunct="1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Tx/>
              <a:buFont typeface="Wingdings"/>
              <a:buChar char=""/>
              <a:tabLst>
                <a:tab pos="276860" algn="l"/>
              </a:tabLst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untested</a:t>
            </a:r>
            <a:r>
              <a:rPr kumimoji="0" lang="en-US" sz="18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dosing</a:t>
            </a:r>
            <a:r>
              <a:rPr kumimoji="0" lang="en-US" sz="1800" b="0" i="0" u="none" strike="noStrike" kern="0" cap="none" spc="-1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regimens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76860" marR="0" lvl="0" indent="-136525" algn="l" defTabSz="914400" rtl="0" eaLnBrk="1" fontAlgn="auto" latinLnBrk="0" hangingPunct="1">
              <a:lnSpc>
                <a:spcPct val="100000"/>
              </a:lnSpc>
              <a:spcBef>
                <a:spcPts val="165"/>
              </a:spcBef>
              <a:spcAft>
                <a:spcPts val="0"/>
              </a:spcAft>
              <a:buClr>
                <a:srgbClr val="1CADE4"/>
              </a:buClr>
              <a:buSzTx/>
              <a:buFont typeface="Wingdings"/>
              <a:buChar char=""/>
              <a:tabLst>
                <a:tab pos="276860" algn="l"/>
              </a:tabLst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untested</a:t>
            </a:r>
            <a:r>
              <a:rPr kumimoji="0" lang="en-US" sz="18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populations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62255" marR="0" lvl="0" indent="-250825" algn="l" defTabSz="914400" rtl="0" eaLnBrk="1" fontAlgn="auto" latinLnBrk="0" hangingPunct="1">
              <a:lnSpc>
                <a:spcPct val="100000"/>
              </a:lnSpc>
              <a:spcBef>
                <a:spcPts val="1055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262255" algn="l"/>
              </a:tabLst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Ultimate</a:t>
            </a:r>
            <a:r>
              <a:rPr kumimoji="0" lang="en-US" sz="2000" b="0" i="0" u="none" strike="noStrike" kern="0" cap="none" spc="-7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goal:</a:t>
            </a:r>
            <a:r>
              <a:rPr kumimoji="0" lang="en-US" sz="2000" b="0" i="0" u="none" strike="noStrike" kern="0" cap="none" spc="-7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understand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variability</a:t>
            </a:r>
            <a:r>
              <a:rPr kumimoji="0" lang="en-US" sz="20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lang="en-US" sz="2000" b="0" i="0" u="none" strike="noStrike" kern="0" cap="none" spc="-7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exposure</a:t>
            </a:r>
            <a:endParaRPr lang="en-US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8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75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3600" spc="75">
                <a:latin typeface="Arial" panose="020B0604020202020204" pitchFamily="34" charset="0"/>
                <a:cs typeface="Arial" panose="020B0604020202020204" pitchFamily="34" charset="0"/>
              </a:rPr>
              <a:t>odeling Steps</a:t>
            </a:r>
            <a:endParaRPr sz="3600" spc="65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1B8E18-BF10-6DC6-81BE-A420A8A1CA9C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1524883" y="1580559"/>
            <a:ext cx="7634605" cy="3824124"/>
          </a:xfrm>
          <a:prstGeom prst="rect">
            <a:avLst/>
          </a:prstGeom>
        </p:spPr>
        <p:txBody>
          <a:bodyPr vert="horz" wrap="square" lIns="0" tIns="157480" rIns="0" bIns="0" rtlCol="0" anchor="t">
            <a:spAutoFit/>
          </a:bodyPr>
          <a:lstStyle/>
          <a:p>
            <a:pPr marL="262255" marR="0" lvl="0" indent="-250825" algn="l" defTabSz="914400" rtl="0" eaLnBrk="1" fontAlgn="auto" latinLnBrk="0" hangingPunct="1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262255" algn="l"/>
              </a:tabLst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Identify</a:t>
            </a:r>
            <a:r>
              <a:rPr kumimoji="0" lang="en-US" sz="2200" b="0" i="0" u="none" strike="noStrike" kern="0" cap="none" spc="-3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the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purpose</a:t>
            </a:r>
            <a:r>
              <a:rPr kumimoji="0" lang="en-US" sz="2200" b="0" i="0" u="none" strike="noStrike" kern="0" cap="none" spc="-3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lang="en-US" sz="2200" b="0" i="0" u="none" strike="noStrike" kern="0" cap="none" spc="2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the </a:t>
            </a:r>
            <a:r>
              <a:rPr kumimoji="0" lang="en-US" sz="22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modeling</a:t>
            </a:r>
            <a:endParaRPr kumimoji="0" lang="en-US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62255" marR="0" lvl="0" indent="-250825" algn="l" defTabSz="914400" rtl="0" eaLnBrk="1" fontAlgn="auto" latinLnBrk="0" hangingPunct="1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262255" algn="l"/>
              </a:tabLst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Gather data</a:t>
            </a:r>
            <a:r>
              <a:rPr kumimoji="0" lang="en-US" sz="22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lang="en-US" sz="22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construct the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dataset</a:t>
            </a:r>
            <a:endParaRPr kumimoji="0" lang="en-US" sz="2200" b="0" i="0" u="none" strike="noStrike" kern="0" cap="none" spc="-1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719455" lvl="1" indent="-250825">
              <a:spcBef>
                <a:spcPts val="1140"/>
              </a:spcBef>
              <a:buClr>
                <a:srgbClr val="1CADE4"/>
              </a:buClr>
              <a:buSzPct val="95454"/>
              <a:buFont typeface="Wingdings"/>
              <a:buChar char=""/>
              <a:tabLst>
                <a:tab pos="262255" algn="l"/>
              </a:tabLst>
              <a:defRPr/>
            </a:pPr>
            <a:r>
              <a:rPr lang="en-US" sz="2000" kern="0" spc="-10">
                <a:latin typeface="Arial"/>
                <a:cs typeface="Arial"/>
              </a:rPr>
              <a:t>Can comprise sparse data from multiple studies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  <a:p>
            <a:pPr marL="262255" marR="0" lvl="0" indent="-250825" algn="l" defTabSz="914400" rtl="0" eaLnBrk="1" fontAlgn="auto" latinLnBrk="0" hangingPunct="1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262255" algn="l"/>
              </a:tabLst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Explore the d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ata</a:t>
            </a:r>
          </a:p>
          <a:p>
            <a:pPr marL="262255" indent="-250825">
              <a:spcBef>
                <a:spcPts val="1140"/>
              </a:spcBef>
              <a:buClr>
                <a:srgbClr val="1CADE4"/>
              </a:buClr>
              <a:buSzPct val="95454"/>
              <a:buFont typeface="Wingdings"/>
              <a:buChar char=""/>
              <a:tabLst>
                <a:tab pos="262255" algn="l"/>
              </a:tabLst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Define</a:t>
            </a:r>
            <a:r>
              <a:rPr kumimoji="0" lang="en-US" sz="22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lang="en-US" sz="22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lang="en-US" sz="2200" kern="0">
                <a:solidFill>
                  <a:sysClr val="windowText" lastClr="000000"/>
                </a:solidFill>
                <a:latin typeface="Arial"/>
                <a:cs typeface="Arial"/>
              </a:rPr>
              <a:t>model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structure</a:t>
            </a:r>
            <a:r>
              <a:rPr kumimoji="0" lang="en-US" sz="2200" b="0" i="0" u="none" strike="noStrike" kern="0" cap="none" spc="-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sz="22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62255" lvl="0" indent="-250825">
              <a:spcBef>
                <a:spcPts val="1140"/>
              </a:spcBef>
              <a:buClr>
                <a:srgbClr val="1CADE4"/>
              </a:buClr>
              <a:buSzPct val="95454"/>
              <a:buFont typeface="Wingdings"/>
              <a:buChar char=""/>
              <a:tabLst>
                <a:tab pos="262255" algn="l"/>
              </a:tabLst>
              <a:defRPr/>
            </a:pPr>
            <a:r>
              <a:rPr kumimoji="0" lang="en-US" sz="22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Estimate model parameters</a:t>
            </a:r>
            <a:endParaRPr lang="en-US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62255" marR="0" lvl="0" indent="-250825" algn="l" defTabSz="914400" rtl="0" eaLnBrk="1" fontAlgn="auto" latinLnBrk="0" hangingPunct="1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262255" algn="l"/>
              </a:tabLst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Develop</a:t>
            </a:r>
            <a:r>
              <a:rPr kumimoji="0" lang="en-US" sz="2200" b="0" i="0" u="none" strike="noStrike" kern="0" cap="none" spc="-1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a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covariate</a:t>
            </a:r>
            <a:r>
              <a:rPr kumimoji="0" lang="en-US" sz="2200" b="0" i="0" u="none" strike="noStrike" kern="0" cap="none" spc="-9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-2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model</a:t>
            </a:r>
            <a:endParaRPr kumimoji="0" lang="en-US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62255" marR="0" lvl="0" indent="-250825" algn="l" defTabSz="914400" rtl="0" eaLnBrk="1" fontAlgn="auto" latinLnBrk="0" hangingPunct="1">
              <a:lnSpc>
                <a:spcPct val="100000"/>
              </a:lnSpc>
              <a:spcBef>
                <a:spcPts val="1135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262255" algn="l"/>
              </a:tabLst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Evaluate the m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1216" y="421284"/>
            <a:ext cx="9997620" cy="752129"/>
          </a:xfrm>
          <a:prstGeom prst="rect">
            <a:avLst/>
          </a:prstGeom>
        </p:spPr>
        <p:txBody>
          <a:bodyPr vert="horz" wrap="square" lIns="0" tIns="318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ata Gathering and Dataset Construction</a:t>
            </a:r>
            <a:endParaRPr sz="2800" spc="65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9912C6-F852-5273-5D79-408FF6985D0A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1522948" y="1751821"/>
            <a:ext cx="9650730" cy="3445815"/>
          </a:xfrm>
          <a:prstGeom prst="rect">
            <a:avLst/>
          </a:prstGeom>
        </p:spPr>
        <p:txBody>
          <a:bodyPr vert="horz" wrap="square" lIns="0" tIns="49530" rIns="0" bIns="0" rtlCol="0" anchor="t">
            <a:spAutoFit/>
          </a:bodyPr>
          <a:lstStyle/>
          <a:p>
            <a:pPr marL="103505" marR="19685" lvl="0" indent="-93345" algn="l" defTabSz="914400" rtl="0" eaLnBrk="1" fontAlgn="auto" latinLnBrk="0" hangingPunct="1">
              <a:lnSpc>
                <a:spcPts val="2380"/>
              </a:lnSpc>
              <a:spcBef>
                <a:spcPts val="390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104139" algn="l"/>
                <a:tab pos="261620" algn="l"/>
              </a:tabLst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Design</a:t>
            </a:r>
            <a:r>
              <a:rPr kumimoji="0" lang="en-US" sz="2200" b="0" i="0" u="none" strike="noStrike" kern="0" cap="none" spc="-6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lang="en-US" sz="22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analysis</a:t>
            </a:r>
            <a:r>
              <a:rPr kumimoji="0" lang="en-US" sz="22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(number</a:t>
            </a:r>
            <a:r>
              <a:rPr kumimoji="0" lang="en-US" sz="22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lang="en-US" sz="2200" b="0" i="0" u="none" strike="noStrike" kern="0" cap="none" spc="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subjects,</a:t>
            </a:r>
            <a:r>
              <a:rPr kumimoji="0" lang="en-US" sz="22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number</a:t>
            </a:r>
            <a:r>
              <a:rPr kumimoji="0" lang="en-US" sz="22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lang="en-US" sz="2200" b="0" i="0" u="none" strike="noStrike" kern="0" cap="none" spc="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samples,</a:t>
            </a:r>
            <a:r>
              <a:rPr kumimoji="0" lang="en-US" sz="22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timing</a:t>
            </a:r>
            <a:r>
              <a:rPr kumimoji="0" lang="en-US" sz="22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lang="en-US" sz="2200" b="0" i="0" u="none" strike="noStrike" kern="0" cap="none" spc="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sample collection)</a:t>
            </a:r>
            <a:endParaRPr lang="en-US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40335" marR="0" lvl="0" indent="0" algn="l" defTabSz="914400" rtl="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/>
                <a:cs typeface="Arial"/>
              </a:rPr>
              <a:t></a:t>
            </a:r>
            <a:r>
              <a:rPr kumimoji="0" lang="en-US" sz="1800" b="0" i="0" u="none" strike="noStrike" kern="0" cap="none" spc="95" normalizeH="0" baseline="0" noProof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how</a:t>
            </a:r>
            <a:r>
              <a:rPr kumimoji="0" lang="en-US" sz="1800" b="0" i="0" u="none" strike="noStrike" kern="0" cap="none" spc="-1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much</a:t>
            </a:r>
            <a:r>
              <a:rPr kumimoji="0" lang="en-US" sz="1800" b="0" i="0" u="none" strike="noStrike" kern="0" cap="none" spc="-2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information</a:t>
            </a:r>
            <a:r>
              <a:rPr kumimoji="0" lang="en-US" sz="18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does</a:t>
            </a:r>
            <a:r>
              <a:rPr kumimoji="0" lang="en-US" sz="1800" b="0" i="0" u="none" strike="noStrike" kern="0" cap="none" spc="-2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lang="en-US" sz="18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data</a:t>
            </a:r>
            <a:r>
              <a:rPr kumimoji="0" lang="en-US" sz="1800" b="0" i="0" u="none" strike="noStrike" kern="0" cap="none" spc="-2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contain</a:t>
            </a:r>
            <a:r>
              <a:rPr kumimoji="0" lang="en-US" sz="1800" b="0" i="0" u="none" strike="noStrike" kern="0" cap="none" spc="-3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for the</a:t>
            </a:r>
            <a:r>
              <a:rPr kumimoji="0" lang="en-US" sz="1800" b="0" i="0" u="none" strike="noStrike" kern="0" cap="none" spc="-1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parameter</a:t>
            </a:r>
            <a:r>
              <a:rPr kumimoji="0" lang="en-US" sz="1800" b="0" i="0" u="none" strike="noStrike" kern="0" cap="none" spc="-5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lang="en-US" sz="1800" b="0" i="0" u="none" strike="noStrike" kern="0" cap="none" spc="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interest?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62255" marR="0" lvl="0" indent="-250825" algn="l" defTabSz="914400" rtl="0" eaLnBrk="1" fontAlgn="auto" latinLnBrk="0" hangingPunct="1">
              <a:lnSpc>
                <a:spcPct val="100000"/>
              </a:lnSpc>
              <a:spcBef>
                <a:spcPts val="1315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262255" algn="l"/>
              </a:tabLst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Collect</a:t>
            </a:r>
            <a:r>
              <a:rPr kumimoji="0" lang="en-US" sz="22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dosing</a:t>
            </a:r>
            <a:r>
              <a:rPr kumimoji="0" lang="en-US" sz="2200" b="0" i="0" u="none" strike="noStrike" kern="0" cap="none" spc="-5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history</a:t>
            </a:r>
            <a:r>
              <a:rPr kumimoji="0" lang="en-US" sz="22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(amount,</a:t>
            </a:r>
            <a:r>
              <a:rPr kumimoji="0" lang="en-US" sz="2200" b="0" i="0" u="none" strike="noStrike" kern="0" cap="none" spc="-7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rate,</a:t>
            </a:r>
            <a:r>
              <a:rPr kumimoji="0" lang="en-US" sz="2200" b="0" i="0" u="none" strike="noStrike" kern="0" cap="none" spc="-5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lang="en-US" sz="2200" b="0" i="0" u="none" strike="noStrike" kern="0" cap="none" spc="-6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time),</a:t>
            </a:r>
            <a:r>
              <a:rPr kumimoji="0" lang="en-US" sz="2200" b="0" i="0" u="none" strike="noStrike" kern="0" cap="none" spc="-6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sample</a:t>
            </a:r>
            <a:r>
              <a:rPr kumimoji="0" lang="en-US" sz="2200" b="0" i="0" u="none" strike="noStrike" kern="0" cap="none" spc="-5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collection,</a:t>
            </a:r>
            <a:r>
              <a:rPr kumimoji="0" lang="en-US" sz="22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concentration</a:t>
            </a:r>
            <a:r>
              <a:rPr kumimoji="0" lang="en-US" sz="22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values</a:t>
            </a:r>
            <a:endParaRPr kumimoji="0" lang="en-US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77495" marR="54610" lvl="0" indent="-137160" algn="l" defTabSz="914400" rtl="0" eaLnBrk="1" fontAlgn="auto" latinLnBrk="0" hangingPunct="1">
              <a:lnSpc>
                <a:spcPts val="1939"/>
              </a:lnSpc>
              <a:spcBef>
                <a:spcPts val="4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/>
                <a:cs typeface="Arial"/>
              </a:rPr>
              <a:t></a:t>
            </a:r>
            <a:r>
              <a:rPr kumimoji="0" lang="en-US" sz="1800" b="0" i="0" u="none" strike="noStrike" kern="0" cap="none" spc="80" normalizeH="0" baseline="0" noProof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data</a:t>
            </a:r>
            <a:r>
              <a:rPr kumimoji="0" lang="en-US" sz="18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errors</a:t>
            </a:r>
            <a:r>
              <a:rPr kumimoji="0" lang="en-US" sz="1800" b="0" i="0" u="none" strike="noStrike" kern="0" cap="none" spc="-1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lead</a:t>
            </a:r>
            <a:r>
              <a:rPr kumimoji="0" lang="en-US" sz="18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lang="en-US" sz="1800" b="0" i="0" u="none" strike="noStrike" kern="0" cap="none" spc="-2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problems</a:t>
            </a:r>
            <a:r>
              <a:rPr kumimoji="0" lang="en-US" sz="18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lang="en-US" sz="18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parameter</a:t>
            </a:r>
            <a:r>
              <a:rPr kumimoji="0" lang="en-US" sz="18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estimation</a:t>
            </a:r>
            <a:r>
              <a:rPr kumimoji="0" lang="en-US" sz="18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lang="en-US" sz="18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inflated</a:t>
            </a:r>
            <a:r>
              <a:rPr kumimoji="0" lang="en-US" sz="18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inter-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subject</a:t>
            </a:r>
            <a:r>
              <a:rPr kumimoji="0" lang="en-US" sz="18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variability</a:t>
            </a:r>
            <a:r>
              <a:rPr kumimoji="0" lang="en-US" sz="1800" b="0" i="0" u="none" strike="sngStrike" kern="0" cap="none" spc="-4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sz="1800" b="0" i="0" u="none" strike="sngStrike" kern="0" cap="none" spc="-1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62255" marR="0" lvl="0" indent="-250825" algn="l" defTabSz="914400" rtl="0" eaLnBrk="1" fontAlgn="auto" latinLnBrk="0" hangingPunct="1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262255" algn="l"/>
              </a:tabLst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Collect</a:t>
            </a:r>
            <a:r>
              <a:rPr kumimoji="0" lang="en-US" sz="2200" b="0" i="0" u="none" strike="noStrike" kern="0" cap="none" spc="-5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other</a:t>
            </a:r>
            <a:r>
              <a:rPr kumimoji="0" lang="en-US" sz="2200" b="0" i="0" u="none" strike="noStrike" kern="0" cap="none" spc="-6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important</a:t>
            </a:r>
            <a:r>
              <a:rPr kumimoji="0" lang="en-US" sz="2200" b="0" i="0" u="none" strike="noStrike" kern="0" cap="none" spc="-5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covariate</a:t>
            </a:r>
            <a:r>
              <a:rPr kumimoji="0" lang="en-US" sz="22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information</a:t>
            </a:r>
            <a:endParaRPr kumimoji="0" lang="en-US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3505" marR="499745" lvl="0" indent="-93345" algn="l" defTabSz="914400" rtl="0" eaLnBrk="1" fontAlgn="auto" latinLnBrk="0" hangingPunct="1">
              <a:lnSpc>
                <a:spcPts val="2380"/>
              </a:lnSpc>
              <a:spcBef>
                <a:spcPts val="1610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104139" algn="l"/>
                <a:tab pos="261620" algn="l"/>
              </a:tabLst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	Create</a:t>
            </a:r>
            <a:r>
              <a:rPr kumimoji="0" lang="en-US" sz="2200" b="0" i="0" u="none" strike="noStrike" kern="0" cap="none" spc="-6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lang="en-US" sz="22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dataset</a:t>
            </a:r>
            <a:r>
              <a:rPr kumimoji="0" lang="en-US" sz="22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conforming</a:t>
            </a:r>
            <a:r>
              <a:rPr kumimoji="0" lang="en-US" sz="22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lang="en-US" sz="22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specific</a:t>
            </a:r>
            <a:r>
              <a:rPr kumimoji="0" lang="en-US" sz="2200" b="0" i="0" u="none" strike="noStrike" kern="0" cap="none" spc="-2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format</a:t>
            </a:r>
            <a:r>
              <a:rPr kumimoji="0" lang="en-US" sz="22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requirement</a:t>
            </a:r>
            <a:r>
              <a:rPr kumimoji="0" lang="en-US" sz="22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lang="en-US" sz="2200" b="0" i="0" u="none" strike="noStrike" kern="0" cap="none" spc="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lang="en-US" sz="22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software</a:t>
            </a:r>
            <a:r>
              <a:rPr kumimoji="0" lang="en-US" sz="22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(e.g.,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NONMEM,</a:t>
            </a:r>
            <a:r>
              <a:rPr kumimoji="0" lang="en-US" sz="2200" b="0" i="0" u="none" strike="noStrike" kern="0" cap="none" spc="-6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Monolix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,</a:t>
            </a:r>
            <a:r>
              <a:rPr kumimoji="0" lang="en-US" sz="2200" b="0" i="0" u="none" strike="noStrike" kern="0" cap="none" spc="-8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Phoenix</a:t>
            </a:r>
            <a:r>
              <a:rPr kumimoji="0" lang="en-US" sz="2200" b="0" i="0" u="none" strike="noStrike" kern="0" cap="none" spc="-8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22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NLME)</a:t>
            </a:r>
            <a:endParaRPr kumimoji="0" lang="en-US" sz="1800" b="0" i="0" u="none" strike="sng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CF565-5B99-F8DF-CDFC-30730D80A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5D9163B-A524-20F4-7372-F8067CD7EE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31216" y="492072"/>
            <a:ext cx="9997620" cy="610552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305"/>
              </a:spcBef>
            </a:pPr>
            <a:r>
              <a:rPr sz="360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3600">
                <a:latin typeface="Arial" panose="020B0604020202020204" pitchFamily="34" charset="0"/>
                <a:cs typeface="Arial" panose="020B0604020202020204" pitchFamily="34" charset="0"/>
              </a:rPr>
              <a:t>ompartmental Modeling</a:t>
            </a:r>
            <a:endParaRPr sz="3600" spc="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9215C833-E080-5224-5903-EEAF260792FD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C38B5E4-281F-7B04-16F0-719143BBE1C4}"/>
              </a:ext>
            </a:extLst>
          </p:cNvPr>
          <p:cNvGrpSpPr/>
          <p:nvPr/>
        </p:nvGrpSpPr>
        <p:grpSpPr>
          <a:xfrm>
            <a:off x="3289347" y="2955017"/>
            <a:ext cx="114300" cy="398145"/>
            <a:chOff x="7031063" y="3873246"/>
            <a:chExt cx="114300" cy="39814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B4B34C9-4CEC-EC92-5DAF-625B291B6B7F}"/>
                </a:ext>
              </a:extLst>
            </p:cNvPr>
            <p:cNvSpPr/>
            <p:nvPr/>
          </p:nvSpPr>
          <p:spPr>
            <a:xfrm>
              <a:off x="7088213" y="3873246"/>
              <a:ext cx="0" cy="302895"/>
            </a:xfrm>
            <a:custGeom>
              <a:avLst/>
              <a:gdLst/>
              <a:ahLst/>
              <a:cxnLst/>
              <a:rect l="l" t="t" r="r" b="b"/>
              <a:pathLst>
                <a:path h="302895">
                  <a:moveTo>
                    <a:pt x="0" y="0"/>
                  </a:moveTo>
                  <a:lnTo>
                    <a:pt x="0" y="302856"/>
                  </a:lnTo>
                </a:path>
              </a:pathLst>
            </a:custGeom>
            <a:ln w="38100">
              <a:solidFill>
                <a:srgbClr val="1CADE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CC1A5B4-0D33-771E-FF28-52BC76F2C93E}"/>
                </a:ext>
              </a:extLst>
            </p:cNvPr>
            <p:cNvSpPr/>
            <p:nvPr/>
          </p:nvSpPr>
          <p:spPr>
            <a:xfrm>
              <a:off x="7031063" y="4157053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1CAD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4CEF4094-05F0-ED0D-AC08-3EB19E2A744C}"/>
              </a:ext>
            </a:extLst>
          </p:cNvPr>
          <p:cNvGraphicFramePr>
            <a:graphicFrameLocks noGrp="1"/>
          </p:cNvGraphicFramePr>
          <p:nvPr/>
        </p:nvGraphicFramePr>
        <p:xfrm>
          <a:off x="2683455" y="3369710"/>
          <a:ext cx="1478915" cy="1047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 gridSpan="2">
                  <a:txBody>
                    <a:bodyPr/>
                    <a:lstStyle/>
                    <a:p>
                      <a:pPr marL="97790" marR="92075" indent="381000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400" spc="-1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Central </a:t>
                      </a:r>
                      <a:r>
                        <a:rPr sz="140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Compartment</a:t>
                      </a:r>
                      <a:r>
                        <a:rPr sz="1400" spc="-5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 </a:t>
                      </a:r>
                      <a:r>
                        <a:rPr sz="1400" spc="-2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(Vc)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T="119380" marB="0">
                    <a:lnL w="19050">
                      <a:solidFill>
                        <a:srgbClr val="117EA7"/>
                      </a:solidFill>
                      <a:prstDash val="solid"/>
                    </a:lnL>
                    <a:lnR w="19050">
                      <a:solidFill>
                        <a:srgbClr val="117EA7"/>
                      </a:solidFill>
                      <a:prstDash val="solid"/>
                    </a:lnR>
                    <a:lnT w="19050">
                      <a:solidFill>
                        <a:srgbClr val="117EA7"/>
                      </a:solidFill>
                      <a:prstDash val="solid"/>
                    </a:lnT>
                    <a:lnB w="19050">
                      <a:solidFill>
                        <a:srgbClr val="117EA7"/>
                      </a:solidFill>
                      <a:prstDash val="solid"/>
                    </a:lnB>
                    <a:solidFill>
                      <a:srgbClr val="1CAD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1CADE4"/>
                      </a:solidFill>
                      <a:prstDash val="solid"/>
                    </a:lnR>
                    <a:lnT w="19050">
                      <a:solidFill>
                        <a:srgbClr val="117EA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Tw Cen MT"/>
                          <a:cs typeface="Tw Cen MT"/>
                        </a:rPr>
                        <a:t>CL</a:t>
                      </a:r>
                      <a:endParaRPr sz="1800" dirty="0">
                        <a:latin typeface="Tw Cen MT"/>
                        <a:cs typeface="Tw Cen MT"/>
                      </a:endParaRPr>
                    </a:p>
                  </a:txBody>
                  <a:tcPr marL="0" marR="0" marT="0" marB="0">
                    <a:lnL w="38100">
                      <a:solidFill>
                        <a:srgbClr val="1CADE4"/>
                      </a:solidFill>
                      <a:prstDash val="solid"/>
                    </a:lnL>
                    <a:lnT w="19050">
                      <a:solidFill>
                        <a:srgbClr val="117EA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>
            <a:extLst>
              <a:ext uri="{FF2B5EF4-FFF2-40B4-BE49-F238E27FC236}">
                <a16:creationId xmlns:a16="http://schemas.microsoft.com/office/drawing/2014/main" id="{8A2FBEEC-D852-3634-A1CF-FD592CD93532}"/>
              </a:ext>
            </a:extLst>
          </p:cNvPr>
          <p:cNvSpPr/>
          <p:nvPr/>
        </p:nvSpPr>
        <p:spPr>
          <a:xfrm>
            <a:off x="3320042" y="4406347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0"/>
                </a:moveTo>
                <a:lnTo>
                  <a:pt x="0" y="0"/>
                </a:lnTo>
                <a:lnTo>
                  <a:pt x="57150" y="114300"/>
                </a:lnTo>
                <a:lnTo>
                  <a:pt x="114300" y="0"/>
                </a:lnTo>
                <a:close/>
              </a:path>
            </a:pathLst>
          </a:custGeom>
          <a:solidFill>
            <a:srgbClr val="1CADE4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F817C954-36BA-D435-059D-9D16A74B144E}"/>
              </a:ext>
            </a:extLst>
          </p:cNvPr>
          <p:cNvSpPr txBox="1"/>
          <p:nvPr/>
        </p:nvSpPr>
        <p:spPr>
          <a:xfrm>
            <a:off x="3144147" y="2580608"/>
            <a:ext cx="466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input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cs typeface="Tw Cen MT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D62FA37-BF52-49F5-F2DA-19E3FF322A93}"/>
              </a:ext>
            </a:extLst>
          </p:cNvPr>
          <p:cNvSpPr txBox="1"/>
          <p:nvPr/>
        </p:nvSpPr>
        <p:spPr>
          <a:xfrm>
            <a:off x="6387523" y="3390456"/>
            <a:ext cx="1479550" cy="685800"/>
          </a:xfrm>
          <a:prstGeom prst="rect">
            <a:avLst/>
          </a:prstGeom>
          <a:solidFill>
            <a:srgbClr val="00B050"/>
          </a:solidFill>
          <a:ln w="15875">
            <a:solidFill>
              <a:srgbClr val="117EA7"/>
            </a:solidFill>
          </a:ln>
        </p:spPr>
        <p:txBody>
          <a:bodyPr vert="horz" wrap="square" lIns="0" tIns="119380" rIns="0" bIns="0" rtlCol="0">
            <a:spAutoFit/>
          </a:bodyPr>
          <a:lstStyle/>
          <a:p>
            <a:pPr marL="97790" marR="92075" lvl="0" indent="381000" defTabSz="914400" eaLnBrk="1" fontAlgn="auto" latinLnBrk="0" hangingPunct="1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cs typeface="Tw Cen MT"/>
              </a:rPr>
              <a:t>Central </a:t>
            </a: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cs typeface="Tw Cen MT"/>
              </a:rPr>
              <a:t>Compartment</a:t>
            </a:r>
            <a:r>
              <a:rPr kumimoji="0" sz="1400" b="0" i="0" u="none" strike="noStrike" kern="0" cap="none" spc="-5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cs typeface="Tw Cen MT"/>
              </a:rPr>
              <a:t> </a:t>
            </a:r>
            <a:r>
              <a:rPr kumimoji="0" sz="1400" b="0" i="0" u="none" strike="noStrike" kern="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cs typeface="Tw Cen MT"/>
              </a:rPr>
              <a:t>(Vc)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cs typeface="Tw Cen MT"/>
            </a:endParaRPr>
          </a:p>
        </p:txBody>
      </p: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F2C14807-4BC5-C5EC-11B2-55A8444BC110}"/>
              </a:ext>
            </a:extLst>
          </p:cNvPr>
          <p:cNvGrpSpPr/>
          <p:nvPr/>
        </p:nvGrpSpPr>
        <p:grpSpPr>
          <a:xfrm>
            <a:off x="7043072" y="2914682"/>
            <a:ext cx="114300" cy="398145"/>
            <a:chOff x="9058770" y="3448316"/>
            <a:chExt cx="114300" cy="398145"/>
          </a:xfrm>
        </p:grpSpPr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0A10C32D-9C9F-D6EA-3147-F9A33118D823}"/>
                </a:ext>
              </a:extLst>
            </p:cNvPr>
            <p:cNvSpPr/>
            <p:nvPr/>
          </p:nvSpPr>
          <p:spPr>
            <a:xfrm>
              <a:off x="9115920" y="3448316"/>
              <a:ext cx="0" cy="302895"/>
            </a:xfrm>
            <a:custGeom>
              <a:avLst/>
              <a:gdLst/>
              <a:ahLst/>
              <a:cxnLst/>
              <a:rect l="l" t="t" r="r" b="b"/>
              <a:pathLst>
                <a:path h="302895">
                  <a:moveTo>
                    <a:pt x="0" y="0"/>
                  </a:moveTo>
                  <a:lnTo>
                    <a:pt x="0" y="302856"/>
                  </a:lnTo>
                </a:path>
              </a:pathLst>
            </a:custGeom>
            <a:ln w="3810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7BFB3F5D-A837-DB98-9894-FE4BEE323037}"/>
                </a:ext>
              </a:extLst>
            </p:cNvPr>
            <p:cNvSpPr/>
            <p:nvPr/>
          </p:nvSpPr>
          <p:spPr>
            <a:xfrm>
              <a:off x="9058770" y="3732123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35A02FE7-A65B-EB7E-2EB2-76BF2AD67EB3}"/>
              </a:ext>
            </a:extLst>
          </p:cNvPr>
          <p:cNvSpPr txBox="1"/>
          <p:nvPr/>
        </p:nvSpPr>
        <p:spPr>
          <a:xfrm>
            <a:off x="1533684" y="1730180"/>
            <a:ext cx="986553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Compartment:</a:t>
            </a:r>
            <a:r>
              <a:rPr kumimoji="0" sz="18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0" sz="1800" b="0" i="0" u="none" strike="noStrike" kern="0" cap="none" spc="-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  <a:r>
              <a:rPr kumimoji="0" sz="1800" b="0" i="0" u="none" strike="noStrike" kern="0" cap="none" spc="-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kumimoji="0" sz="1800" b="0" i="0" u="none" strike="noStrike" kern="0" cap="none" spc="5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kumimoji="0" sz="18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r>
              <a:rPr kumimoji="0" sz="1800" b="0" i="0" u="none" strike="noStrike" kern="0" cap="none" spc="-2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kumimoji="0" sz="1800" b="0" i="0" u="none" strike="noStrike" kern="0" cap="none" spc="-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which</a:t>
            </a:r>
            <a:r>
              <a:rPr kumimoji="0" sz="1800" b="0" i="0" u="none" strike="noStrike" kern="0" cap="none" spc="-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kumimoji="0" sz="18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-2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drug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kumimoji="0" sz="1800" b="0" i="0" u="none" strike="noStrike" kern="0" cap="none" spc="-3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well</a:t>
            </a:r>
            <a:r>
              <a:rPr kumimoji="0" sz="18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mixed</a:t>
            </a:r>
            <a:r>
              <a:rPr kumimoji="0" sz="18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kumimoji="0" sz="18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kinetically</a:t>
            </a:r>
            <a:r>
              <a:rPr kumimoji="0" sz="18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homogenous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3D8F0A58-22B9-7DAD-D6AB-28D5A30A8941}"/>
              </a:ext>
            </a:extLst>
          </p:cNvPr>
          <p:cNvSpPr txBox="1"/>
          <p:nvPr/>
        </p:nvSpPr>
        <p:spPr>
          <a:xfrm>
            <a:off x="8297006" y="3390456"/>
            <a:ext cx="1479550" cy="685800"/>
          </a:xfrm>
          <a:prstGeom prst="rect">
            <a:avLst/>
          </a:prstGeom>
          <a:solidFill>
            <a:srgbClr val="00B050"/>
          </a:solidFill>
          <a:ln w="15875">
            <a:solidFill>
              <a:srgbClr val="117EA7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59079" marR="250190" lvl="0" indent="-381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cs typeface="Tw Cen MT"/>
              </a:rPr>
              <a:t>Peripheral Compartment </a:t>
            </a:r>
            <a:r>
              <a:rPr kumimoji="0" sz="1400" b="0" i="0" u="none" strike="noStrike" kern="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cs typeface="Tw Cen MT"/>
              </a:rPr>
              <a:t>(Vp)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cs typeface="Tw Cen MT"/>
            </a:endParaRPr>
          </a:p>
        </p:txBody>
      </p:sp>
      <p:grpSp>
        <p:nvGrpSpPr>
          <p:cNvPr id="19" name="object 19">
            <a:extLst>
              <a:ext uri="{FF2B5EF4-FFF2-40B4-BE49-F238E27FC236}">
                <a16:creationId xmlns:a16="http://schemas.microsoft.com/office/drawing/2014/main" id="{EE0C170F-B605-C54A-4BD1-4AF90F58243F}"/>
              </a:ext>
            </a:extLst>
          </p:cNvPr>
          <p:cNvGrpSpPr/>
          <p:nvPr/>
        </p:nvGrpSpPr>
        <p:grpSpPr>
          <a:xfrm>
            <a:off x="7866692" y="3567494"/>
            <a:ext cx="430530" cy="85725"/>
            <a:chOff x="9882390" y="5082908"/>
            <a:chExt cx="430530" cy="85725"/>
          </a:xfrm>
        </p:grpSpPr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05AC9943-6A68-667A-267A-0BDD8B5FE526}"/>
                </a:ext>
              </a:extLst>
            </p:cNvPr>
            <p:cNvSpPr/>
            <p:nvPr/>
          </p:nvSpPr>
          <p:spPr>
            <a:xfrm>
              <a:off x="9882390" y="5125770"/>
              <a:ext cx="359410" cy="0"/>
            </a:xfrm>
            <a:custGeom>
              <a:avLst/>
              <a:gdLst/>
              <a:ahLst/>
              <a:cxnLst/>
              <a:rect l="l" t="t" r="r" b="b"/>
              <a:pathLst>
                <a:path w="359409">
                  <a:moveTo>
                    <a:pt x="0" y="0"/>
                  </a:moveTo>
                  <a:lnTo>
                    <a:pt x="358863" y="0"/>
                  </a:lnTo>
                </a:path>
              </a:pathLst>
            </a:custGeom>
            <a:ln w="28575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4683CDE6-F624-9C45-50CF-00B5603A50EF}"/>
                </a:ext>
              </a:extLst>
            </p:cNvPr>
            <p:cNvSpPr/>
            <p:nvPr/>
          </p:nvSpPr>
          <p:spPr>
            <a:xfrm>
              <a:off x="10226979" y="508290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4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2" name="object 22">
            <a:extLst>
              <a:ext uri="{FF2B5EF4-FFF2-40B4-BE49-F238E27FC236}">
                <a16:creationId xmlns:a16="http://schemas.microsoft.com/office/drawing/2014/main" id="{F8167CF4-67D4-D708-DDB6-CF193CCF8686}"/>
              </a:ext>
            </a:extLst>
          </p:cNvPr>
          <p:cNvGrpSpPr/>
          <p:nvPr/>
        </p:nvGrpSpPr>
        <p:grpSpPr>
          <a:xfrm>
            <a:off x="7866692" y="3836429"/>
            <a:ext cx="394970" cy="85725"/>
            <a:chOff x="9882390" y="5351843"/>
            <a:chExt cx="394970" cy="85725"/>
          </a:xfrm>
        </p:grpSpPr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7594E9A5-8C5D-7C52-5DF6-15219879415E}"/>
                </a:ext>
              </a:extLst>
            </p:cNvPr>
            <p:cNvSpPr/>
            <p:nvPr/>
          </p:nvSpPr>
          <p:spPr>
            <a:xfrm>
              <a:off x="9953840" y="5394705"/>
              <a:ext cx="323215" cy="0"/>
            </a:xfrm>
            <a:custGeom>
              <a:avLst/>
              <a:gdLst/>
              <a:ahLst/>
              <a:cxnLst/>
              <a:rect l="l" t="t" r="r" b="b"/>
              <a:pathLst>
                <a:path w="323215">
                  <a:moveTo>
                    <a:pt x="323011" y="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9AE85C68-8035-BE7B-A62A-37B9485EAF1D}"/>
                </a:ext>
              </a:extLst>
            </p:cNvPr>
            <p:cNvSpPr/>
            <p:nvPr/>
          </p:nvSpPr>
          <p:spPr>
            <a:xfrm>
              <a:off x="9882390" y="5351843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0"/>
                  </a:moveTo>
                  <a:lnTo>
                    <a:pt x="0" y="42862"/>
                  </a:lnTo>
                  <a:lnTo>
                    <a:pt x="85725" y="85725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5" name="object 25">
            <a:extLst>
              <a:ext uri="{FF2B5EF4-FFF2-40B4-BE49-F238E27FC236}">
                <a16:creationId xmlns:a16="http://schemas.microsoft.com/office/drawing/2014/main" id="{B2EB831C-6F46-3D50-906E-1134A0F43B37}"/>
              </a:ext>
            </a:extLst>
          </p:cNvPr>
          <p:cNvGrpSpPr/>
          <p:nvPr/>
        </p:nvGrpSpPr>
        <p:grpSpPr>
          <a:xfrm>
            <a:off x="7069958" y="4076260"/>
            <a:ext cx="114300" cy="516255"/>
            <a:chOff x="9085656" y="5591674"/>
            <a:chExt cx="114300" cy="516255"/>
          </a:xfrm>
        </p:grpSpPr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84808852-51B9-9814-3D27-511E1C321122}"/>
                </a:ext>
              </a:extLst>
            </p:cNvPr>
            <p:cNvSpPr/>
            <p:nvPr/>
          </p:nvSpPr>
          <p:spPr>
            <a:xfrm>
              <a:off x="9142806" y="5591674"/>
              <a:ext cx="0" cy="421005"/>
            </a:xfrm>
            <a:custGeom>
              <a:avLst/>
              <a:gdLst/>
              <a:ahLst/>
              <a:cxnLst/>
              <a:rect l="l" t="t" r="r" b="b"/>
              <a:pathLst>
                <a:path h="421004">
                  <a:moveTo>
                    <a:pt x="0" y="0"/>
                  </a:moveTo>
                  <a:lnTo>
                    <a:pt x="0" y="420484"/>
                  </a:lnTo>
                </a:path>
              </a:pathLst>
            </a:custGeom>
            <a:ln w="3810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5686232D-F920-DDC5-B0A2-DED72A6FAE73}"/>
                </a:ext>
              </a:extLst>
            </p:cNvPr>
            <p:cNvSpPr/>
            <p:nvPr/>
          </p:nvSpPr>
          <p:spPr>
            <a:xfrm>
              <a:off x="9085656" y="5993107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8" name="object 28">
            <a:extLst>
              <a:ext uri="{FF2B5EF4-FFF2-40B4-BE49-F238E27FC236}">
                <a16:creationId xmlns:a16="http://schemas.microsoft.com/office/drawing/2014/main" id="{5BDB455C-322B-5E8F-F4F3-A4DBAA0BA608}"/>
              </a:ext>
            </a:extLst>
          </p:cNvPr>
          <p:cNvSpPr txBox="1"/>
          <p:nvPr/>
        </p:nvSpPr>
        <p:spPr>
          <a:xfrm>
            <a:off x="7981297" y="3241218"/>
            <a:ext cx="201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Q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cs typeface="Tw Cen MT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2CC7119F-61BA-B925-7F0A-1CA85D1B123A}"/>
              </a:ext>
            </a:extLst>
          </p:cNvPr>
          <p:cNvSpPr txBox="1"/>
          <p:nvPr/>
        </p:nvSpPr>
        <p:spPr>
          <a:xfrm>
            <a:off x="7219145" y="4168420"/>
            <a:ext cx="253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CL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cs typeface="Tw Cen MT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F9A5DFC7-D63F-0BCE-9AE0-24EB1F65475D}"/>
              </a:ext>
            </a:extLst>
          </p:cNvPr>
          <p:cNvSpPr txBox="1"/>
          <p:nvPr/>
        </p:nvSpPr>
        <p:spPr>
          <a:xfrm>
            <a:off x="7214522" y="2889022"/>
            <a:ext cx="273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Ka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cs typeface="Tw Cen MT"/>
            </a:endParaRPr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5490B227-F88B-1D9A-273F-64F7EE6CD0B5}"/>
              </a:ext>
            </a:extLst>
          </p:cNvPr>
          <p:cNvSpPr txBox="1"/>
          <p:nvPr/>
        </p:nvSpPr>
        <p:spPr>
          <a:xfrm>
            <a:off x="2570209" y="4775202"/>
            <a:ext cx="17811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One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-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compartment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model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cs typeface="Tw Cen MT"/>
            </a:endParaRPr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9B8B88AC-1AEA-1314-7305-6A06F88269A9}"/>
              </a:ext>
            </a:extLst>
          </p:cNvPr>
          <p:cNvSpPr txBox="1"/>
          <p:nvPr/>
        </p:nvSpPr>
        <p:spPr>
          <a:xfrm>
            <a:off x="7003891" y="4732032"/>
            <a:ext cx="175069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Two</a:t>
            </a:r>
            <a:r>
              <a:rPr lang="en-US" sz="1400" kern="0" spc="-25" dirty="0">
                <a:solidFill>
                  <a:sysClr val="windowText" lastClr="000000"/>
                </a:solidFill>
                <a:latin typeface="Tw Cen MT"/>
                <a:cs typeface="Tw Cen MT"/>
              </a:rPr>
              <a:t>-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compartment</a:t>
            </a:r>
            <a:r>
              <a:rPr kumimoji="0" sz="1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model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cs typeface="Tw Cen MT"/>
            </a:endParaRPr>
          </a:p>
        </p:txBody>
      </p:sp>
      <p:sp>
        <p:nvSpPr>
          <p:cNvPr id="38" name="object 8">
            <a:extLst>
              <a:ext uri="{FF2B5EF4-FFF2-40B4-BE49-F238E27FC236}">
                <a16:creationId xmlns:a16="http://schemas.microsoft.com/office/drawing/2014/main" id="{BF05C270-4AD8-794D-C9F6-784D0500FCA1}"/>
              </a:ext>
            </a:extLst>
          </p:cNvPr>
          <p:cNvSpPr txBox="1"/>
          <p:nvPr/>
        </p:nvSpPr>
        <p:spPr>
          <a:xfrm>
            <a:off x="6836913" y="2542713"/>
            <a:ext cx="466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input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cs typeface="Tw Cen MT"/>
            </a:endParaRPr>
          </a:p>
        </p:txBody>
      </p:sp>
      <p:sp>
        <p:nvSpPr>
          <p:cNvPr id="31" name="object 30">
            <a:extLst>
              <a:ext uri="{FF2B5EF4-FFF2-40B4-BE49-F238E27FC236}">
                <a16:creationId xmlns:a16="http://schemas.microsoft.com/office/drawing/2014/main" id="{50F88754-DF04-E596-9D2B-5D176B6A7F2B}"/>
              </a:ext>
            </a:extLst>
          </p:cNvPr>
          <p:cNvSpPr txBox="1"/>
          <p:nvPr/>
        </p:nvSpPr>
        <p:spPr>
          <a:xfrm>
            <a:off x="3460797" y="2930347"/>
            <a:ext cx="273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cs typeface="Tw Cen MT"/>
              </a:rPr>
              <a:t>Ka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cs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458269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8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3600">
                <a:latin typeface="Arial" panose="020B0604020202020204" pitchFamily="34" charset="0"/>
                <a:cs typeface="Arial" panose="020B0604020202020204" pitchFamily="34" charset="0"/>
              </a:rPr>
              <a:t>ovariate Modeling</a:t>
            </a:r>
            <a:endParaRPr sz="3600" spc="65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FEB871-FCDC-0ED0-392E-471D747EE260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1526369" y="1863068"/>
            <a:ext cx="10115550" cy="312265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04139" marR="746125" lvl="0" indent="-93345" algn="l" defTabSz="914400" rtl="0" eaLnBrk="1" fontAlgn="auto" latinLnBrk="0" hangingPunct="1">
              <a:lnSpc>
                <a:spcPts val="2380"/>
              </a:lnSpc>
              <a:spcBef>
                <a:spcPts val="390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104139" algn="l"/>
                <a:tab pos="261620" algn="l"/>
              </a:tabLst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	Identify</a:t>
            </a:r>
            <a:r>
              <a:rPr kumimoji="0" sz="2200" b="0" i="0" u="none" strike="noStrike" kern="0" cap="none" spc="-8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candidate</a:t>
            </a:r>
            <a:r>
              <a:rPr kumimoji="0" sz="2200" b="0" i="0" u="none" strike="noStrike" kern="0" cap="none" spc="-7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covariates,</a:t>
            </a:r>
            <a:r>
              <a:rPr kumimoji="0" sz="2200" b="0" i="0" u="none" strike="noStrike" kern="0" cap="none" spc="-6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biological</a:t>
            </a:r>
            <a:r>
              <a:rPr kumimoji="0" sz="2200" b="0" i="0" u="none" strike="noStrike" kern="0" cap="none" spc="-6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relevance</a:t>
            </a:r>
            <a:r>
              <a:rPr kumimoji="0" sz="2200" b="0" i="0" u="none" strike="noStrike" kern="0" cap="none" spc="-7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(e.g.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0" sz="2200" b="0" i="0" u="none" strike="noStrike" kern="0" cap="none" spc="-8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height</a:t>
            </a:r>
            <a:r>
              <a:rPr kumimoji="0" sz="2200" b="0" i="0" u="none" strike="noStrike" kern="0" cap="none" spc="-8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vs.</a:t>
            </a:r>
            <a:r>
              <a:rPr kumimoji="0" sz="2200" b="0" i="0" u="none" strike="noStrike" kern="0" cap="none" spc="-8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shoe</a:t>
            </a:r>
            <a:r>
              <a:rPr kumimoji="0" sz="2200" b="0" i="0" u="none" strike="noStrike" kern="0" cap="none" spc="-8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size,</a:t>
            </a:r>
            <a:r>
              <a:rPr kumimoji="0" sz="2200" b="0" i="0" u="none" strike="noStrike" kern="0" cap="none" spc="-8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-2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weight,</a:t>
            </a:r>
            <a:r>
              <a:rPr kumimoji="0" sz="22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BMI</a:t>
            </a:r>
            <a:r>
              <a:rPr kumimoji="0" sz="22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kumimoji="0" sz="22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lean</a:t>
            </a:r>
            <a:r>
              <a:rPr kumimoji="0" sz="2200" b="0" i="0" u="none" strike="noStrike" kern="0" cap="none" spc="-6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r>
              <a:rPr kumimoji="0" sz="2200" b="0" i="0" u="none" strike="noStrike" kern="0" cap="none" spc="-6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weight)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4139" marR="104139" lvl="0" indent="-93345" algn="l" defTabSz="914400" rtl="0" eaLnBrk="1" fontAlgn="auto" latinLnBrk="0" hangingPunct="1">
              <a:lnSpc>
                <a:spcPts val="2380"/>
              </a:lnSpc>
              <a:spcBef>
                <a:spcPts val="1395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104139" algn="l"/>
                <a:tab pos="261620" algn="l"/>
              </a:tabLst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	Evaluate</a:t>
            </a:r>
            <a:r>
              <a:rPr kumimoji="0" sz="2200" b="0" i="0" u="none" strike="noStrike" kern="0" cap="none" spc="-7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  <a:r>
              <a:rPr kumimoji="0" sz="2200" b="0" i="0" u="none" strike="noStrike" kern="0" cap="none" spc="-7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kumimoji="0" sz="22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covariates</a:t>
            </a:r>
            <a:r>
              <a:rPr kumimoji="0" sz="2200" b="0" i="0" u="none" strike="noStrike" kern="0" cap="none" spc="-7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kumimoji="0" sz="2200" b="0" i="0" u="none" strike="noStrike" kern="0" cap="none" spc="-8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  <a:r>
              <a:rPr kumimoji="0" sz="2200" b="0" i="0" u="none" strike="noStrike" kern="0" cap="none" spc="-7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kumimoji="0" sz="2200" b="0" i="0" u="none" strike="noStrike" kern="0" cap="none" spc="-9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covariates</a:t>
            </a:r>
            <a:r>
              <a:rPr kumimoji="0" sz="2200" b="0" i="0" u="none" strike="noStrike" kern="0" cap="none" spc="-7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(to</a:t>
            </a:r>
            <a:r>
              <a:rPr kumimoji="0" sz="2200" b="0" i="0" u="none" strike="noStrike" kern="0" cap="none" spc="-8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avoid</a:t>
            </a:r>
            <a:r>
              <a:rPr kumimoji="0" sz="2200" b="0" i="0" u="none" strike="noStrike" kern="0" cap="none" spc="-8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collinearity),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  <a:r>
              <a:rPr kumimoji="0" sz="22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-2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4139" marR="5080" lvl="0" indent="-93345" algn="l" defTabSz="914400" rtl="0" eaLnBrk="1" fontAlgn="auto" latinLnBrk="0" hangingPunct="1">
              <a:lnSpc>
                <a:spcPts val="2380"/>
              </a:lnSpc>
              <a:spcBef>
                <a:spcPts val="1385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104139" algn="l"/>
                <a:tab pos="261620" algn="l"/>
              </a:tabLst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	Screening:</a:t>
            </a:r>
            <a:r>
              <a:rPr kumimoji="0" sz="22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plot</a:t>
            </a:r>
            <a:r>
              <a:rPr kumimoji="0" sz="22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Empirical</a:t>
            </a:r>
            <a:r>
              <a:rPr kumimoji="0" sz="22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Bayesian</a:t>
            </a:r>
            <a:r>
              <a:rPr kumimoji="0" sz="22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Estimate</a:t>
            </a:r>
            <a:r>
              <a:rPr kumimoji="0" sz="22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kumimoji="0" sz="2200" b="0" i="0" u="none" strike="noStrike" kern="0" cap="none" spc="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kumimoji="0" sz="22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parameter</a:t>
            </a:r>
            <a:r>
              <a:rPr kumimoji="0" sz="22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kumimoji="0" sz="22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random</a:t>
            </a:r>
            <a:r>
              <a:rPr kumimoji="0" sz="22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effect</a:t>
            </a:r>
            <a:r>
              <a:rPr kumimoji="0" sz="22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2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against covariates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6860" marR="0" lvl="0" indent="-136525" algn="l" defTabSz="914400" rtl="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>
                <a:srgbClr val="1CADE4"/>
              </a:buClr>
              <a:buSzTx/>
              <a:buFont typeface="Arial"/>
              <a:buChar char="•"/>
              <a:tabLst>
                <a:tab pos="276860" algn="l"/>
              </a:tabLst>
              <a:defRPr/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kumimoji="0" sz="18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covariates</a:t>
            </a:r>
            <a:r>
              <a:rPr kumimoji="0" sz="18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kumimoji="0" sz="1800" b="0" i="0" u="none" strike="noStrike" kern="0" cap="none" spc="-3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kumimoji="0" sz="1800" b="0" i="0" u="none" strike="noStrike" kern="0" cap="none" spc="-3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formally</a:t>
            </a:r>
            <a:r>
              <a:rPr kumimoji="0" sz="1800" b="0" i="0" u="none" strike="noStrike" kern="0" cap="none" spc="-1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tested</a:t>
            </a:r>
            <a:r>
              <a:rPr kumimoji="0" sz="18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kumimoji="0" sz="1800" b="0" i="0" u="none" strike="noStrike" kern="0" cap="none" spc="-1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kumimoji="0" sz="1800" b="0" i="0" u="none" strike="noStrike" kern="0" cap="none" spc="-3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7495" marR="676275" lvl="0" indent="-137160" algn="l" defTabSz="914400" rtl="0" eaLnBrk="1" fontAlgn="auto" latinLnBrk="0" hangingPunct="1">
              <a:lnSpc>
                <a:spcPts val="1939"/>
              </a:lnSpc>
              <a:spcBef>
                <a:spcPts val="630"/>
              </a:spcBef>
              <a:spcAft>
                <a:spcPts val="0"/>
              </a:spcAft>
              <a:buClr>
                <a:srgbClr val="1CADE4"/>
              </a:buClr>
              <a:buSzTx/>
              <a:buFont typeface="Arial"/>
              <a:buChar char="•"/>
              <a:tabLst>
                <a:tab pos="277495" algn="l"/>
              </a:tabLst>
              <a:defRPr/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kumimoji="0" sz="18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proper</a:t>
            </a:r>
            <a:r>
              <a:rPr kumimoji="0" sz="18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candidate</a:t>
            </a:r>
            <a:r>
              <a:rPr kumimoji="0" sz="18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parameter-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covariate</a:t>
            </a:r>
            <a:r>
              <a:rPr kumimoji="0" sz="18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r>
              <a:rPr kumimoji="0" sz="18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(some</a:t>
            </a:r>
            <a:r>
              <a:rPr kumimoji="0" sz="1800" b="0" i="0" u="none" strike="noStrike" kern="0" cap="none" spc="-3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should</a:t>
            </a:r>
            <a:r>
              <a:rPr kumimoji="0" sz="18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kumimoji="0" sz="1800" b="0" i="0" u="none" strike="noStrike" kern="0" cap="none" spc="-4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based</a:t>
            </a:r>
            <a:r>
              <a:rPr kumimoji="0" sz="18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kumimoji="0" sz="18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knowledge</a:t>
            </a:r>
            <a:r>
              <a:rPr kumimoji="0" sz="18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kumimoji="0" sz="1800" b="0" i="0" u="none" strike="noStrike" kern="0" cap="none" spc="-2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biology,</a:t>
            </a:r>
            <a:r>
              <a:rPr kumimoji="0" sz="1800" b="0" i="0" u="none" strike="noStrike" kern="0" cap="none" spc="-3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physiology</a:t>
            </a:r>
            <a:r>
              <a:rPr kumimoji="0" lang="en-US" sz="18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0" sz="18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kumimoji="0" sz="18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allometric</a:t>
            </a:r>
            <a:r>
              <a:rPr kumimoji="0" sz="18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8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principles)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1216" y="359728"/>
            <a:ext cx="9997620" cy="875240"/>
          </a:xfrm>
          <a:prstGeom prst="rect">
            <a:avLst/>
          </a:prstGeom>
        </p:spPr>
        <p:txBody>
          <a:bodyPr vert="horz" wrap="square" lIns="0" tIns="318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6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3600" spc="60">
                <a:latin typeface="Arial" panose="020B0604020202020204" pitchFamily="34" charset="0"/>
                <a:cs typeface="Arial" panose="020B0604020202020204" pitchFamily="34" charset="0"/>
              </a:rPr>
              <a:t>imulation Based on a </a:t>
            </a:r>
            <a:r>
              <a:rPr lang="en-US" sz="3600" spc="60" err="1">
                <a:latin typeface="Arial" panose="020B0604020202020204" pitchFamily="34" charset="0"/>
                <a:cs typeface="Arial" panose="020B0604020202020204" pitchFamily="34" charset="0"/>
              </a:rPr>
              <a:t>PopPK</a:t>
            </a:r>
            <a:r>
              <a:rPr lang="en-US" sz="3600" spc="60">
                <a:latin typeface="Arial" panose="020B0604020202020204" pitchFamily="34" charset="0"/>
                <a:cs typeface="Arial" panose="020B0604020202020204" pitchFamily="34" charset="0"/>
              </a:rPr>
              <a:t> Model</a:t>
            </a:r>
            <a:endParaRPr sz="3600" spc="7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23134" y="1681054"/>
            <a:ext cx="5048250" cy="413959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39395" marR="0" lvl="0" indent="-227329" algn="l" defTabSz="914400" rtl="0" eaLnBrk="1" fontAlgn="auto" latinLnBrk="0" hangingPunct="1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rgbClr val="1CADE4"/>
              </a:buClr>
              <a:buSzPct val="95000"/>
              <a:buFont typeface="Wingdings"/>
              <a:buChar char=""/>
              <a:tabLst>
                <a:tab pos="23939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Question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kumimoji="0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addressed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39395" marR="0" lvl="0" indent="-227329" algn="l" defTabSz="914400" rtl="0" eaLnBrk="1" fontAlgn="auto" latinLnBrk="0" hangingPunct="1">
              <a:lnSpc>
                <a:spcPts val="2290"/>
              </a:lnSpc>
              <a:spcBef>
                <a:spcPts val="685"/>
              </a:spcBef>
              <a:spcAft>
                <a:spcPts val="0"/>
              </a:spcAft>
              <a:buClr>
                <a:srgbClr val="1CADE4"/>
              </a:buClr>
              <a:buSzPct val="95000"/>
              <a:buFont typeface="Wingdings"/>
              <a:buChar char=""/>
              <a:tabLst>
                <a:tab pos="23939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Type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kumimoji="0" sz="2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simulations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0335" marR="0" lvl="0" indent="0" algn="l" defTabSz="914400" rtl="0" eaLnBrk="1" fontAlgn="auto" latinLnBrk="0" hangingPunct="1">
              <a:lnSpc>
                <a:spcPts val="19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</a:t>
            </a:r>
            <a:r>
              <a:rPr kumimoji="0" sz="1700" b="0" i="0" u="none" strike="noStrike" kern="0" cap="none" spc="105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Typical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profile</a:t>
            </a:r>
            <a:endParaRPr kumimoji="0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0335" marR="0" lvl="0" indent="0" algn="l" defTabSz="914400" rtl="0" eaLnBrk="1" fontAlgn="auto" latinLnBrk="0" hangingPunct="1">
              <a:lnSpc>
                <a:spcPts val="20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</a:t>
            </a:r>
            <a:r>
              <a:rPr kumimoji="0" sz="1700" b="0" i="0" u="none" strike="noStrike" kern="0" cap="none" spc="110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kumimoji="0" sz="17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exposure</a:t>
            </a:r>
            <a:r>
              <a: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kumimoji="0" sz="17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across</a:t>
            </a:r>
            <a:r>
              <a:rPr kumimoji="0" sz="17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population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(random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effect)</a:t>
            </a:r>
            <a:endParaRPr kumimoji="0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39395" marR="0" lvl="0" indent="-227329" algn="l" defTabSz="914400" rtl="0" eaLnBrk="1" fontAlgn="auto" latinLnBrk="0" hangingPunct="1">
              <a:lnSpc>
                <a:spcPts val="2300"/>
              </a:lnSpc>
              <a:spcBef>
                <a:spcPts val="875"/>
              </a:spcBef>
              <a:spcAft>
                <a:spcPts val="0"/>
              </a:spcAft>
              <a:buClr>
                <a:srgbClr val="1CADE4"/>
              </a:buClr>
              <a:buSzPct val="95000"/>
              <a:buFont typeface="Wingdings"/>
              <a:buChar char=""/>
              <a:tabLst>
                <a:tab pos="23939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Simulation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0335" marR="0" lvl="0" indent="0" algn="l" defTabSz="914400" rtl="0" eaLnBrk="1" fontAlgn="auto" latinLnBrk="0" hangingPunct="1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</a:t>
            </a:r>
            <a:r>
              <a:rPr kumimoji="0" sz="1700" b="0" i="0" u="none" strike="noStrike" kern="0" cap="none" spc="155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Dos</a:t>
            </a:r>
            <a:r>
              <a: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ing</a:t>
            </a:r>
            <a:r>
              <a:rPr kumimoji="0" sz="1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regimen</a:t>
            </a:r>
            <a:endParaRPr kumimoji="0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0335" marR="0" lvl="0" indent="0" algn="l" defTabSz="914400" rtl="0" eaLnBrk="1" fontAlgn="auto" latinLnBrk="0" hangingPunct="1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</a:t>
            </a:r>
            <a:r>
              <a:rPr kumimoji="0" sz="1700" b="0" i="0" u="none" strike="noStrike" kern="0" cap="none" spc="125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Sampling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points</a:t>
            </a:r>
            <a:endParaRPr kumimoji="0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0335" marR="0" lvl="0" indent="0" algn="l" defTabSz="914400" rtl="0" eaLnBrk="1" fontAlgn="auto" latinLnBrk="0" hangingPunct="1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</a:t>
            </a:r>
            <a:r>
              <a:rPr kumimoji="0" sz="1700" b="0" i="0" u="none" strike="noStrike" kern="0" cap="none" spc="145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kumimoji="0" sz="17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subjects</a:t>
            </a:r>
            <a:endParaRPr kumimoji="0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0335" marR="0" lvl="0" indent="0" algn="l" defTabSz="914400" rtl="0" eaLnBrk="1" fontAlgn="auto" latinLnBrk="0" hangingPunct="1">
              <a:lnSpc>
                <a:spcPts val="20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</a:t>
            </a:r>
            <a:r>
              <a:rPr kumimoji="0" sz="1700" b="0" i="0" u="none" strike="noStrike" kern="0" cap="none" spc="95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Realistic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distribution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covariates</a:t>
            </a:r>
            <a:endParaRPr kumimoji="0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39395" marR="0" lvl="0" indent="-227329" algn="l" defTabSz="914400" rtl="0" eaLnBrk="1" fontAlgn="auto" latinLnBrk="0" hangingPunct="1">
              <a:lnSpc>
                <a:spcPts val="2300"/>
              </a:lnSpc>
              <a:spcBef>
                <a:spcPts val="880"/>
              </a:spcBef>
              <a:spcAft>
                <a:spcPts val="0"/>
              </a:spcAft>
              <a:buClr>
                <a:srgbClr val="1CADE4"/>
              </a:buClr>
              <a:buSzPct val="95000"/>
              <a:buFont typeface="Wingdings"/>
              <a:buChar char=""/>
              <a:tabLst>
                <a:tab pos="23939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Choice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kumimoji="0" sz="20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parameters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0335" marR="0" lvl="0" indent="0" algn="l" defTabSz="914400" rtl="0" eaLnBrk="1" fontAlgn="auto" latinLnBrk="0" hangingPunct="1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</a:t>
            </a:r>
            <a:r>
              <a:rPr kumimoji="0" sz="1700" b="0" i="0" u="none" strike="noStrike" kern="0" cap="none" spc="130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Final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estimate</a:t>
            </a:r>
            <a:endParaRPr kumimoji="0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0335" marR="0" lvl="0" indent="0" algn="l" defTabSz="914400" rtl="0" eaLnBrk="1" fontAlgn="auto" latinLnBrk="0" hangingPunct="1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</a:t>
            </a:r>
            <a:r>
              <a:rPr kumimoji="0" sz="1700" b="0" i="0" u="none" strike="noStrike" kern="0" cap="none" spc="125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Uncertainty</a:t>
            </a:r>
            <a:r>
              <a:rPr kumimoji="0" sz="1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parameter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estimates</a:t>
            </a:r>
            <a:endParaRPr kumimoji="0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0335" marR="0" lvl="0" indent="0" algn="l" defTabSz="914400" rtl="0" eaLnBrk="1" fontAlgn="auto" latinLnBrk="0" hangingPunct="1">
              <a:lnSpc>
                <a:spcPts val="20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</a:t>
            </a:r>
            <a:r>
              <a:rPr kumimoji="0" sz="1700" b="0" i="0" u="none" strike="noStrike" kern="0" cap="none" spc="110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  <a:r>
              <a:rPr kumimoji="0" sz="1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kumimoji="0" sz="17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parameters</a:t>
            </a:r>
            <a:endParaRPr kumimoji="0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CE8174-F3C3-200B-C037-3F2AA5EF0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723" y="1268983"/>
            <a:ext cx="4329985" cy="2363132"/>
          </a:xfrm>
          <a:prstGeom prst="rect">
            <a:avLst/>
          </a:prstGeom>
        </p:spPr>
      </p:pic>
      <p:pic>
        <p:nvPicPr>
          <p:cNvPr id="5" name="Picture 4" descr="A graph of a graph showing the amount of time and time&#10;&#10;AI-generated content may be incorrect.">
            <a:extLst>
              <a:ext uri="{FF2B5EF4-FFF2-40B4-BE49-F238E27FC236}">
                <a16:creationId xmlns:a16="http://schemas.microsoft.com/office/drawing/2014/main" id="{E63998E2-6C2B-87DA-BBF9-26DDFFF55F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8007" y="3664962"/>
            <a:ext cx="3971542" cy="2382925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14CE58EE-89A5-46B0-23D1-B0C4DE307ED7}"/>
              </a:ext>
            </a:extLst>
          </p:cNvPr>
          <p:cNvSpPr txBox="1">
            <a:spLocks/>
          </p:cNvSpPr>
          <p:nvPr/>
        </p:nvSpPr>
        <p:spPr>
          <a:xfrm>
            <a:off x="6652305" y="5785548"/>
            <a:ext cx="4076476" cy="86468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500" b="0" i="0" kern="1200" cap="none" spc="0" baseline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Verdana" charset="0"/>
              </a:defRPr>
            </a:lvl1pPr>
          </a:lstStyle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PRAX-XXX 60mg and 100mg Population PK Model Predicted Steady State Concentration: </a:t>
            </a:r>
            <a:b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Shaded areas representing 5%, 27.5%, 50%, 72.5% and 95%ile of 1000 simulated patients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22D3B-664F-EE7D-45D4-0EF9DD449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E1A1BA4-86A2-5CF7-547B-404C19A88F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813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600">
                <a:solidFill>
                  <a:schemeClr val="tx1"/>
                </a:solidFill>
                <a:latin typeface="Arial"/>
                <a:cs typeface="Arial"/>
              </a:rPr>
              <a:t>Useful Outputs</a:t>
            </a:r>
            <a:endParaRPr lang="en-US" sz="3600" spc="65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0BCF72-8420-3B93-312A-B1FDF5A4CEA0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BC4557E-2833-4913-5385-84DEEF83A715}"/>
              </a:ext>
            </a:extLst>
          </p:cNvPr>
          <p:cNvSpPr txBox="1"/>
          <p:nvPr/>
        </p:nvSpPr>
        <p:spPr>
          <a:xfrm>
            <a:off x="1526364" y="1863068"/>
            <a:ext cx="10115550" cy="2255746"/>
          </a:xfrm>
          <a:prstGeom prst="rect">
            <a:avLst/>
          </a:prstGeom>
        </p:spPr>
        <p:txBody>
          <a:bodyPr vert="horz" wrap="square" lIns="0" tIns="49530" rIns="0" bIns="0" rtlCol="0" anchor="t">
            <a:spAutoFit/>
          </a:bodyPr>
          <a:lstStyle/>
          <a:p>
            <a:pPr marL="103505" marR="746125" lvl="0" indent="-93345" algn="l" defTabSz="914400" rtl="0" eaLnBrk="1" fontAlgn="auto" latinLnBrk="0" hangingPunct="1">
              <a:lnSpc>
                <a:spcPts val="2380"/>
              </a:lnSpc>
              <a:spcBef>
                <a:spcPts val="390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104139" algn="l"/>
                <a:tab pos="261620" algn="l"/>
              </a:tabLst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	A model that describes the PK we have seen in studies, with parameter estimates that can used in labeling and to explain observed data. </a:t>
            </a:r>
            <a:endParaRPr lang="en-US" sz="2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  <a:p>
            <a:pPr marL="103505" marR="103505" lvl="0" indent="-93345" algn="l" defTabSz="914400" rtl="0" eaLnBrk="1" fontAlgn="auto" latinLnBrk="0" hangingPunct="1">
              <a:lnSpc>
                <a:spcPts val="2380"/>
              </a:lnSpc>
              <a:spcBef>
                <a:spcPts val="1395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104139" algn="l"/>
                <a:tab pos="261620" algn="l"/>
              </a:tabLst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	The model can be used to simulate scenarios that have not been tested clinically (e.g., different dosing regimens). </a:t>
            </a:r>
            <a:endParaRPr lang="en-US" sz="2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  <a:p>
            <a:pPr marL="103505" marR="5080" lvl="0" indent="-93345" algn="l" defTabSz="914400" rtl="0" eaLnBrk="1" fontAlgn="auto" latinLnBrk="0" hangingPunct="1">
              <a:lnSpc>
                <a:spcPts val="2380"/>
              </a:lnSpc>
              <a:spcBef>
                <a:spcPts val="1385"/>
              </a:spcBef>
              <a:spcAft>
                <a:spcPts val="0"/>
              </a:spcAft>
              <a:buClr>
                <a:srgbClr val="1CADE4"/>
              </a:buClr>
              <a:buSzPct val="95454"/>
              <a:buFont typeface="Wingdings"/>
              <a:buChar char=""/>
              <a:tabLst>
                <a:tab pos="104139" algn="l"/>
                <a:tab pos="261620" algn="l"/>
              </a:tabLst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cs typeface="Arial"/>
              </a:rPr>
              <a:t>Predicted exposures can be used in exposure-response analyses for efficacy and safety, to support dose selection.  </a:t>
            </a:r>
            <a:endParaRPr lang="en-US" sz="2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9199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2936C-0CF6-B2DC-DCE0-D096B8097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F56C8D-A951-7F86-2399-E39583432015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7040880" y="3997465"/>
            <a:ext cx="4927600" cy="1843976"/>
          </a:xfrm>
        </p:spPr>
        <p:txBody>
          <a:bodyPr/>
          <a:lstStyle/>
          <a:p>
            <a:r>
              <a:rPr lang="en-US" dirty="0"/>
              <a:t>Case Study</a:t>
            </a:r>
          </a:p>
        </p:txBody>
      </p:sp>
    </p:spTree>
    <p:extLst>
      <p:ext uri="{BB962C8B-B14F-4D97-AF65-F5344CB8AC3E}">
        <p14:creationId xmlns:p14="http://schemas.microsoft.com/office/powerpoint/2010/main" val="3837245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0095DFA-AD47-EA99-AC78-066121F9770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531216" y="4664097"/>
            <a:ext cx="10237702" cy="2197341"/>
          </a:xfrm>
        </p:spPr>
        <p:txBody>
          <a:bodyPr lIns="91440" tIns="45720" rIns="91440" bIns="45720" numCol="1" anchor="t" anchorCtr="0">
            <a:normAutofit fontScale="70000" lnSpcReduction="20000"/>
          </a:bodyPr>
          <a:lstStyle/>
          <a:p>
            <a:r>
              <a:rPr lang="en-US" sz="1400" b="1" dirty="0">
                <a:latin typeface="Roboto Light"/>
                <a:ea typeface="Roboto Light"/>
                <a:cs typeface="Arial"/>
              </a:rPr>
              <a:t>PRAX-XXX-105 Part A</a:t>
            </a:r>
            <a:r>
              <a:rPr lang="en-US" sz="1400" dirty="0">
                <a:latin typeface="Roboto Light"/>
                <a:ea typeface="Roboto Light"/>
                <a:cs typeface="Arial"/>
              </a:rPr>
              <a:t> : 8 healthy adult subjects The dataset contains rich plasma PK sampling for PRAX-XXX &amp; its major metabolite M12 following a single oral dose of 90 mg on Day 1 and during the extended sampling period thereafter.</a:t>
            </a:r>
          </a:p>
          <a:p>
            <a:endParaRPr lang="en-US" sz="1400" dirty="0">
              <a:latin typeface="Roboto Light"/>
              <a:ea typeface="Roboto Light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Roboto Light"/>
                <a:ea typeface="Roboto Light"/>
                <a:cs typeface="Arial"/>
              </a:rPr>
              <a:t>PRAX-XXX</a:t>
            </a:r>
            <a:r>
              <a:rPr lang="en-US" sz="1400" dirty="0">
                <a:latin typeface="Roboto Light"/>
                <a:ea typeface="Roboto Light"/>
                <a:cs typeface="Arial"/>
              </a:rPr>
              <a:t>: 234 samples, from 0.5 to 1056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Roboto Light"/>
                <a:ea typeface="Roboto Light"/>
                <a:cs typeface="Arial"/>
              </a:rPr>
              <a:t>M12</a:t>
            </a:r>
            <a:r>
              <a:rPr lang="en-US" sz="1400" dirty="0">
                <a:latin typeface="Roboto Light"/>
                <a:ea typeface="Roboto Light"/>
                <a:cs typeface="Arial"/>
              </a:rPr>
              <a:t>: 78 samples, from 1 to 120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Roboto Light"/>
              <a:ea typeface="Roboto Light"/>
              <a:cs typeface="Arial"/>
            </a:endParaRPr>
          </a:p>
          <a:p>
            <a:r>
              <a:rPr lang="en-US" sz="1400" b="1" dirty="0">
                <a:latin typeface="Roboto Light"/>
                <a:ea typeface="Roboto Light"/>
                <a:cs typeface="Arial"/>
              </a:rPr>
              <a:t>Objective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sz="1400" dirty="0">
                <a:latin typeface="Roboto Light"/>
                <a:ea typeface="Roboto Light"/>
                <a:cs typeface="Arial"/>
              </a:rPr>
              <a:t>Evaluate pediatric M12 exposure at steady state (Day 14 and Day 28) using </a:t>
            </a:r>
            <a:r>
              <a:rPr lang="en-US" sz="1400" dirty="0" err="1">
                <a:latin typeface="Roboto Light"/>
                <a:ea typeface="Roboto Light"/>
                <a:cs typeface="Arial"/>
              </a:rPr>
              <a:t>PopPK</a:t>
            </a:r>
            <a:r>
              <a:rPr lang="en-US" sz="1400" dirty="0">
                <a:latin typeface="Roboto Light"/>
                <a:ea typeface="Roboto Light"/>
                <a:cs typeface="Arial"/>
              </a:rPr>
              <a:t> modeling and compare simulated vs. observed Ph1 Week-4 (Day 28) PK data for NDA and toxicology coverage: develop adult parent-metabolite </a:t>
            </a:r>
            <a:r>
              <a:rPr lang="en-US" sz="1400" dirty="0" err="1">
                <a:latin typeface="Roboto Light"/>
                <a:ea typeface="Roboto Light"/>
                <a:cs typeface="Arial"/>
              </a:rPr>
              <a:t>PopPK</a:t>
            </a:r>
            <a:r>
              <a:rPr lang="en-US" sz="1400" dirty="0">
                <a:latin typeface="Roboto Light"/>
                <a:ea typeface="Roboto Light"/>
                <a:cs typeface="Arial"/>
              </a:rPr>
              <a:t> model and apply allometric scaling to pediatrics</a:t>
            </a:r>
          </a:p>
          <a:p>
            <a:endParaRPr lang="en-US" sz="1400" dirty="0">
              <a:latin typeface="Roboto Light"/>
              <a:cs typeface="Arial" panose="020B0604020202020204" pitchFamily="34" charset="0"/>
            </a:endParaRPr>
          </a:p>
          <a:p>
            <a:r>
              <a:rPr lang="en-US" sz="1400" dirty="0">
                <a:latin typeface="Roboto Light"/>
                <a:ea typeface="Roboto Light"/>
                <a:cs typeface="Arial"/>
              </a:rPr>
              <a:t>Observed PK profiles show rapid absorption to the peak concentration and two exponential declines for disposition, implying a 2-compartment model for disposition for both PRAX-XXX and M12.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Roboto Light"/>
              <a:cs typeface="Arial" panose="020B0604020202020204" pitchFamily="34" charset="0"/>
            </a:endParaRPr>
          </a:p>
          <a:p>
            <a:r>
              <a:rPr lang="en-US" sz="1400" dirty="0">
                <a:latin typeface="Roboto Light"/>
                <a:ea typeface="Roboto Light"/>
                <a:cs typeface="Arial"/>
              </a:rPr>
              <a:t>PopPK Modeling &amp; Simulation were performed using </a:t>
            </a:r>
            <a:r>
              <a:rPr lang="en-US" sz="1400" dirty="0" err="1">
                <a:latin typeface="Roboto Light"/>
                <a:ea typeface="Roboto Light"/>
                <a:cs typeface="Arial"/>
              </a:rPr>
              <a:t>MonolixSuite</a:t>
            </a:r>
            <a:r>
              <a:rPr lang="en-US" sz="1400" dirty="0">
                <a:latin typeface="Roboto Light"/>
                <a:ea typeface="Roboto Light"/>
                <a:cs typeface="Arial"/>
              </a:rPr>
              <a:t> 2024 and 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CE4131-16CD-5C4A-39BE-C8B762D79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Exploratory Data Analysis</a:t>
            </a:r>
          </a:p>
        </p:txBody>
      </p:sp>
      <p:pic>
        <p:nvPicPr>
          <p:cNvPr id="5" name="Graphic 100001">
            <a:extLst>
              <a:ext uri="{FF2B5EF4-FFF2-40B4-BE49-F238E27FC236}">
                <a16:creationId xmlns:a16="http://schemas.microsoft.com/office/drawing/2014/main" id="{30A30662-4E5B-0CDA-C384-FCE017CB9C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83449" y="967244"/>
            <a:ext cx="4960620" cy="3695700"/>
          </a:xfrm>
          <a:prstGeom prst="rect">
            <a:avLst/>
          </a:prstGeom>
        </p:spPr>
      </p:pic>
      <p:pic>
        <p:nvPicPr>
          <p:cNvPr id="6" name="Graphic 100003">
            <a:extLst>
              <a:ext uri="{FF2B5EF4-FFF2-40B4-BE49-F238E27FC236}">
                <a16:creationId xmlns:a16="http://schemas.microsoft.com/office/drawing/2014/main" id="{BD8B36CC-6E30-29FD-5502-49568C2A54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5983" y="967244"/>
            <a:ext cx="4960620" cy="36957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41576B4-40FE-4B0F-C5A7-C1F871313A26}"/>
              </a:ext>
            </a:extLst>
          </p:cNvPr>
          <p:cNvSpPr/>
          <p:nvPr/>
        </p:nvSpPr>
        <p:spPr>
          <a:xfrm>
            <a:off x="1483449" y="3306416"/>
            <a:ext cx="231323" cy="67586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ysClr val="windowText" lastClr="000000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B8699F-E320-0A35-8101-4D5FF05698F5}"/>
              </a:ext>
            </a:extLst>
          </p:cNvPr>
          <p:cNvSpPr txBox="1"/>
          <p:nvPr/>
        </p:nvSpPr>
        <p:spPr>
          <a:xfrm rot="16200000">
            <a:off x="1215277" y="3528930"/>
            <a:ext cx="7681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PRAX-XXX</a:t>
            </a:r>
          </a:p>
        </p:txBody>
      </p:sp>
    </p:spTree>
    <p:extLst>
      <p:ext uri="{BB962C8B-B14F-4D97-AF65-F5344CB8AC3E}">
        <p14:creationId xmlns:p14="http://schemas.microsoft.com/office/powerpoint/2010/main" val="200375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2F8807-29E6-62A3-DBC8-698C0EA16FE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533214" y="4568930"/>
            <a:ext cx="9987182" cy="2156811"/>
          </a:xfrm>
        </p:spPr>
        <p:txBody>
          <a:bodyPr lIns="91440" tIns="45720" rIns="91440" bIns="45720" numCol="1" anchor="t" anchorCtr="0">
            <a:normAutofit/>
          </a:bodyPr>
          <a:lstStyle/>
          <a:p>
            <a:r>
              <a:rPr lang="en-US" sz="1400" dirty="0">
                <a:latin typeface="Roboto Light"/>
                <a:ea typeface="Roboto Light"/>
                <a:cs typeface="Arial"/>
              </a:rPr>
              <a:t>Structural model: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Roboto Light"/>
                <a:ea typeface="Roboto Light"/>
                <a:cs typeface="Arial"/>
              </a:rPr>
              <a:t>The administration is extravascular with a first order absorption (rate constant ka).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Roboto Light"/>
                <a:ea typeface="Roboto Light"/>
                <a:cs typeface="Arial"/>
              </a:rPr>
              <a:t>The PK model for PRAX-XXX (parent) has a central compartment (volume V1), a peripheral compartment (volume V2, intercompartmental clearance Q), and a linear elimination from the central compartment (clearance Cl).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Roboto Light"/>
                <a:ea typeface="Roboto Light"/>
                <a:cs typeface="Arial"/>
              </a:rPr>
              <a:t>The PK model for M12 (metabolite) has a central compartment (volume V1), a peripheral compartment (volume V2m, intercompartmental clearance </a:t>
            </a:r>
            <a:r>
              <a:rPr lang="en-US" sz="1400" dirty="0" err="1">
                <a:latin typeface="Roboto Light"/>
                <a:ea typeface="Roboto Light"/>
                <a:cs typeface="Arial"/>
              </a:rPr>
              <a:t>Qm</a:t>
            </a:r>
            <a:r>
              <a:rPr lang="en-US" sz="1400" dirty="0">
                <a:latin typeface="Roboto Light"/>
                <a:ea typeface="Roboto Light"/>
                <a:cs typeface="Arial"/>
              </a:rPr>
              <a:t>), and a linear elimination (clearance </a:t>
            </a:r>
            <a:r>
              <a:rPr lang="en-US" sz="1400" dirty="0" err="1">
                <a:latin typeface="Roboto Light"/>
                <a:ea typeface="Roboto Light"/>
                <a:cs typeface="Arial"/>
              </a:rPr>
              <a:t>Clm</a:t>
            </a:r>
            <a:r>
              <a:rPr lang="en-US" sz="1400" dirty="0">
                <a:latin typeface="Roboto Light"/>
                <a:ea typeface="Roboto Light"/>
                <a:cs typeface="Arial"/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Roboto Light"/>
                <a:ea typeface="Roboto Light"/>
                <a:cs typeface="Arial"/>
              </a:rPr>
              <a:t>Formation of M12 is modeled as a unidirectional first-order metabolic conversion from the parent central compartment (transfer rate </a:t>
            </a:r>
            <a:r>
              <a:rPr lang="en-US" sz="1400" dirty="0" err="1">
                <a:latin typeface="Roboto Light"/>
                <a:ea typeface="Roboto Light"/>
                <a:cs typeface="Arial"/>
              </a:rPr>
              <a:t>Kpm</a:t>
            </a:r>
            <a:r>
              <a:rPr lang="en-US" sz="1400" dirty="0">
                <a:latin typeface="Roboto Light"/>
                <a:ea typeface="Roboto Light"/>
                <a:cs typeface="Arial"/>
              </a:rPr>
              <a:t>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B4F0AF-D6C1-37DD-9168-6D2DE7DB2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Model Structure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33BB2D-0E91-90FF-FAC1-21B491727086}"/>
              </a:ext>
            </a:extLst>
          </p:cNvPr>
          <p:cNvSpPr/>
          <p:nvPr/>
        </p:nvSpPr>
        <p:spPr>
          <a:xfrm>
            <a:off x="4392964" y="2583716"/>
            <a:ext cx="1446486" cy="66215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Roboto Condensed" panose="02000000000000000000" pitchFamily="2" charset="0"/>
                <a:cs typeface="Arial" panose="020B0604020202020204" pitchFamily="34" charset="0"/>
              </a:rPr>
              <a:t>Central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Roboto Condensed" panose="02000000000000000000" pitchFamily="2" charset="0"/>
                <a:cs typeface="Arial" panose="020B0604020202020204" pitchFamily="34" charset="0"/>
              </a:rPr>
              <a:t>(V1)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5F2ABE5-E53E-6CA5-C680-D39900832A45}"/>
              </a:ext>
            </a:extLst>
          </p:cNvPr>
          <p:cNvSpPr/>
          <p:nvPr/>
        </p:nvSpPr>
        <p:spPr>
          <a:xfrm>
            <a:off x="4392964" y="3692659"/>
            <a:ext cx="1446486" cy="66215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Roboto Condensed" panose="02000000000000000000" pitchFamily="2" charset="0"/>
                <a:cs typeface="Arial" panose="020B0604020202020204" pitchFamily="34" charset="0"/>
              </a:rPr>
              <a:t>Peripheral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Roboto Condensed" panose="02000000000000000000" pitchFamily="2" charset="0"/>
                <a:cs typeface="Arial" panose="020B0604020202020204" pitchFamily="34" charset="0"/>
              </a:rPr>
              <a:t>(V2)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C89161-7E83-1537-8024-A05E7ED4FE71}"/>
              </a:ext>
            </a:extLst>
          </p:cNvPr>
          <p:cNvSpPr/>
          <p:nvPr/>
        </p:nvSpPr>
        <p:spPr>
          <a:xfrm>
            <a:off x="6908876" y="2593617"/>
            <a:ext cx="1446486" cy="66215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Roboto Condensed" panose="02000000000000000000" pitchFamily="2" charset="0"/>
                <a:cs typeface="Arial" panose="020B0604020202020204" pitchFamily="34" charset="0"/>
              </a:rPr>
              <a:t>Central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Roboto Condensed" panose="02000000000000000000" pitchFamily="2" charset="0"/>
                <a:cs typeface="Arial" panose="020B0604020202020204" pitchFamily="34" charset="0"/>
              </a:rPr>
              <a:t>(V1)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0684F3A-3DB6-61C3-E8C5-BA0B99B8C7C2}"/>
              </a:ext>
            </a:extLst>
          </p:cNvPr>
          <p:cNvSpPr/>
          <p:nvPr/>
        </p:nvSpPr>
        <p:spPr>
          <a:xfrm>
            <a:off x="6908876" y="3702560"/>
            <a:ext cx="1446486" cy="66215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Roboto Condensed" panose="02000000000000000000" pitchFamily="2" charset="0"/>
                <a:cs typeface="Arial" panose="020B0604020202020204" pitchFamily="34" charset="0"/>
              </a:rPr>
              <a:t>Peripheral (V2m)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274003-5697-5507-3850-FED910C23D00}"/>
              </a:ext>
            </a:extLst>
          </p:cNvPr>
          <p:cNvCxnSpPr/>
          <p:nvPr/>
        </p:nvCxnSpPr>
        <p:spPr>
          <a:xfrm>
            <a:off x="5126059" y="1834854"/>
            <a:ext cx="0" cy="748862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30DB469-BB69-8920-4897-000948F1C745}"/>
              </a:ext>
            </a:extLst>
          </p:cNvPr>
          <p:cNvSpPr txBox="1"/>
          <p:nvPr/>
        </p:nvSpPr>
        <p:spPr>
          <a:xfrm>
            <a:off x="4814915" y="1536135"/>
            <a:ext cx="622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Dose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5DBFEC-607D-F1EA-41C4-E6AB6A228F85}"/>
              </a:ext>
            </a:extLst>
          </p:cNvPr>
          <p:cNvCxnSpPr>
            <a:cxnSpLocks/>
          </p:cNvCxnSpPr>
          <p:nvPr/>
        </p:nvCxnSpPr>
        <p:spPr>
          <a:xfrm>
            <a:off x="4983819" y="3255769"/>
            <a:ext cx="0" cy="43689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C666D22-8E2D-52B8-E0BA-81165E0C8DA4}"/>
              </a:ext>
            </a:extLst>
          </p:cNvPr>
          <p:cNvCxnSpPr>
            <a:cxnSpLocks/>
          </p:cNvCxnSpPr>
          <p:nvPr/>
        </p:nvCxnSpPr>
        <p:spPr>
          <a:xfrm flipV="1">
            <a:off x="5251306" y="3245868"/>
            <a:ext cx="0" cy="41987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2EE00A-9233-98DB-2658-57DB711B78F0}"/>
              </a:ext>
            </a:extLst>
          </p:cNvPr>
          <p:cNvCxnSpPr>
            <a:cxnSpLocks/>
          </p:cNvCxnSpPr>
          <p:nvPr/>
        </p:nvCxnSpPr>
        <p:spPr>
          <a:xfrm flipH="1">
            <a:off x="3602835" y="2914792"/>
            <a:ext cx="719959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14E9DC5-21E2-3EBF-FB65-22C53BD4E100}"/>
              </a:ext>
            </a:extLst>
          </p:cNvPr>
          <p:cNvSpPr txBox="1"/>
          <p:nvPr/>
        </p:nvSpPr>
        <p:spPr>
          <a:xfrm>
            <a:off x="5126059" y="205539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60116A-CB64-A86A-736F-459DF9F01159}"/>
              </a:ext>
            </a:extLst>
          </p:cNvPr>
          <p:cNvSpPr txBox="1"/>
          <p:nvPr/>
        </p:nvSpPr>
        <p:spPr>
          <a:xfrm>
            <a:off x="5251306" y="3312521"/>
            <a:ext cx="324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969CE3-1C65-8AD3-8AB7-8AF3A3DEDBE9}"/>
              </a:ext>
            </a:extLst>
          </p:cNvPr>
          <p:cNvSpPr txBox="1"/>
          <p:nvPr/>
        </p:nvSpPr>
        <p:spPr>
          <a:xfrm>
            <a:off x="3811576" y="2616916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</a:t>
            </a:r>
            <a:endParaRPr kumimoji="0" lang="en-US" sz="14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8F87962-8162-28E6-E369-20ED72B1BFD7}"/>
              </a:ext>
            </a:extLst>
          </p:cNvPr>
          <p:cNvCxnSpPr>
            <a:cxnSpLocks/>
          </p:cNvCxnSpPr>
          <p:nvPr/>
        </p:nvCxnSpPr>
        <p:spPr>
          <a:xfrm>
            <a:off x="5859155" y="2914792"/>
            <a:ext cx="1049721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B4CF135-C4A9-D059-D570-C24055119564}"/>
              </a:ext>
            </a:extLst>
          </p:cNvPr>
          <p:cNvCxnSpPr>
            <a:cxnSpLocks/>
          </p:cNvCxnSpPr>
          <p:nvPr/>
        </p:nvCxnSpPr>
        <p:spPr>
          <a:xfrm>
            <a:off x="7497019" y="3268524"/>
            <a:ext cx="0" cy="43689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43F619B-8EAC-1E19-C38B-27851B59BAB6}"/>
              </a:ext>
            </a:extLst>
          </p:cNvPr>
          <p:cNvCxnSpPr>
            <a:cxnSpLocks/>
          </p:cNvCxnSpPr>
          <p:nvPr/>
        </p:nvCxnSpPr>
        <p:spPr>
          <a:xfrm flipV="1">
            <a:off x="7764506" y="3258623"/>
            <a:ext cx="0" cy="41987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2D279A7-3513-51FD-7C6A-8C5799C65DD3}"/>
              </a:ext>
            </a:extLst>
          </p:cNvPr>
          <p:cNvSpPr txBox="1"/>
          <p:nvPr/>
        </p:nvSpPr>
        <p:spPr>
          <a:xfrm>
            <a:off x="7764506" y="3325276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Qm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E9A438-471D-569B-46E2-4711D073FDEA}"/>
              </a:ext>
            </a:extLst>
          </p:cNvPr>
          <p:cNvSpPr txBox="1"/>
          <p:nvPr/>
        </p:nvSpPr>
        <p:spPr>
          <a:xfrm>
            <a:off x="6092109" y="2600316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Kpm</a:t>
            </a:r>
            <a:endParaRPr kumimoji="0" lang="en-US" sz="14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0E01EBC-8C4F-D0F1-1879-E725BF47477A}"/>
              </a:ext>
            </a:extLst>
          </p:cNvPr>
          <p:cNvCxnSpPr>
            <a:cxnSpLocks/>
          </p:cNvCxnSpPr>
          <p:nvPr/>
        </p:nvCxnSpPr>
        <p:spPr>
          <a:xfrm>
            <a:off x="8392474" y="2925713"/>
            <a:ext cx="722883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4F5523F-A9D6-BD31-E9CB-D0E0F0209DE1}"/>
              </a:ext>
            </a:extLst>
          </p:cNvPr>
          <p:cNvSpPr txBox="1"/>
          <p:nvPr/>
        </p:nvSpPr>
        <p:spPr>
          <a:xfrm>
            <a:off x="8523556" y="2616964"/>
            <a:ext cx="52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Clm</a:t>
            </a:r>
            <a:endParaRPr kumimoji="0" lang="en-US" sz="14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62D4C52-993C-566B-F6EF-75ECB5F83AC8}"/>
              </a:ext>
            </a:extLst>
          </p:cNvPr>
          <p:cNvCxnSpPr/>
          <p:nvPr/>
        </p:nvCxnSpPr>
        <p:spPr>
          <a:xfrm>
            <a:off x="4098168" y="1439941"/>
            <a:ext cx="1955131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E746946-2FC5-6A1D-259B-22FB979CCAB6}"/>
              </a:ext>
            </a:extLst>
          </p:cNvPr>
          <p:cNvCxnSpPr/>
          <p:nvPr/>
        </p:nvCxnSpPr>
        <p:spPr>
          <a:xfrm>
            <a:off x="6659423" y="1439941"/>
            <a:ext cx="1955131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D3AFA2F-76F6-6A2B-7542-58083F658F0A}"/>
              </a:ext>
            </a:extLst>
          </p:cNvPr>
          <p:cNvSpPr txBox="1"/>
          <p:nvPr/>
        </p:nvSpPr>
        <p:spPr>
          <a:xfrm>
            <a:off x="4203370" y="1114536"/>
            <a:ext cx="18309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Parent (PRAX-XXX)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FD7340-F08E-6C4C-B127-D0C7699419DC}"/>
              </a:ext>
            </a:extLst>
          </p:cNvPr>
          <p:cNvSpPr txBox="1"/>
          <p:nvPr/>
        </p:nvSpPr>
        <p:spPr>
          <a:xfrm>
            <a:off x="6840075" y="1114536"/>
            <a:ext cx="15840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Metabolite (M12)</a:t>
            </a:r>
          </a:p>
        </p:txBody>
      </p:sp>
    </p:spTree>
    <p:extLst>
      <p:ext uri="{BB962C8B-B14F-4D97-AF65-F5344CB8AC3E}">
        <p14:creationId xmlns:p14="http://schemas.microsoft.com/office/powerpoint/2010/main" val="2506243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562A33-BCBB-946F-0F30-C3FC058FC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 anchorCtr="0">
            <a:noAutofit/>
          </a:bodyPr>
          <a:lstStyle/>
          <a:p>
            <a:pPr algn="ctr"/>
            <a:r>
              <a:rPr lang="en-US" b="1">
                <a:latin typeface="Arial"/>
                <a:ea typeface="Roboto Light"/>
                <a:cs typeface="Arial"/>
              </a:rPr>
              <a:t>Estimated Population PK model Parameters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280594A-DA75-3D6F-D9B8-FB43C9748596}"/>
              </a:ext>
            </a:extLst>
          </p:cNvPr>
          <p:cNvGraphicFramePr>
            <a:graphicFrameLocks noGrp="1"/>
          </p:cNvGraphicFramePr>
          <p:nvPr/>
        </p:nvGraphicFramePr>
        <p:xfrm>
          <a:off x="1929451" y="1302647"/>
          <a:ext cx="9201150" cy="4362652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3196910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58925033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23181571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79843274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31831341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88003961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27004413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Stoch. Approx.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22026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S.E.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R.S.E.(%)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P2.5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P97.5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4612805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Fixed Effects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543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ka_pop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0.232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0.0312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13.442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0.179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0.301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58954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V1_pop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19.825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2.24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11.3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15.919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24.688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19631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Cl_pop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6.88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2.794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40.605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3.352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14.123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19607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Q_pop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23.731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1.182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4.979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21.528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26.159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60195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V2_pop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1093.622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44.957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4.111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1009.066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1185.263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69262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Clm_pop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6.462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1.226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18.977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4.497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9.285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74293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Qm_pop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23.281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16.595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71.284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7.745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69.981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03883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V2m_pop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53.657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10.795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20.118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36.578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78.71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27430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Kpm_pop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0.0571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0.016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28.09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0.0339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0.0963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8871895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Standard Deviation of the Random Effects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090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C.V.(%)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090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omega_ka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0.328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33.747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0.0884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26.926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0.199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0.543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00329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omega_V1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0.0607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6.077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0.115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190.175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0.00943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0.391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81569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omega_Cl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1.023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135.832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0.255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24.961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0.64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1.634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18243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omega_V2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0.0282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2.818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0.0432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153.493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0.00517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0.154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78091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omega_Qm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0.844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101.917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0.406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48.113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1.926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77789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omega_Kpm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0.502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53.54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0.145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28.864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0.294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0.857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13934438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Error Model Parameters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301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aParent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5.627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0.393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6.989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4.909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6.45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85277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bParent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0.163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0.0117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7.143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0.142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0.188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49624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aM12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3.432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0.311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9.061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2.877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4.095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46716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43752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42A324-A416-CED9-7F95-3122A16B965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558033" y="5614767"/>
            <a:ext cx="9997620" cy="723330"/>
          </a:xfrm>
        </p:spPr>
        <p:txBody>
          <a:bodyPr lIns="91440" tIns="45720" rIns="91440" bIns="45720" numCol="1" anchor="t" anchorCtr="0">
            <a:normAutofit/>
          </a:bodyPr>
          <a:lstStyle/>
          <a:p>
            <a:r>
              <a:rPr lang="en-US" sz="1600" dirty="0">
                <a:latin typeface="Arial"/>
                <a:ea typeface="Roboto Light"/>
                <a:cs typeface="Arial"/>
              </a:rPr>
              <a:t>Observed PK concentrations (blue dots) overlapped well with model-predicted plasma concentrations over PK sampling time for both PRAX-XXX (left panel) and M12 (right panel)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4F23D1-F4DE-3E7C-A040-A004B3E03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 anchorCtr="0">
            <a:noAutofit/>
          </a:bodyPr>
          <a:lstStyle/>
          <a:p>
            <a:pPr algn="ctr"/>
            <a:r>
              <a:rPr lang="en-US" b="1" dirty="0">
                <a:latin typeface="Arial"/>
                <a:ea typeface="Roboto Light"/>
                <a:cs typeface="Arial"/>
              </a:rPr>
              <a:t>PRAX-XXX-105 (hAME) Study Goodness-of-fit: Individual fits</a:t>
            </a:r>
          </a:p>
        </p:txBody>
      </p:sp>
      <p:pic>
        <p:nvPicPr>
          <p:cNvPr id="5" name="Graphic 100009">
            <a:extLst>
              <a:ext uri="{FF2B5EF4-FFF2-40B4-BE49-F238E27FC236}">
                <a16:creationId xmlns:a16="http://schemas.microsoft.com/office/drawing/2014/main" id="{EB002D31-9BEF-6C6B-3D98-1FAABA8023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58033" y="1581150"/>
            <a:ext cx="4960620" cy="3695700"/>
          </a:xfrm>
          <a:prstGeom prst="rect">
            <a:avLst/>
          </a:prstGeom>
        </p:spPr>
      </p:pic>
      <p:pic>
        <p:nvPicPr>
          <p:cNvPr id="6" name="Graphic 100011">
            <a:extLst>
              <a:ext uri="{FF2B5EF4-FFF2-40B4-BE49-F238E27FC236}">
                <a16:creationId xmlns:a16="http://schemas.microsoft.com/office/drawing/2014/main" id="{EB2424A4-9059-F53E-79EE-A3E9EA5719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18653" y="1581150"/>
            <a:ext cx="4960620" cy="3695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B10A20-C146-85A9-A709-B5E119840526}"/>
              </a:ext>
            </a:extLst>
          </p:cNvPr>
          <p:cNvSpPr txBox="1"/>
          <p:nvPr/>
        </p:nvSpPr>
        <p:spPr>
          <a:xfrm>
            <a:off x="3227912" y="1247388"/>
            <a:ext cx="2567835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  <a:t>PRAX-XXX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C2D6E5-511C-EB41-0A25-B177DB95313E}"/>
              </a:ext>
            </a:extLst>
          </p:cNvPr>
          <p:cNvSpPr txBox="1"/>
          <p:nvPr/>
        </p:nvSpPr>
        <p:spPr>
          <a:xfrm>
            <a:off x="7964464" y="1231724"/>
            <a:ext cx="2567835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  <a:t>M12 metabolite</a:t>
            </a:r>
          </a:p>
        </p:txBody>
      </p:sp>
    </p:spTree>
    <p:extLst>
      <p:ext uri="{BB962C8B-B14F-4D97-AF65-F5344CB8AC3E}">
        <p14:creationId xmlns:p14="http://schemas.microsoft.com/office/powerpoint/2010/main" val="21388589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7E553E-5277-E9FA-62EA-34C4680B7CC5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531216" y="5475596"/>
            <a:ext cx="9997620" cy="643192"/>
          </a:xfrm>
        </p:spPr>
        <p:txBody>
          <a:bodyPr>
            <a:normAutofit/>
          </a:bodyPr>
          <a:lstStyle/>
          <a:p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Individual model-predicted and observed PK data are in a line of unity.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186EB-93AE-54D5-BE31-C7D2A1441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 anchorCtr="0">
            <a:noAutofit/>
          </a:bodyPr>
          <a:lstStyle/>
          <a:p>
            <a:pPr algn="ctr"/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Roboto Light"/>
                <a:cs typeface="Arial"/>
              </a:rPr>
              <a:t>Goodness-of-fit: Observation vs Predictions</a:t>
            </a:r>
            <a:r>
              <a:rPr lang="en-US" b="1" dirty="0">
                <a:solidFill>
                  <a:srgbClr val="000000"/>
                </a:solidFill>
                <a:latin typeface="Arial"/>
                <a:ea typeface="Roboto Light"/>
                <a:cs typeface="Arial"/>
              </a:rPr>
              <a:t> </a:t>
            </a:r>
            <a:br>
              <a:rPr lang="en-US" b="1" dirty="0">
                <a:solidFill>
                  <a:srgbClr val="000000"/>
                </a:solidFill>
                <a:latin typeface="Arial"/>
                <a:ea typeface="Roboto Light"/>
                <a:cs typeface="Arial"/>
              </a:rPr>
            </a:br>
            <a:r>
              <a:rPr lang="en-US" b="1" dirty="0">
                <a:solidFill>
                  <a:srgbClr val="000000"/>
                </a:solidFill>
                <a:latin typeface="Arial"/>
                <a:ea typeface="Roboto Light"/>
                <a:cs typeface="Arial"/>
              </a:rPr>
              <a:t>(PRAX-XXX-105 hAME Study)</a:t>
            </a:r>
            <a:endParaRPr lang="en-US" dirty="0"/>
          </a:p>
        </p:txBody>
      </p:sp>
      <p:pic>
        <p:nvPicPr>
          <p:cNvPr id="5" name="Graphic 100015">
            <a:extLst>
              <a:ext uri="{FF2B5EF4-FFF2-40B4-BE49-F238E27FC236}">
                <a16:creationId xmlns:a16="http://schemas.microsoft.com/office/drawing/2014/main" id="{C29C35CE-5106-0427-7E37-99E5F41AF0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68216" y="1473958"/>
            <a:ext cx="4960620" cy="3695700"/>
          </a:xfrm>
          <a:prstGeom prst="rect">
            <a:avLst/>
          </a:prstGeom>
        </p:spPr>
      </p:pic>
      <p:pic>
        <p:nvPicPr>
          <p:cNvPr id="6" name="Graphic 100013">
            <a:extLst>
              <a:ext uri="{FF2B5EF4-FFF2-40B4-BE49-F238E27FC236}">
                <a16:creationId xmlns:a16="http://schemas.microsoft.com/office/drawing/2014/main" id="{B78DD0FF-A284-8CFB-FE87-3EB00E793A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9406" y="1473958"/>
            <a:ext cx="4960620" cy="3695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0ADF11-6E6B-6F6B-ED09-D8CCB824FAE4}"/>
              </a:ext>
            </a:extLst>
          </p:cNvPr>
          <p:cNvSpPr txBox="1"/>
          <p:nvPr/>
        </p:nvSpPr>
        <p:spPr>
          <a:xfrm>
            <a:off x="3444774" y="1382404"/>
            <a:ext cx="1289135" cy="35394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PRAX-XXX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DAF701-5C35-D25B-F4AB-1D37F9DF3F0C}"/>
              </a:ext>
            </a:extLst>
          </p:cNvPr>
          <p:cNvSpPr txBox="1"/>
          <p:nvPr/>
        </p:nvSpPr>
        <p:spPr>
          <a:xfrm>
            <a:off x="8743795" y="1473958"/>
            <a:ext cx="60946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M12</a:t>
            </a:r>
          </a:p>
        </p:txBody>
      </p:sp>
    </p:spTree>
    <p:extLst>
      <p:ext uri="{BB962C8B-B14F-4D97-AF65-F5344CB8AC3E}">
        <p14:creationId xmlns:p14="http://schemas.microsoft.com/office/powerpoint/2010/main" val="32331045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AF7014-34AE-12C6-ADE6-521E32447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 anchorCtr="0">
            <a:noAutofit/>
          </a:bodyPr>
          <a:lstStyle/>
          <a:p>
            <a:pPr algn="ctr"/>
            <a:r>
              <a:rPr lang="en-US" b="1" dirty="0">
                <a:latin typeface="Arial"/>
                <a:ea typeface="Roboto Light"/>
              </a:rPr>
              <a:t> Ph1 Study M12 Goodness-of-fit: Individual fits</a:t>
            </a:r>
            <a:endParaRPr lang="en-US" b="1" dirty="0">
              <a:latin typeface="Arial"/>
            </a:endParaRPr>
          </a:p>
        </p:txBody>
      </p:sp>
      <p:pic>
        <p:nvPicPr>
          <p:cNvPr id="5" name="Picture 4" descr="A collage of graphs&#10;&#10;AI-generated content may be incorrect.">
            <a:extLst>
              <a:ext uri="{FF2B5EF4-FFF2-40B4-BE49-F238E27FC236}">
                <a16:creationId xmlns:a16="http://schemas.microsoft.com/office/drawing/2014/main" id="{48A00090-348E-AEB5-1E7F-C6A2B5023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48" y="1247774"/>
            <a:ext cx="4984943" cy="3980584"/>
          </a:xfrm>
          <a:prstGeom prst="rect">
            <a:avLst/>
          </a:prstGeom>
        </p:spPr>
      </p:pic>
      <p:pic>
        <p:nvPicPr>
          <p:cNvPr id="6" name="Picture 5" descr="A collage of graphs&#10;&#10;AI-generated content may be incorrect.">
            <a:extLst>
              <a:ext uri="{FF2B5EF4-FFF2-40B4-BE49-F238E27FC236}">
                <a16:creationId xmlns:a16="http://schemas.microsoft.com/office/drawing/2014/main" id="{CB0A3E00-466B-248B-AB4D-0EB0E78F0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317" y="1247775"/>
            <a:ext cx="5198823" cy="3980584"/>
          </a:xfrm>
          <a:prstGeom prst="rect">
            <a:avLst/>
          </a:prstGeom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65706143-B7FF-D3C1-2BB3-4788756C932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558033" y="5614767"/>
            <a:ext cx="9997620" cy="723330"/>
          </a:xfrm>
        </p:spPr>
        <p:txBody>
          <a:bodyPr lIns="91440" tIns="45720" rIns="91440" bIns="45720" numCol="1" anchor="t" anchorCtr="0">
            <a:normAutofit/>
          </a:bodyPr>
          <a:lstStyle/>
          <a:p>
            <a:r>
              <a:rPr lang="en-US" sz="1600" dirty="0">
                <a:latin typeface="Arial"/>
                <a:ea typeface="Roboto Light"/>
                <a:cs typeface="Arial"/>
              </a:rPr>
              <a:t>Observed PK concentrations (blue dots) overlapped well with model-predicted plasma concentrations for M12 in Ph1 study</a:t>
            </a:r>
          </a:p>
        </p:txBody>
      </p:sp>
    </p:spTree>
    <p:extLst>
      <p:ext uri="{BB962C8B-B14F-4D97-AF65-F5344CB8AC3E}">
        <p14:creationId xmlns:p14="http://schemas.microsoft.com/office/powerpoint/2010/main" val="49732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89B5F1-79EC-CB39-E470-67351FA6502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531216" y="5302154"/>
            <a:ext cx="9997620" cy="989464"/>
          </a:xfrm>
        </p:spPr>
        <p:txBody>
          <a:bodyPr>
            <a:normAutofit/>
          </a:bodyPr>
          <a:lstStyle/>
          <a:p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VPC is a simulation-based model diagnostic tool to validate a PK model by graphically comparing simulated data from the model to the original observed data: 95, 50 and 5 percentile prediction intervals overlaid with empirical and predicted percentiles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C23F59-5FDB-2F08-718B-7EDEC3239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Goodness-of-fit: Visual Predictive Check (VPC) </a:t>
            </a:r>
          </a:p>
        </p:txBody>
      </p:sp>
      <p:pic>
        <p:nvPicPr>
          <p:cNvPr id="5" name="Graphic 100025">
            <a:extLst>
              <a:ext uri="{FF2B5EF4-FFF2-40B4-BE49-F238E27FC236}">
                <a16:creationId xmlns:a16="http://schemas.microsoft.com/office/drawing/2014/main" id="{ED6BB249-CF19-05F5-1F60-A08146DD6C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380" y="1243233"/>
            <a:ext cx="4960620" cy="3695700"/>
          </a:xfrm>
          <a:prstGeom prst="rect">
            <a:avLst/>
          </a:prstGeom>
        </p:spPr>
      </p:pic>
      <p:pic>
        <p:nvPicPr>
          <p:cNvPr id="6" name="Graphic 100027">
            <a:extLst>
              <a:ext uri="{FF2B5EF4-FFF2-40B4-BE49-F238E27FC236}">
                <a16:creationId xmlns:a16="http://schemas.microsoft.com/office/drawing/2014/main" id="{D2ECBB9B-9CF5-CFDB-E542-D27AC7FC17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108" y="1243233"/>
            <a:ext cx="4960620" cy="36957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B903B75-DF73-D3E7-09B4-57F33806578C}"/>
              </a:ext>
            </a:extLst>
          </p:cNvPr>
          <p:cNvSpPr/>
          <p:nvPr/>
        </p:nvSpPr>
        <p:spPr>
          <a:xfrm>
            <a:off x="1135381" y="3501653"/>
            <a:ext cx="231323" cy="67586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ysClr val="windowText" lastClr="000000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7D30B5-99B4-A4EB-E043-026C676DCA5B}"/>
              </a:ext>
            </a:extLst>
          </p:cNvPr>
          <p:cNvSpPr txBox="1"/>
          <p:nvPr/>
        </p:nvSpPr>
        <p:spPr>
          <a:xfrm rot="16200000">
            <a:off x="897974" y="3692052"/>
            <a:ext cx="7056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PRAX-XXX</a:t>
            </a:r>
          </a:p>
        </p:txBody>
      </p:sp>
    </p:spTree>
    <p:extLst>
      <p:ext uri="{BB962C8B-B14F-4D97-AF65-F5344CB8AC3E}">
        <p14:creationId xmlns:p14="http://schemas.microsoft.com/office/powerpoint/2010/main" val="3201837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5A2576-9C9D-6BF8-BF9F-2B9949B05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rgbClr val="000000"/>
                </a:solidFill>
                <a:latin typeface="Arial"/>
                <a:ea typeface="Roboto Light"/>
                <a:cs typeface="Arial"/>
              </a:rPr>
              <a:t>Model-predicted Typical Conc vs Time Profile (90 mg QD)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D992233-FA4B-A6CB-A22B-965CD3C53279}"/>
              </a:ext>
            </a:extLst>
          </p:cNvPr>
          <p:cNvGraphicFramePr>
            <a:graphicFrameLocks noGrp="1"/>
          </p:cNvGraphicFramePr>
          <p:nvPr/>
        </p:nvGraphicFramePr>
        <p:xfrm>
          <a:off x="1148080" y="4281406"/>
          <a:ext cx="10380756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0126">
                  <a:extLst>
                    <a:ext uri="{9D8B030D-6E8A-4147-A177-3AD203B41FA5}">
                      <a16:colId xmlns:a16="http://schemas.microsoft.com/office/drawing/2014/main" val="1949694768"/>
                    </a:ext>
                  </a:extLst>
                </a:gridCol>
                <a:gridCol w="1730126">
                  <a:extLst>
                    <a:ext uri="{9D8B030D-6E8A-4147-A177-3AD203B41FA5}">
                      <a16:colId xmlns:a16="http://schemas.microsoft.com/office/drawing/2014/main" val="2534596164"/>
                    </a:ext>
                  </a:extLst>
                </a:gridCol>
                <a:gridCol w="1730126">
                  <a:extLst>
                    <a:ext uri="{9D8B030D-6E8A-4147-A177-3AD203B41FA5}">
                      <a16:colId xmlns:a16="http://schemas.microsoft.com/office/drawing/2014/main" val="1531442153"/>
                    </a:ext>
                  </a:extLst>
                </a:gridCol>
                <a:gridCol w="1730126">
                  <a:extLst>
                    <a:ext uri="{9D8B030D-6E8A-4147-A177-3AD203B41FA5}">
                      <a16:colId xmlns:a16="http://schemas.microsoft.com/office/drawing/2014/main" val="295778892"/>
                    </a:ext>
                  </a:extLst>
                </a:gridCol>
                <a:gridCol w="1730126">
                  <a:extLst>
                    <a:ext uri="{9D8B030D-6E8A-4147-A177-3AD203B41FA5}">
                      <a16:colId xmlns:a16="http://schemas.microsoft.com/office/drawing/2014/main" val="2718835370"/>
                    </a:ext>
                  </a:extLst>
                </a:gridCol>
                <a:gridCol w="1730126">
                  <a:extLst>
                    <a:ext uri="{9D8B030D-6E8A-4147-A177-3AD203B41FA5}">
                      <a16:colId xmlns:a16="http://schemas.microsoft.com/office/drawing/2014/main" val="2885554875"/>
                    </a:ext>
                  </a:extLst>
                </a:gridCol>
              </a:tblGrid>
              <a:tr h="210060">
                <a:tc gridSpan="6"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Arial"/>
                          <a:cs typeface="Arial"/>
                        </a:rPr>
                        <a:t>Adult M12 Median Model-Predicted PK Parameters at Steady State (n=1000)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061967"/>
                  </a:ext>
                </a:extLst>
              </a:tr>
              <a:tr h="210060"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Arial"/>
                          <a:cs typeface="Arial"/>
                        </a:rPr>
                        <a:t>Cmin</a:t>
                      </a:r>
                      <a:r>
                        <a:rPr lang="en-US" sz="1200">
                          <a:latin typeface="Arial"/>
                          <a:cs typeface="Arial"/>
                        </a:rPr>
                        <a:t> (ng/mL)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Arial"/>
                          <a:cs typeface="Arial"/>
                        </a:rPr>
                        <a:t>Cmax</a:t>
                      </a:r>
                      <a:r>
                        <a:rPr lang="en-US" sz="1200">
                          <a:latin typeface="Arial"/>
                          <a:cs typeface="Arial"/>
                        </a:rPr>
                        <a:t> (ng/mL)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rial"/>
                          <a:cs typeface="Arial"/>
                        </a:rPr>
                        <a:t>AUCtau (ng/mL*</a:t>
                      </a:r>
                      <a:r>
                        <a:rPr lang="en-US" sz="1200" err="1">
                          <a:latin typeface="Arial"/>
                          <a:cs typeface="Arial"/>
                        </a:rPr>
                        <a:t>hr</a:t>
                      </a:r>
                      <a:r>
                        <a:rPr lang="en-US" sz="1200">
                          <a:latin typeface="Arial"/>
                          <a:cs typeface="Arial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Arial"/>
                          <a:cs typeface="Arial"/>
                        </a:rPr>
                        <a:t>Tmax</a:t>
                      </a:r>
                      <a:r>
                        <a:rPr lang="en-US" sz="1200">
                          <a:latin typeface="Arial"/>
                          <a:cs typeface="Arial"/>
                        </a:rPr>
                        <a:t> (</a:t>
                      </a:r>
                      <a:r>
                        <a:rPr lang="en-US" sz="1200" err="1">
                          <a:latin typeface="Arial"/>
                          <a:cs typeface="Arial"/>
                        </a:rPr>
                        <a:t>hr</a:t>
                      </a:r>
                      <a:r>
                        <a:rPr lang="en-US" sz="1200">
                          <a:latin typeface="Arial"/>
                          <a:cs typeface="Arial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rial"/>
                          <a:cs typeface="Arial"/>
                        </a:rPr>
                        <a:t>Half-life (</a:t>
                      </a:r>
                      <a:r>
                        <a:rPr lang="en-US" sz="1200" err="1">
                          <a:latin typeface="Arial"/>
                          <a:cs typeface="Arial"/>
                        </a:rPr>
                        <a:t>hr</a:t>
                      </a:r>
                      <a:r>
                        <a:rPr lang="en-US" sz="1200">
                          <a:latin typeface="Arial"/>
                          <a:cs typeface="Arial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rial"/>
                          <a:cs typeface="Arial"/>
                        </a:rPr>
                        <a:t>Accu.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38435"/>
                  </a:ext>
                </a:extLst>
              </a:tr>
              <a:tr h="21006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rial"/>
                          <a:cs typeface="Arial"/>
                        </a:rPr>
                        <a:t>63.3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rial"/>
                          <a:cs typeface="Arial"/>
                        </a:rPr>
                        <a:t>87.3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rial"/>
                          <a:cs typeface="Arial"/>
                        </a:rPr>
                        <a:t>1820.0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rial"/>
                          <a:cs typeface="Arial"/>
                        </a:rP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rial"/>
                          <a:cs typeface="Arial"/>
                        </a:rPr>
                        <a:t>52.8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rial"/>
                          <a:cs typeface="Arial"/>
                        </a:rPr>
                        <a:t>4.0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03058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1ED8E355-5587-2BB0-4CBE-ECD31E995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957" y="1120145"/>
            <a:ext cx="5672138" cy="3095625"/>
          </a:xfrm>
          <a:prstGeom prst="rect">
            <a:avLst/>
          </a:prstGeom>
        </p:spPr>
      </p:pic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DF4A5A0-129C-9218-944C-17F450898F4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339648" y="5200482"/>
            <a:ext cx="9997620" cy="1306053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What we observe in Ph1 median concentration at V5 Double Blind Treatment Week 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Predose: 33 ng/mL, 1</a:t>
            </a: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hour: 32.7ng/mL, 2</a:t>
            </a: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hour: 31.9ng/mL, 4</a:t>
            </a: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hour: 31.1ng/mL, 6</a:t>
            </a: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hour: 32.7ng/mL</a:t>
            </a:r>
          </a:p>
          <a:p>
            <a:pPr lvl="1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Median model-predicted steady state exposure (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Cmin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Cmax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) is higher in adults from 105 study than observed pediatric concentration in Ph1.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823143-1445-36D8-07AE-DF7884712EDB}"/>
              </a:ext>
            </a:extLst>
          </p:cNvPr>
          <p:cNvSpPr/>
          <p:nvPr/>
        </p:nvSpPr>
        <p:spPr>
          <a:xfrm>
            <a:off x="8825948" y="2498035"/>
            <a:ext cx="540147" cy="11926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ysClr val="windowText" lastClr="000000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32AB12-980E-20DA-E0B9-AD5A7AF84779}"/>
              </a:ext>
            </a:extLst>
          </p:cNvPr>
          <p:cNvSpPr txBox="1"/>
          <p:nvPr/>
        </p:nvSpPr>
        <p:spPr>
          <a:xfrm>
            <a:off x="8743200" y="2439153"/>
            <a:ext cx="7056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PRAX-XXX</a:t>
            </a:r>
          </a:p>
        </p:txBody>
      </p:sp>
    </p:spTree>
    <p:extLst>
      <p:ext uri="{BB962C8B-B14F-4D97-AF65-F5344CB8AC3E}">
        <p14:creationId xmlns:p14="http://schemas.microsoft.com/office/powerpoint/2010/main" val="28812002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BF8DE-B34C-169E-5161-B6A81A2AC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D94381-2D59-92BE-76FF-64A0D6A0A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 anchorCtr="0">
            <a:noAutofit/>
          </a:bodyPr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Arial"/>
                <a:ea typeface="Roboto Light"/>
                <a:cs typeface="Arial"/>
              </a:rPr>
              <a:t>M12: Model-predicted Ph1 Pediatric 1mg/kg/day</a:t>
            </a:r>
          </a:p>
        </p:txBody>
      </p:sp>
      <p:pic>
        <p:nvPicPr>
          <p:cNvPr id="6" name="Picture 5" descr="A graph with a line and dots&#10;&#10;AI-generated content may be incorrect.">
            <a:extLst>
              <a:ext uri="{FF2B5EF4-FFF2-40B4-BE49-F238E27FC236}">
                <a16:creationId xmlns:a16="http://schemas.microsoft.com/office/drawing/2014/main" id="{C13C1249-1E35-672A-D6B1-63C30EECF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222" y="1157094"/>
            <a:ext cx="4316054" cy="3328482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7DF91B8-D9C7-485F-C5A2-80784D22C9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237234"/>
              </p:ext>
            </p:extLst>
          </p:nvPr>
        </p:nvGraphicFramePr>
        <p:xfrm>
          <a:off x="2787958" y="4639407"/>
          <a:ext cx="7348636" cy="1950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37159">
                  <a:extLst>
                    <a:ext uri="{9D8B030D-6E8A-4147-A177-3AD203B41FA5}">
                      <a16:colId xmlns:a16="http://schemas.microsoft.com/office/drawing/2014/main" val="1949694768"/>
                    </a:ext>
                  </a:extLst>
                </a:gridCol>
                <a:gridCol w="1837159">
                  <a:extLst>
                    <a:ext uri="{9D8B030D-6E8A-4147-A177-3AD203B41FA5}">
                      <a16:colId xmlns:a16="http://schemas.microsoft.com/office/drawing/2014/main" val="2534596164"/>
                    </a:ext>
                  </a:extLst>
                </a:gridCol>
                <a:gridCol w="1837159">
                  <a:extLst>
                    <a:ext uri="{9D8B030D-6E8A-4147-A177-3AD203B41FA5}">
                      <a16:colId xmlns:a16="http://schemas.microsoft.com/office/drawing/2014/main" val="1531442153"/>
                    </a:ext>
                  </a:extLst>
                </a:gridCol>
                <a:gridCol w="1837159">
                  <a:extLst>
                    <a:ext uri="{9D8B030D-6E8A-4147-A177-3AD203B41FA5}">
                      <a16:colId xmlns:a16="http://schemas.microsoft.com/office/drawing/2014/main" val="295778892"/>
                    </a:ext>
                  </a:extLst>
                </a:gridCol>
              </a:tblGrid>
              <a:tr h="21006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Ph1 M12 Median Model-Predicted PK Parameters (n = 24 at true steady state)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061967"/>
                  </a:ext>
                </a:extLst>
              </a:tr>
              <a:tr h="210060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Day 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Cmin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(ng/mL)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Cmax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(ng/mL)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AUCtau (ng/mL*</a:t>
                      </a:r>
                      <a:r>
                        <a:rPr lang="en-US" sz="1200" b="1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hr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38435"/>
                  </a:ext>
                </a:extLst>
              </a:tr>
              <a:tr h="2100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36.9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44.6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970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03058"/>
                  </a:ext>
                </a:extLst>
              </a:tr>
              <a:tr h="210060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Day 28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Cmin</a:t>
                      </a:r>
                      <a:r>
                        <a:rPr 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(ng/mL)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Cmax</a:t>
                      </a:r>
                      <a:r>
                        <a:rPr 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(ng/mL)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AUCtau (ng/mL*</a:t>
                      </a:r>
                      <a:r>
                        <a:rPr lang="en-US" sz="1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hr</a:t>
                      </a:r>
                      <a:r>
                        <a:rPr 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008425"/>
                  </a:ext>
                </a:extLst>
              </a:tr>
              <a:tr h="210060">
                <a:tc vMerge="1">
                  <a:txBody>
                    <a:bodyPr/>
                    <a:lstStyle/>
                    <a:p>
                      <a:pPr algn="ctr"/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46.7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53.4</a:t>
                      </a: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rial"/>
                          <a:cs typeface="Arial"/>
                        </a:rPr>
                        <a:t>1195</a:t>
                      </a:r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7498464"/>
                  </a:ext>
                </a:extLst>
              </a:tr>
              <a:tr h="210060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Day 28 </a:t>
                      </a:r>
                    </a:p>
                    <a:p>
                      <a:pPr algn="ctr"/>
                      <a:r>
                        <a:rPr 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Observed 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Cmin</a:t>
                      </a:r>
                      <a:r>
                        <a:rPr 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(ng/mL)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Cmax</a:t>
                      </a:r>
                      <a:r>
                        <a:rPr 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(ng/mL)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AUCtau (ng/mL*</a:t>
                      </a:r>
                      <a:r>
                        <a:rPr lang="en-US" sz="1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hr</a:t>
                      </a:r>
                      <a:r>
                        <a:rPr 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00807058"/>
                  </a:ext>
                </a:extLst>
              </a:tr>
              <a:tr h="210060">
                <a:tc vMerge="1">
                  <a:txBody>
                    <a:bodyPr/>
                    <a:lstStyle/>
                    <a:p>
                      <a:pPr algn="ctr"/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1125</a:t>
                      </a:r>
                      <a:r>
                        <a:rPr lang="en-US" sz="1200" b="1" dirty="0">
                          <a:latin typeface="Arial"/>
                          <a:cs typeface="Arial"/>
                        </a:rPr>
                        <a:t>* (extrapolated)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91235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476B708-31A8-92AF-0243-2AB100F7C151}"/>
              </a:ext>
            </a:extLst>
          </p:cNvPr>
          <p:cNvSpPr txBox="1"/>
          <p:nvPr/>
        </p:nvSpPr>
        <p:spPr>
          <a:xfrm>
            <a:off x="6687837" y="1931003"/>
            <a:ext cx="484099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 Conclusions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PopPK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model accurately predicts pediatric M12 exposures.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Observed Ph1 data confirm predictable and consistent M12 accumulation.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Minimal diurnal fluctuation indicates low PK variability and stable exposure.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Current pediatric dosing achieves exposures aligned with model expectations.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Rat toxicology coverage at Day 14 is approximately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55–56%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4419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Praxis Primary Color Palette">
      <a:dk1>
        <a:srgbClr val="000000"/>
      </a:dk1>
      <a:lt1>
        <a:srgbClr val="FFFFFF"/>
      </a:lt1>
      <a:dk2>
        <a:srgbClr val="4C5F65"/>
      </a:dk2>
      <a:lt2>
        <a:srgbClr val="E2E7EA"/>
      </a:lt2>
      <a:accent1>
        <a:srgbClr val="24C8D9"/>
      </a:accent1>
      <a:accent2>
        <a:srgbClr val="4C5F65"/>
      </a:accent2>
      <a:accent3>
        <a:srgbClr val="E2E7EA"/>
      </a:accent3>
      <a:accent4>
        <a:srgbClr val="919191"/>
      </a:accent4>
      <a:accent5>
        <a:srgbClr val="C0C0C0"/>
      </a:accent5>
      <a:accent6>
        <a:srgbClr val="EAEAEA"/>
      </a:accent6>
      <a:hlink>
        <a:srgbClr val="00000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  <a:effectLst/>
      </a:spPr>
      <a:bodyPr rtlCol="0" anchor="ctr"/>
      <a:lstStyle>
        <a:defPPr algn="ctr">
          <a:defRPr b="1" dirty="0" smtClean="0">
            <a:solidFill>
              <a:sysClr val="windowText" lastClr="000000"/>
            </a:solidFill>
            <a:latin typeface="Roboto Condensed" panose="02000000000000000000" pitchFamily="2" charset="0"/>
            <a:ea typeface="Roboto Condensed" panose="02000000000000000000" pitchFamily="2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700" dirty="0" smtClean="0">
            <a:solidFill>
              <a:srgbClr val="7F7F7F"/>
            </a:solidFill>
            <a:latin typeface="Tahoma"/>
            <a:cs typeface="Tahom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D27D87DA-A338-2545-BB8D-AF2271E8CED2}" vid="{2E93CCE2-F426-DC4B-A2FA-A90A2949F7E5}"/>
    </a:ext>
  </a:extLst>
</a:theme>
</file>

<file path=ppt/theme/theme2.xml><?xml version="1.0" encoding="utf-8"?>
<a:theme xmlns:a="http://schemas.openxmlformats.org/drawingml/2006/main" name="Praxis">
  <a:themeElements>
    <a:clrScheme name="PraXis">
      <a:dk1>
        <a:srgbClr val="000000"/>
      </a:dk1>
      <a:lt1>
        <a:srgbClr val="FFFFFF"/>
      </a:lt1>
      <a:dk2>
        <a:srgbClr val="7F7F7F"/>
      </a:dk2>
      <a:lt2>
        <a:srgbClr val="E5E7E6"/>
      </a:lt2>
      <a:accent1>
        <a:srgbClr val="38815A"/>
      </a:accent1>
      <a:accent2>
        <a:srgbClr val="C0CD37"/>
      </a:accent2>
      <a:accent3>
        <a:srgbClr val="4399A3"/>
      </a:accent3>
      <a:accent4>
        <a:srgbClr val="50B880"/>
      </a:accent4>
      <a:accent5>
        <a:srgbClr val="CDD947"/>
      </a:accent5>
      <a:accent6>
        <a:srgbClr val="5ED2DC"/>
      </a:accent6>
      <a:hlink>
        <a:srgbClr val="429AA2"/>
      </a:hlink>
      <a:folHlink>
        <a:srgbClr val="4399A3"/>
      </a:folHlink>
    </a:clrScheme>
    <a:fontScheme name="Roboto">
      <a:majorFont>
        <a:latin typeface="Roboto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</a:majorFont>
      <a:minorFont>
        <a:latin typeface="Roboto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June Template" id="{C28EF04C-017C-494F-A634-54448853B21C}" vid="{F1988A18-DECD-E543-A204-BA14C4DAF897}"/>
    </a:ext>
  </a:extLst>
</a:theme>
</file>

<file path=ppt/theme/theme3.xml><?xml version="1.0" encoding="utf-8"?>
<a:theme xmlns:a="http://schemas.openxmlformats.org/drawingml/2006/main" name="2_Office Theme">
  <a:themeElements>
    <a:clrScheme name="Praxis Primary Color Palette">
      <a:dk1>
        <a:srgbClr val="000000"/>
      </a:dk1>
      <a:lt1>
        <a:srgbClr val="FFFFFF"/>
      </a:lt1>
      <a:dk2>
        <a:srgbClr val="4C5F65"/>
      </a:dk2>
      <a:lt2>
        <a:srgbClr val="E2E7EA"/>
      </a:lt2>
      <a:accent1>
        <a:srgbClr val="24C8D9"/>
      </a:accent1>
      <a:accent2>
        <a:srgbClr val="4C5F65"/>
      </a:accent2>
      <a:accent3>
        <a:srgbClr val="E2E7EA"/>
      </a:accent3>
      <a:accent4>
        <a:srgbClr val="919191"/>
      </a:accent4>
      <a:accent5>
        <a:srgbClr val="C0C0C0"/>
      </a:accent5>
      <a:accent6>
        <a:srgbClr val="EAEAEA"/>
      </a:accent6>
      <a:hlink>
        <a:srgbClr val="00000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  <a:effectLst/>
      </a:spPr>
      <a:bodyPr rtlCol="0" anchor="ctr"/>
      <a:lstStyle>
        <a:defPPr algn="ctr">
          <a:defRPr b="1" dirty="0" smtClean="0">
            <a:solidFill>
              <a:sysClr val="windowText" lastClr="000000"/>
            </a:solidFill>
            <a:latin typeface="Roboto Condensed" panose="02000000000000000000" pitchFamily="2" charset="0"/>
            <a:ea typeface="Roboto Condensed" panose="02000000000000000000" pitchFamily="2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700" dirty="0" smtClean="0">
            <a:solidFill>
              <a:srgbClr val="7F7F7F"/>
            </a:solidFill>
            <a:latin typeface="Tahoma"/>
            <a:cs typeface="Tahom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D27D87DA-A338-2545-BB8D-AF2271E8CED2}" vid="{2E93CCE2-F426-DC4B-A2FA-A90A2949F7E5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48d7fdb-6286-40ec-94b0-271eb0ccc112">
      <UserInfo>
        <DisplayName>Brian Sahl</DisplayName>
        <AccountId>41</AccountId>
        <AccountType/>
      </UserInfo>
      <UserInfo>
        <DisplayName>Jason LaButti</DisplayName>
        <AccountId>68</AccountId>
        <AccountType/>
      </UserInfo>
      <UserInfo>
        <DisplayName>Ted Snyder</DisplayName>
        <AccountId>37</AccountId>
        <AccountType/>
      </UserInfo>
      <UserInfo>
        <DisplayName>Mike Interdonato</DisplayName>
        <AccountId>113</AccountId>
        <AccountType/>
      </UserInfo>
      <UserInfo>
        <DisplayName>Heidi Weber</DisplayName>
        <AccountId>84</AccountId>
        <AccountType/>
      </UserInfo>
      <UserInfo>
        <DisplayName>Max Martinson</DisplayName>
        <AccountId>58</AccountId>
        <AccountType/>
      </UserInfo>
      <UserInfo>
        <DisplayName>Laura McIntyre</DisplayName>
        <AccountId>12</AccountId>
        <AccountType/>
      </UserInfo>
      <UserInfo>
        <DisplayName>Kimberly Chambert</DisplayName>
        <AccountId>35</AccountId>
        <AccountType/>
      </UserInfo>
      <UserInfo>
        <DisplayName>Limited Access System Group For List 7ad3cfaa-bee2-467e-a1e0-00fd3190de63</DisplayName>
        <AccountId>92</AccountId>
        <AccountType/>
      </UserInfo>
      <UserInfo>
        <DisplayName>Gopi Kasi</DisplayName>
        <AccountId>78</AccountId>
        <AccountType/>
      </UserInfo>
      <UserInfo>
        <DisplayName>Lillian Matthews</DisplayName>
        <AccountId>114</AccountId>
        <AccountType/>
      </UserInfo>
      <UserInfo>
        <DisplayName>Ricardo Lira</DisplayName>
        <AccountId>115</AccountId>
        <AccountType/>
      </UserInfo>
      <UserInfo>
        <DisplayName>Kristin DeSouza</DisplayName>
        <AccountId>116</AccountId>
        <AccountType/>
      </UserInfo>
      <UserInfo>
        <DisplayName>Julia Chase</DisplayName>
        <AccountId>117</AccountId>
        <AccountType/>
      </UserInfo>
      <UserInfo>
        <DisplayName>Rachel Ciotti</DisplayName>
        <AccountId>66</AccountId>
        <AccountType/>
      </UserInfo>
      <UserInfo>
        <DisplayName>Marcio Souza</DisplayName>
        <AccountId>18</AccountId>
        <AccountType/>
      </UserInfo>
      <UserInfo>
        <DisplayName>PTP Test-c</DisplayName>
        <AccountId>332</AccountId>
        <AccountType/>
      </UserInfo>
      <UserInfo>
        <DisplayName>Aubryn Samaroo</DisplayName>
        <AccountId>258</AccountId>
        <AccountType/>
      </UserInfo>
      <UserInfo>
        <DisplayName>Corey Puryear</DisplayName>
        <AccountId>27</AccountId>
        <AccountType/>
      </UserInfo>
      <UserInfo>
        <DisplayName>Michael Niebo</DisplayName>
        <AccountId>87</AccountId>
        <AccountType/>
      </UserInfo>
      <UserInfo>
        <DisplayName>Tyler Wiseman</DisplayName>
        <AccountId>21</AccountId>
        <AccountType/>
      </UserInfo>
      <UserInfo>
        <DisplayName>Kevin Li</DisplayName>
        <AccountId>23</AccountId>
        <AccountType/>
      </UserInfo>
      <UserInfo>
        <DisplayName>Raul Lima</DisplayName>
        <AccountId>355</AccountId>
        <AccountType/>
      </UserInfo>
      <UserInfo>
        <DisplayName>Robert Horton</DisplayName>
        <AccountId>17</AccountId>
        <AccountType/>
      </UserInfo>
      <UserInfo>
        <DisplayName>Toni Foster - C</DisplayName>
        <AccountId>348</AccountId>
        <AccountType/>
      </UserInfo>
      <UserInfo>
        <DisplayName>Levi Kline</DisplayName>
        <AccountId>304</AccountId>
        <AccountType/>
      </UserInfo>
      <UserInfo>
        <DisplayName>Frankie Daily</DisplayName>
        <AccountId>36</AccountId>
        <AccountType/>
      </UserInfo>
      <UserInfo>
        <DisplayName>Praxis Staff Members</DisplayName>
        <AccountId>20</AccountId>
        <AccountType/>
      </UserInfo>
      <UserInfo>
        <DisplayName>Christof Jensen-C</DisplayName>
        <AccountId>390</AccountId>
        <AccountType/>
      </UserInfo>
    </SharedWithUsers>
    <lcf76f155ced4ddcb4097134ff3c332f xmlns="b22231e1-ad81-41ce-a936-1d316c1a9226">
      <Terms xmlns="http://schemas.microsoft.com/office/infopath/2007/PartnerControls"/>
    </lcf76f155ced4ddcb4097134ff3c332f>
    <TaxCatchAll xmlns="548d7fdb-6286-40ec-94b0-271eb0ccc112" xsi:nil="true"/>
    <_Flow_SignoffStatus xmlns="b22231e1-ad81-41ce-a936-1d316c1a9226" xsi:nil="true"/>
    <IconOverlay xmlns="http://schemas.microsoft.com/sharepoint/v4" xsi:nil="true"/>
    <_dlc_DocId xmlns="548d7fdb-6286-40ec-94b0-271eb0ccc112">354KEFY5HKFH-104985353-2013659</_dlc_DocId>
    <_dlc_DocIdUrl xmlns="548d7fdb-6286-40ec-94b0-271eb0ccc112">
      <Url>https://praxismedicines.sharepoint.com/sites/Clinical_Development_Operations/_layouts/15/DocIdRedir.aspx?ID=354KEFY5HKFH-104985353-2013659</Url>
      <Description>354KEFY5HKFH-104985353-2013659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AA65768B5C6442A410DA30C823C2FF" ma:contentTypeVersion="21" ma:contentTypeDescription="Create a new document." ma:contentTypeScope="" ma:versionID="f0b4f819833b10dc50d0731b5d85fbd3">
  <xsd:schema xmlns:xsd="http://www.w3.org/2001/XMLSchema" xmlns:xs="http://www.w3.org/2001/XMLSchema" xmlns:p="http://schemas.microsoft.com/office/2006/metadata/properties" xmlns:ns2="548d7fdb-6286-40ec-94b0-271eb0ccc112" xmlns:ns3="b22231e1-ad81-41ce-a936-1d316c1a9226" xmlns:ns4="http://schemas.microsoft.com/sharepoint/v4" targetNamespace="http://schemas.microsoft.com/office/2006/metadata/properties" ma:root="true" ma:fieldsID="efec3ff584e881823ae63a0bd1641058" ns2:_="" ns3:_="" ns4:_="">
    <xsd:import namespace="548d7fdb-6286-40ec-94b0-271eb0ccc112"/>
    <xsd:import namespace="b22231e1-ad81-41ce-a936-1d316c1a9226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4:IconOverlay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8d7fdb-6286-40ec-94b0-271eb0ccc112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2de9baaf-394c-452b-a9f4-f497353b0ddf}" ma:internalName="TaxCatchAll" ma:showField="CatchAllData" ma:web="548d7fdb-6286-40ec-94b0-271eb0ccc11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2231e1-ad81-41ce-a936-1d316c1a92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36bce00c-de34-4ebd-95f0-65c8c386e3d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28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C1433B-F5EB-4972-B87B-F53E43434B71}">
  <ds:schemaRefs>
    <ds:schemaRef ds:uri="http://schemas.openxmlformats.org/package/2006/metadata/core-properties"/>
    <ds:schemaRef ds:uri="http://purl.org/dc/elements/1.1/"/>
    <ds:schemaRef ds:uri="b22231e1-ad81-41ce-a936-1d316c1a9226"/>
    <ds:schemaRef ds:uri="http://schemas.microsoft.com/office/2006/documentManagement/types"/>
    <ds:schemaRef ds:uri="548d7fdb-6286-40ec-94b0-271eb0ccc112"/>
    <ds:schemaRef ds:uri="http://schemas.microsoft.com/office/infopath/2007/PartnerControls"/>
    <ds:schemaRef ds:uri="http://purl.org/dc/dcmitype/"/>
    <ds:schemaRef ds:uri="http://purl.org/dc/terms/"/>
    <ds:schemaRef ds:uri="http://schemas.microsoft.com/sharepoint/v4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8350773-9CEB-46CB-BE04-31D5FDC4D80F}">
  <ds:schemaRefs>
    <ds:schemaRef ds:uri="548d7fdb-6286-40ec-94b0-271eb0ccc112"/>
    <ds:schemaRef ds:uri="b22231e1-ad81-41ce-a936-1d316c1a922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4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5883CA3-5DB4-4BD1-AD83-F3C60B579C6B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5195A75A-E0EC-414D-8BCD-E7342AF3098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226</TotalTime>
  <Words>2360</Words>
  <Application>Microsoft Office PowerPoint</Application>
  <PresentationFormat>Widescreen</PresentationFormat>
  <Paragraphs>408</Paragraphs>
  <Slides>28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7" baseType="lpstr">
      <vt:lpstr>.AppleSystemUIFont</vt:lpstr>
      <vt:lpstr>Arial</vt:lpstr>
      <vt:lpstr>Calibri</vt:lpstr>
      <vt:lpstr>Montserrat</vt:lpstr>
      <vt:lpstr>Montserrat Light</vt:lpstr>
      <vt:lpstr>Roboto</vt:lpstr>
      <vt:lpstr>Roboto Black</vt:lpstr>
      <vt:lpstr>Roboto Condensed</vt:lpstr>
      <vt:lpstr>Roboto Light</vt:lpstr>
      <vt:lpstr>Tahoma</vt:lpstr>
      <vt:lpstr>Times New Roman</vt:lpstr>
      <vt:lpstr>Tw Cen MT</vt:lpstr>
      <vt:lpstr>Tw Cen MT Condensed</vt:lpstr>
      <vt:lpstr>Verdana</vt:lpstr>
      <vt:lpstr>Wingdings</vt:lpstr>
      <vt:lpstr>1_Office Theme</vt:lpstr>
      <vt:lpstr>Praxis</vt:lpstr>
      <vt:lpstr>2_Office Theme</vt:lpstr>
      <vt:lpstr>think-cell Slide</vt:lpstr>
      <vt:lpstr>PowerPoint Presentation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Do We Need PopPK Models?</vt:lpstr>
      <vt:lpstr>Modeling Steps</vt:lpstr>
      <vt:lpstr>Data Gathering and Dataset Construction</vt:lpstr>
      <vt:lpstr>Compartmental Modeling</vt:lpstr>
      <vt:lpstr>Covariate Modeling</vt:lpstr>
      <vt:lpstr>Simulation Based on a PopPK Model</vt:lpstr>
      <vt:lpstr>Useful Outputs</vt:lpstr>
      <vt:lpstr>PowerPoint Presentation</vt:lpstr>
      <vt:lpstr>Exploratory Data Analysis</vt:lpstr>
      <vt:lpstr>Model Structure</vt:lpstr>
      <vt:lpstr>Estimated Population PK model Parameters</vt:lpstr>
      <vt:lpstr>PRAX-XXX-105 (hAME) Study Goodness-of-fit: Individual fits</vt:lpstr>
      <vt:lpstr>Goodness-of-fit: Observation vs Predictions  (PRAX-XXX-105 hAME Study)</vt:lpstr>
      <vt:lpstr> Ph1 Study M12 Goodness-of-fit: Individual fits</vt:lpstr>
      <vt:lpstr>Goodness-of-fit: Visual Predictive Check (VPC) </vt:lpstr>
      <vt:lpstr>Model-predicted Typical Conc vs Time Profile (90 mg QD)</vt:lpstr>
      <vt:lpstr>M12: Model-predicted Ph1 Pediatric 1mg/kg/day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Corey Blair</dc:creator>
  <cp:lastModifiedBy>Tairan Yang</cp:lastModifiedBy>
  <cp:revision>37</cp:revision>
  <cp:lastPrinted>2024-12-04T04:29:46Z</cp:lastPrinted>
  <dcterms:created xsi:type="dcterms:W3CDTF">2022-11-29T18:19:29Z</dcterms:created>
  <dcterms:modified xsi:type="dcterms:W3CDTF">2026-07-29T23:12:54Z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_dlc_DocIdItemGuid">
    <vt:lpwstr>f2f8db9a-8f7d-445c-bad2-3fcfaf98c4cf</vt:lpwstr>
  </property>
  <property fmtid="{D5CDD505-2E9C-101B-9397-08002B2CF9AE}" pid="4" name="ContentTypeId">
    <vt:lpwstr>0x0101003FAA65768B5C6442A410DA30C823C2FF</vt:lpwstr>
  </property>
</Properties>
</file>