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3"/>
  </p:notesMasterIdLst>
  <p:sldIdLst>
    <p:sldId id="256" r:id="rId5"/>
    <p:sldId id="259" r:id="rId6"/>
    <p:sldId id="263" r:id="rId7"/>
    <p:sldId id="264" r:id="rId8"/>
    <p:sldId id="265" r:id="rId9"/>
    <p:sldId id="261" r:id="rId10"/>
    <p:sldId id="260" r:id="rId11"/>
    <p:sldId id="266" r:id="rId12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253746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253746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253746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253746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253746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253746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253746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253746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253746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B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8471D9-89D9-4317-A45D-61094CAE1A13}" v="24" dt="2026-02-17T10:07:34.516"/>
    <p1510:client id="{D87DA1B1-CB5A-F074-2750-DEE7E3033881}" v="3" dt="2026-02-17T10:36:52.609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512" y="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38" name="Shape 13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Neurons-GettyImages-2226650668.jpg" descr="Neurons-GettyImages-222665066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AUTHOR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1342" y="10403303"/>
            <a:ext cx="12001579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2500" b="1" cap="all">
                <a:solidFill>
                  <a:srgbClr val="41B6E6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t>Author and Date</a:t>
            </a:r>
          </a:p>
        </p:txBody>
      </p:sp>
      <p:sp>
        <p:nvSpPr>
          <p:cNvPr id="16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3556000"/>
            <a:ext cx="15190990" cy="4648200"/>
          </a:xfrm>
          <a:prstGeom prst="rect">
            <a:avLst/>
          </a:prstGeom>
        </p:spPr>
        <p:txBody>
          <a:bodyPr anchor="b"/>
          <a:lstStyle>
            <a:lvl1pPr>
              <a:defRPr sz="11600" spc="-232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dirty="0"/>
              <a:t>Presentation Title</a:t>
            </a:r>
          </a:p>
        </p:txBody>
      </p:sp>
      <p:sp>
        <p:nvSpPr>
          <p:cNvPr id="17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8204200"/>
            <a:ext cx="10634096" cy="1905000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solidFill>
                  <a:srgbClr val="FFFFFF"/>
                </a:solidFill>
                <a:latin typeface="Helvetica" panose="020B0604020202020204" pitchFamily="34" charset="0"/>
                <a:ea typeface="Helvetica" panose="020B0604020202020204" pitchFamily="34" charset="0"/>
                <a:cs typeface="Helvetica" panose="020B0604020202020204" pitchFamily="34" charset="0"/>
                <a:sym typeface="Helvetica Neue Light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solidFill>
                  <a:srgbClr val="FFFFFF"/>
                </a:solidFill>
                <a:latin typeface="Helvetica" panose="020B0604020202020204" pitchFamily="34" charset="0"/>
                <a:ea typeface="Helvetica" panose="020B0604020202020204" pitchFamily="34" charset="0"/>
                <a:cs typeface="Helvetica" panose="020B0604020202020204" pitchFamily="34" charset="0"/>
                <a:sym typeface="Helvetica Neue Light"/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solidFill>
                  <a:srgbClr val="FFFFFF"/>
                </a:solidFill>
                <a:latin typeface="Helvetica" panose="020B0604020202020204" pitchFamily="34" charset="0"/>
                <a:ea typeface="Helvetica" panose="020B0604020202020204" pitchFamily="34" charset="0"/>
                <a:cs typeface="Helvetica" panose="020B0604020202020204" pitchFamily="34" charset="0"/>
                <a:sym typeface="Helvetica Neue Light"/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solidFill>
                  <a:srgbClr val="FFFFFF"/>
                </a:solidFill>
                <a:latin typeface="Helvetica" panose="020B0604020202020204" pitchFamily="34" charset="0"/>
                <a:ea typeface="Helvetica" panose="020B0604020202020204" pitchFamily="34" charset="0"/>
                <a:cs typeface="Helvetica" panose="020B0604020202020204" pitchFamily="34" charset="0"/>
                <a:sym typeface="Helvetica Neue Light"/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solidFill>
                  <a:srgbClr val="FFFFFF"/>
                </a:solidFill>
                <a:latin typeface="Helvetica" panose="020B0604020202020204" pitchFamily="34" charset="0"/>
                <a:ea typeface="Helvetica" panose="020B0604020202020204" pitchFamily="34" charset="0"/>
                <a:cs typeface="Helvetica" panose="020B0604020202020204" pitchFamily="34" charset="0"/>
                <a:sym typeface="Helvetica Neue Light"/>
              </a:defRPr>
            </a:lvl5pPr>
          </a:lstStyle>
          <a:p>
            <a:r>
              <a:rPr dirty="0"/>
              <a:t>Presentation Subtitle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18" name="DATE"/>
          <p:cNvSpPr txBox="1"/>
          <p:nvPr/>
        </p:nvSpPr>
        <p:spPr>
          <a:xfrm>
            <a:off x="17738900" y="11859862"/>
            <a:ext cx="5583815" cy="636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>
            <a:lvl1pPr algn="r" defTabSz="825500">
              <a:lnSpc>
                <a:spcPct val="100000"/>
              </a:lnSpc>
              <a:spcBef>
                <a:spcPts val="0"/>
              </a:spcBef>
              <a:defRPr sz="2500" b="1" cap="all"/>
            </a:lvl1pPr>
          </a:lstStyle>
          <a:p>
            <a:r>
              <a:rPr>
                <a:latin typeface="Helvetica" panose="020B0604020202020204" pitchFamily="34" charset="0"/>
                <a:cs typeface="Helvetica" panose="020B0604020202020204" pitchFamily="34" charset="0"/>
              </a:rPr>
              <a:t>DATE</a:t>
            </a:r>
          </a:p>
        </p:txBody>
      </p:sp>
      <p:pic>
        <p:nvPicPr>
          <p:cNvPr id="19" name="Image" descr="Image"/>
          <p:cNvPicPr>
            <a:picLocks noChangeAspect="1"/>
          </p:cNvPicPr>
          <p:nvPr/>
        </p:nvPicPr>
        <p:blipFill>
          <a:blip r:embed="rId3"/>
          <a:srcRect r="519"/>
          <a:stretch>
            <a:fillRect/>
          </a:stretch>
        </p:blipFill>
        <p:spPr>
          <a:xfrm>
            <a:off x="1156592" y="1158636"/>
            <a:ext cx="6983068" cy="1283311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93391" y="13076008"/>
            <a:ext cx="384721" cy="37959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  <a:sym typeface="Helvetica Neue"/>
              </a:defRPr>
            </a:lvl1pPr>
          </a:lstStyle>
          <a:p>
            <a:fld id="{86CB4B4D-7CA3-9044-876B-883B54F8677D}" type="slidenum">
              <a:rPr lang="en-CA" smtClean="0"/>
              <a:pPr/>
              <a:t>‹#›</a:t>
            </a:fld>
            <a:endParaRPr lang="en-CA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dirty="0"/>
              <a:t>Slide Title</a:t>
            </a:r>
          </a:p>
        </p:txBody>
      </p:sp>
      <p:sp>
        <p:nvSpPr>
          <p:cNvPr id="53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solidFill>
                  <a:srgbClr val="41B6E6"/>
                </a:solidFill>
                <a:latin typeface="Helvetica" panose="020B0604020202020204" pitchFamily="34" charset="0"/>
                <a:ea typeface="Helvetica" panose="020B0604020202020204" pitchFamily="34" charset="0"/>
                <a:cs typeface="Helvetica" panose="020B0604020202020204" pitchFamily="34" charset="0"/>
                <a:sym typeface="Helvetica Neue Light"/>
              </a:defRPr>
            </a:lvl1pPr>
          </a:lstStyle>
          <a:p>
            <a:r>
              <a:rPr dirty="0"/>
              <a:t>Slide Subtitle</a:t>
            </a:r>
          </a:p>
        </p:txBody>
      </p:sp>
      <p:sp>
        <p:nvSpPr>
          <p:cNvPr id="54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5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Neurons-GettyImages-2226650668.jpg" descr="Neurons-GettyImages-2226650668.jpg"/>
          <p:cNvPicPr>
            <a:picLocks noChangeAspect="1"/>
          </p:cNvPicPr>
          <p:nvPr/>
        </p:nvPicPr>
        <p:blipFill>
          <a:blip r:embed="rId4">
            <a:alphaModFix amt="5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Title</a:t>
            </a:r>
          </a:p>
        </p:txBody>
      </p:sp>
      <p:sp>
        <p:nvSpPr>
          <p:cNvPr id="4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pic>
        <p:nvPicPr>
          <p:cNvPr id="5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124" y="12410120"/>
            <a:ext cx="2287128" cy="683438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Line"/>
          <p:cNvSpPr/>
          <p:nvPr/>
        </p:nvSpPr>
        <p:spPr>
          <a:xfrm>
            <a:off x="3323343" y="12751839"/>
            <a:ext cx="19507749" cy="1"/>
          </a:xfrm>
          <a:prstGeom prst="line">
            <a:avLst/>
          </a:prstGeom>
          <a:ln w="19050">
            <a:solidFill>
              <a:srgbClr val="41B6E6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264183" y="12558295"/>
            <a:ext cx="368504" cy="38707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0F5793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2" r:id="rId2"/>
  </p:sldLayoutIdLst>
  <p:transition spd="med"/>
  <p:txStyles>
    <p:titleStyle>
      <a:lvl1pPr marL="0" marR="0" indent="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253746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253746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253746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253746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253746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253746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253746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253746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253746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253746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253746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253746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253746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253746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253746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253746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253746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253746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457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9144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1371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1828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22860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2743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32004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3657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Medium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resentation 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sz="8000" dirty="0"/>
              <a:t>CYB003-101 Study PKPD Analyses: BP and Hallucination</a:t>
            </a:r>
            <a:endParaRPr sz="8000" dirty="0"/>
          </a:p>
        </p:txBody>
      </p:sp>
      <p:sp>
        <p:nvSpPr>
          <p:cNvPr id="142" name="Presentation Subtitle"/>
          <p:cNvSpPr txBox="1">
            <a:spLocks noGrp="1"/>
          </p:cNvSpPr>
          <p:nvPr>
            <p:ph type="subTitle" sz="quarter" idx="1"/>
          </p:nvPr>
        </p:nvSpPr>
        <p:spPr>
          <a:xfrm>
            <a:off x="1201342" y="8793747"/>
            <a:ext cx="10634096" cy="190500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sz="3600" dirty="0"/>
              <a:t>Tairan Yang</a:t>
            </a:r>
          </a:p>
          <a:p>
            <a:r>
              <a:rPr lang="en-US" sz="3600" dirty="0"/>
              <a:t>Aug 18, 2026</a:t>
            </a:r>
            <a:endParaRPr sz="3600" dirty="0"/>
          </a:p>
        </p:txBody>
      </p:sp>
      <p:sp>
        <p:nvSpPr>
          <p:cNvPr id="2" name="Subtitle here">
            <a:extLst>
              <a:ext uri="{FF2B5EF4-FFF2-40B4-BE49-F238E27FC236}">
                <a16:creationId xmlns:a16="http://schemas.microsoft.com/office/drawing/2014/main" id="{86FBFF49-8906-3FD7-B416-AEC9ABC312B5}"/>
              </a:ext>
            </a:extLst>
          </p:cNvPr>
          <p:cNvSpPr txBox="1">
            <a:spLocks/>
          </p:cNvSpPr>
          <p:nvPr/>
        </p:nvSpPr>
        <p:spPr>
          <a:xfrm>
            <a:off x="1201342" y="11899900"/>
            <a:ext cx="7866458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tIns="45719" rIns="45719" bIns="45719" anchor="t">
            <a:normAutofit/>
          </a:bodyPr>
          <a:lstStyle>
            <a:lvl1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all" spc="0" baseline="0">
                <a:solidFill>
                  <a:srgbClr val="41B6E6"/>
                </a:solidFill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  <a:sym typeface="Helvetica Neue"/>
              </a:defRPr>
            </a:lvl1pPr>
            <a:lvl2pPr marL="12192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253746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18288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253746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24384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253746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30480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253746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36576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253746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253746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253746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253746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r>
              <a:rPr lang="en-US" sz="3200" b="0" dirty="0">
                <a:solidFill>
                  <a:schemeClr val="bg1"/>
                </a:solidFill>
                <a:latin typeface="Helvetica"/>
                <a:cs typeface="Helvetica"/>
              </a:rPr>
              <a:t>NASDAQ: HELP  |  </a:t>
            </a:r>
            <a:r>
              <a:rPr lang="en-US" sz="3200" b="0" dirty="0" err="1">
                <a:solidFill>
                  <a:schemeClr val="bg1"/>
                </a:solidFill>
                <a:latin typeface="Helvetica"/>
                <a:cs typeface="Helvetica"/>
              </a:rPr>
              <a:t>Cboe</a:t>
            </a:r>
            <a:r>
              <a:rPr lang="en-US" sz="3200" b="0" dirty="0">
                <a:solidFill>
                  <a:schemeClr val="bg1"/>
                </a:solidFill>
                <a:latin typeface="Helvetica"/>
                <a:cs typeface="Helvetica"/>
              </a:rPr>
              <a:t> CA: HELP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Slide 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sz="6000" dirty="0"/>
              <a:t>CYB003 Blood-Pressure Exposure–Response: BP vs </a:t>
            </a:r>
            <a:r>
              <a:rPr lang="en-US" sz="6000" dirty="0" err="1"/>
              <a:t>C</a:t>
            </a:r>
            <a:r>
              <a:rPr lang="en-US" sz="6000" baseline="-25000" dirty="0" err="1"/>
              <a:t>max</a:t>
            </a:r>
            <a:endParaRPr sz="6000" baseline="-25000" dirty="0"/>
          </a:p>
        </p:txBody>
      </p:sp>
      <p:sp>
        <p:nvSpPr>
          <p:cNvPr id="155" name="Slide bullet text"/>
          <p:cNvSpPr txBox="1">
            <a:spLocks noGrp="1"/>
          </p:cNvSpPr>
          <p:nvPr>
            <p:ph type="body" idx="1"/>
          </p:nvPr>
        </p:nvSpPr>
        <p:spPr>
          <a:xfrm>
            <a:off x="15328232" y="5413242"/>
            <a:ext cx="7849268" cy="3790917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sz="3600" dirty="0"/>
              <a:t>Individual peak and mean day 1 corrected SSBP and DBP vs individual </a:t>
            </a:r>
            <a:r>
              <a:rPr lang="en-US" sz="3600" dirty="0" err="1"/>
              <a:t>Cmax</a:t>
            </a:r>
            <a:r>
              <a:rPr lang="en-US" sz="3600" dirty="0"/>
              <a:t> (between-subject) relationship is flat and non-significant (slightly negative for SBP, slightly positive for DBP)</a:t>
            </a:r>
            <a:endParaRPr sz="3600" dirty="0"/>
          </a:p>
        </p:txBody>
      </p:sp>
      <p:sp>
        <p:nvSpPr>
          <p:cNvPr id="15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327734" y="12558295"/>
            <a:ext cx="241403" cy="38707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</a:t>
            </a:fld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51EB5D-F224-2826-EA81-3E10719C95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6496" y="2309094"/>
            <a:ext cx="13245343" cy="909781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5F2D5B9-DBD3-E6BC-105F-63667B8C141F}"/>
              </a:ext>
            </a:extLst>
          </p:cNvPr>
          <p:cNvSpPr txBox="1"/>
          <p:nvPr/>
        </p:nvSpPr>
        <p:spPr>
          <a:xfrm>
            <a:off x="1206497" y="11510060"/>
            <a:ext cx="13245343" cy="7571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dirty="0"/>
              <a:t>Figure 1. Subject-level ΔΔ (peak and mean) vs individual </a:t>
            </a:r>
            <a:r>
              <a:rPr lang="en-US" sz="2400" dirty="0" err="1"/>
              <a:t>Cmax</a:t>
            </a:r>
            <a:r>
              <a:rPr lang="en-US" sz="2400" dirty="0"/>
              <a:t> (between-subject). No significant gradient for either endpoint; SBP slightly negative, DBP slightly positive.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B68A0-30FC-EF5E-B154-6609651EB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Slide Title">
            <a:extLst>
              <a:ext uri="{FF2B5EF4-FFF2-40B4-BE49-F238E27FC236}">
                <a16:creationId xmlns:a16="http://schemas.microsoft.com/office/drawing/2014/main" id="{9CAD4FC7-6651-D150-EFFA-C6279DF45E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sz="6000" dirty="0"/>
              <a:t>CYB003 Blood-Pressure Concentration–Response</a:t>
            </a:r>
            <a:endParaRPr sz="6000" baseline="-25000" dirty="0"/>
          </a:p>
        </p:txBody>
      </p:sp>
      <p:sp>
        <p:nvSpPr>
          <p:cNvPr id="155" name="Slide bullet text">
            <a:extLst>
              <a:ext uri="{FF2B5EF4-FFF2-40B4-BE49-F238E27FC236}">
                <a16:creationId xmlns:a16="http://schemas.microsoft.com/office/drawing/2014/main" id="{DC0BF091-7347-8736-94FB-46E6D49F9F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06496" y="11049906"/>
            <a:ext cx="21052407" cy="3790917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sz="3600" dirty="0"/>
              <a:t>Against the time-matched CYB003 concentration (within-subject), ΔΔSBP and ΔΔDBP rise steeply and significantly with drug concentration</a:t>
            </a:r>
            <a:endParaRPr sz="3600" dirty="0"/>
          </a:p>
        </p:txBody>
      </p:sp>
      <p:sp>
        <p:nvSpPr>
          <p:cNvPr id="156" name="Slide Number">
            <a:extLst>
              <a:ext uri="{FF2B5EF4-FFF2-40B4-BE49-F238E27FC236}">
                <a16:creationId xmlns:a16="http://schemas.microsoft.com/office/drawing/2014/main" id="{CD1971A1-5578-1FA9-56E1-4D43FB378154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23327734" y="12558295"/>
            <a:ext cx="241403" cy="38707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rgbClr val="0F5793"/>
                </a:solidFill>
                <a:effectLst/>
                <a:uLnTx/>
                <a:uFillTx/>
                <a:latin typeface="Helvetica Neue Medium"/>
                <a:sym typeface="Helvetica Neue Medium"/>
              </a:rPr>
              <a:pPr marL="0" marR="0" lvl="0" indent="0" algn="ctr" defTabSz="584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F5793"/>
              </a:solidFill>
              <a:effectLst/>
              <a:uLnTx/>
              <a:uFillTx/>
              <a:latin typeface="Helvetica Neue Medium"/>
              <a:sym typeface="Helvetica Neue Medium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FFBB53-E780-347A-091D-08B1898E464B}"/>
              </a:ext>
            </a:extLst>
          </p:cNvPr>
          <p:cNvSpPr txBox="1"/>
          <p:nvPr/>
        </p:nvSpPr>
        <p:spPr>
          <a:xfrm>
            <a:off x="1495255" y="10171533"/>
            <a:ext cx="20763649" cy="7571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lvl="0" indent="0" algn="l" defTabSz="2438338" rtl="0" eaLnBrk="1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253746"/>
                </a:solidFill>
                <a:effectLst/>
                <a:uLnTx/>
                <a:uFillTx/>
                <a:latin typeface="Helvetica Neue"/>
                <a:sym typeface="Helvetica Neue"/>
              </a:rPr>
              <a:t>Figure 2. ΔΔ SBP and DBP vs time-matched CYB003 concentration (within-subject). Green = reference-corrected fit; navy dashed = uncorrected single-Δ fit. The positive slope persists - and steepens for SBP - after Day-1 correction, so it is not circadian.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6381EB-4864-0E88-9383-8C3F6E770A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6497" y="2206799"/>
            <a:ext cx="21052407" cy="789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641283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0FA69-249B-6E7C-8585-DCE536434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600" dirty="0"/>
              <a:t>Two Analyses: Why the Trends are Opposite?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D8A4ED-A31D-E789-EB01-C8560E3960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44962" y="10305132"/>
            <a:ext cx="19718313" cy="1796410"/>
          </a:xfrm>
        </p:spPr>
        <p:txBody>
          <a:bodyPr>
            <a:normAutofit fontScale="62500" lnSpcReduction="20000"/>
          </a:bodyPr>
          <a:lstStyle/>
          <a:p>
            <a:r>
              <a:rPr lang="en-US" sz="5100" dirty="0"/>
              <a:t>Within-subject SBP data show 31/33 individual patients exhibit strong day 1 corrected SBP increase with CYB003 concentration</a:t>
            </a:r>
          </a:p>
          <a:p>
            <a:r>
              <a:rPr lang="en-US" sz="5100" dirty="0"/>
              <a:t>Between-subject SBP data show flat day 1 corrected SBP increase with individual CYB003 </a:t>
            </a:r>
            <a:r>
              <a:rPr lang="en-US" sz="5100" dirty="0" err="1"/>
              <a:t>Cmax</a:t>
            </a:r>
            <a:endParaRPr lang="en-US" sz="5100" dirty="0"/>
          </a:p>
          <a:p>
            <a:endParaRPr lang="en-US" sz="3200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3DA0A4-16FD-E2F5-5287-B30F184E23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4962" y="2377441"/>
            <a:ext cx="19483711" cy="7468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353708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1A78D-A3FB-ECFE-DC02-4EA4164A0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/>
              <a:t>Conclusions and Key Takeaways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74AA4D-3C79-9522-5C70-D34C64F628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72737" y="2512663"/>
            <a:ext cx="10985500" cy="9378242"/>
          </a:xfrm>
        </p:spPr>
        <p:txBody>
          <a:bodyPr>
            <a:normAutofit/>
          </a:bodyPr>
          <a:lstStyle/>
          <a:p>
            <a:r>
              <a:rPr lang="en-US" dirty="0"/>
              <a:t>CYB003 produces a real, transient, concentration-linked increase in blood pressure: BP rises and falls with drug concentration, reproducibly across nearly all participants. </a:t>
            </a:r>
          </a:p>
          <a:p>
            <a:r>
              <a:rPr lang="en-US" dirty="0"/>
              <a:t>Magnitude at 16 mg: ≈ +20/+11 mmHg (SBP/DBP) at peak concentration, transient (peak ~2 h, resolving by 8–12 h).</a:t>
            </a:r>
          </a:p>
          <a:p>
            <a:r>
              <a:rPr lang="en-US" dirty="0"/>
              <a:t>Peak exposure (</a:t>
            </a:r>
            <a:r>
              <a:rPr lang="en-US" dirty="0" err="1"/>
              <a:t>Cmax</a:t>
            </a:r>
            <a:r>
              <a:rPr lang="en-US" dirty="0"/>
              <a:t>) does not identify who responds most over this narrow single-dose range 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BBE114D3-7310-46B8-A4A4-07E600EF8EAA}"/>
              </a:ext>
            </a:extLst>
          </p:cNvPr>
          <p:cNvSpPr txBox="1">
            <a:spLocks/>
          </p:cNvSpPr>
          <p:nvPr/>
        </p:nvSpPr>
        <p:spPr>
          <a:xfrm>
            <a:off x="925763" y="2512663"/>
            <a:ext cx="11266237" cy="93782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 fontScale="92500" lnSpcReduction="20000"/>
          </a:bodyPr>
          <a:lstStyle>
            <a:lvl1pPr marL="6096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253746"/>
                </a:solidFill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  <a:sym typeface="Helvetica Neue"/>
              </a:defRPr>
            </a:lvl1pPr>
            <a:lvl2pPr marL="12192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253746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18288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253746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24384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253746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30480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253746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36576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253746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253746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253746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253746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 hangingPunct="1">
              <a:buNone/>
            </a:pPr>
            <a:r>
              <a:rPr lang="en-US" dirty="0"/>
              <a:t>Three reasons the within-subject relationship is strong but the between-subject one is not:</a:t>
            </a:r>
          </a:p>
          <a:p>
            <a:pPr hangingPunct="1"/>
            <a:r>
              <a:rPr lang="en-US" b="1" dirty="0"/>
              <a:t>Exposure range:</a:t>
            </a:r>
            <a:r>
              <a:rPr lang="en-US" dirty="0"/>
              <a:t> within a participant, concentration goes from 0-43 ng/</a:t>
            </a:r>
            <a:r>
              <a:rPr lang="en-US" dirty="0" err="1"/>
              <a:t>mL.</a:t>
            </a:r>
            <a:r>
              <a:rPr lang="en-US" dirty="0"/>
              <a:t> Across participants, </a:t>
            </a:r>
            <a:r>
              <a:rPr lang="en-US" dirty="0" err="1"/>
              <a:t>Cmax</a:t>
            </a:r>
            <a:r>
              <a:rPr lang="en-US" dirty="0"/>
              <a:t> spans only ~17–43 ng/mL (2.6-fold) at a single 16 mg dose - little between-subject range to detect a slope.</a:t>
            </a:r>
          </a:p>
          <a:p>
            <a:pPr hangingPunct="1"/>
            <a:r>
              <a:rPr lang="en-US" b="1" dirty="0"/>
              <a:t>Noise</a:t>
            </a:r>
            <a:r>
              <a:rPr lang="en-US" dirty="0"/>
              <a:t>: the within-subject normalizes baseline characteristics. The between-subject is dominated by interindividual differences</a:t>
            </a:r>
          </a:p>
          <a:p>
            <a:pPr hangingPunct="1"/>
            <a:r>
              <a:rPr lang="en-US" b="1" dirty="0"/>
              <a:t>Data richness</a:t>
            </a:r>
            <a:r>
              <a:rPr lang="en-US" dirty="0"/>
              <a:t>: a single </a:t>
            </a:r>
            <a:r>
              <a:rPr lang="en-US" dirty="0" err="1"/>
              <a:t>Cmax</a:t>
            </a:r>
            <a:r>
              <a:rPr lang="en-US" dirty="0"/>
              <a:t> value does not represent the time-integrated exposure each patient’s BP actually tracks</a:t>
            </a:r>
          </a:p>
          <a:p>
            <a:pPr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5166708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01848-13E4-445A-077F-0EDA48080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5400" dirty="0"/>
              <a:t>Hallucination Episodes Were Transient Following CYB003 Dosing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CF528D-E828-1D8F-5911-DCA1163269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377737" y="3491817"/>
            <a:ext cx="8390689" cy="8256012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Across 30 participants, 47 hallucination/perceptual episodes were reported following CYB003 administration.</a:t>
            </a:r>
          </a:p>
          <a:p>
            <a:r>
              <a:rPr lang="en-US" dirty="0"/>
              <a:t>Most events occurred within the first few hours after dosing and resolved on the same day.</a:t>
            </a:r>
          </a:p>
          <a:p>
            <a:r>
              <a:rPr lang="en-US" dirty="0"/>
              <a:t>The median duration of an individual episode was 4.8 hours.</a:t>
            </a:r>
          </a:p>
          <a:p>
            <a:r>
              <a:rPr lang="en-US" dirty="0"/>
              <a:t>Per-subject hallucination windows were generally limited to ~4-8 hours post-dose, with a small number extending longer.</a:t>
            </a:r>
          </a:p>
          <a:p>
            <a:r>
              <a:rPr lang="en-US" dirty="0"/>
              <a:t>Visual hallucinations were the most commonly reported event type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84272A-B112-52C5-906A-F08267DB6F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6500" y="2512663"/>
            <a:ext cx="12401216" cy="970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452839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A1647-6885-971B-E47C-F3157BA30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6700" dirty="0"/>
              <a:t>CYB003-Associated Hallucinations Were Time-Limited, With Median Resolution by ~6 Hours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805F5F-F780-3879-71E1-8B81754312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44011" y="3236495"/>
            <a:ext cx="7933488" cy="9268021"/>
          </a:xfrm>
        </p:spPr>
        <p:txBody>
          <a:bodyPr>
            <a:normAutofit/>
          </a:bodyPr>
          <a:lstStyle/>
          <a:p>
            <a:r>
              <a:rPr lang="en-US" sz="3600" dirty="0"/>
              <a:t>Onset was early post-dose, with most hallucination events beginning around ~1 hour after CYB003 dosing.</a:t>
            </a:r>
          </a:p>
          <a:p>
            <a:r>
              <a:rPr lang="en-US" sz="3600" dirty="0"/>
              <a:t>Episodes were transient, with median duration approximately 4.8 hours.</a:t>
            </a:r>
          </a:p>
          <a:p>
            <a:r>
              <a:rPr lang="en-US" sz="3600" dirty="0"/>
              <a:t>Resolution typically occurred by ~6 hours post-dose, consistent with a time-limited post-dose effect.</a:t>
            </a:r>
          </a:p>
          <a:p>
            <a:r>
              <a:rPr lang="en-US" sz="3600" dirty="0"/>
              <a:t>Events were predominantly mild, with 43 mild episodes and 4 moderate episodes, with no significant duration difference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39C3C0-8A05-F69B-A3B1-D3BD7BB917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6500" y="2942934"/>
            <a:ext cx="13147174" cy="9561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155362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348B1-AE05-244E-415E-20A0639D7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6600" dirty="0"/>
              <a:t>Subject 01-033: Longest Visual Hallucination in the Study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79C914-7BDD-1BD2-8DE9-35AA491CA6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6500" y="3328360"/>
            <a:ext cx="12188952" cy="65007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E624109-0E83-8202-952E-1A857901DD94}"/>
              </a:ext>
            </a:extLst>
          </p:cNvPr>
          <p:cNvSpPr txBox="1"/>
          <p:nvPr/>
        </p:nvSpPr>
        <p:spPr>
          <a:xfrm>
            <a:off x="13395452" y="2512663"/>
            <a:ext cx="10465816" cy="93810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Subject: 55 y White male, healthy volunteer; 63.1 kg, BMI 21.2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Event: Longest visual hallucination in study -~10.7 h (onset 0.6 h, resolved 11.3 h post-dose); mild, drug-related, resolved same day, no treatment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Also: Mild euphoric mood (~1.9–3.9 h post-dose), overlapping the peak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Exposure: </a:t>
            </a:r>
            <a:r>
              <a:rPr lang="en-US" sz="3600" dirty="0" err="1"/>
              <a:t>Cmax</a:t>
            </a:r>
            <a:r>
              <a:rPr lang="en-US" sz="3600" dirty="0"/>
              <a:t> 26.8 ng/mL (≈ study average) but late </a:t>
            </a:r>
            <a:r>
              <a:rPr lang="en-US" sz="3600" dirty="0" err="1"/>
              <a:t>Tmax</a:t>
            </a:r>
            <a:r>
              <a:rPr lang="en-US" sz="3600" dirty="0"/>
              <a:t> 4 h, long t½ 5.9 h → delayed, sustained exposure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Blood pressure: Transient rise tracking drug concentration - SBP +28 mmHg (peak 146 at 4 h), DBP +11; back to/below baseline by 24 h</a:t>
            </a:r>
          </a:p>
        </p:txBody>
      </p:sp>
    </p:spTree>
    <p:extLst>
      <p:ext uri="{BB962C8B-B14F-4D97-AF65-F5344CB8AC3E}">
        <p14:creationId xmlns:p14="http://schemas.microsoft.com/office/powerpoint/2010/main" val="1992633336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253746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253746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253746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696679f-3037-4848-b30b-2f1e1974b63b">
      <Terms xmlns="http://schemas.microsoft.com/office/infopath/2007/PartnerControls"/>
    </lcf76f155ced4ddcb4097134ff3c332f>
    <TaxCatchAll xmlns="49d4e230-cd4d-48af-adc7-fa24bd8e7671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BFA676D878FB40934C15FCCB3415CA" ma:contentTypeVersion="17" ma:contentTypeDescription="Create a new document." ma:contentTypeScope="" ma:versionID="71737acb0db350579df77be81ea5de62">
  <xsd:schema xmlns:xsd="http://www.w3.org/2001/XMLSchema" xmlns:xs="http://www.w3.org/2001/XMLSchema" xmlns:p="http://schemas.microsoft.com/office/2006/metadata/properties" xmlns:ns2="2696679f-3037-4848-b30b-2f1e1974b63b" xmlns:ns3="49d4e230-cd4d-48af-adc7-fa24bd8e7671" targetNamespace="http://schemas.microsoft.com/office/2006/metadata/properties" ma:root="true" ma:fieldsID="83afc5360d741a8b904cd1599f00d80a" ns2:_="" ns3:_="">
    <xsd:import namespace="2696679f-3037-4848-b30b-2f1e1974b63b"/>
    <xsd:import namespace="49d4e230-cd4d-48af-adc7-fa24bd8e767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96679f-3037-4848-b30b-2f1e1974b63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39d418fa-cd13-4954-8d84-690dd7a1ef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d4e230-cd4d-48af-adc7-fa24bd8e7671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7e2df3f6-27b3-497b-8163-73b7daa3db2e}" ma:internalName="TaxCatchAll" ma:showField="CatchAllData" ma:web="49d4e230-cd4d-48af-adc7-fa24bd8e767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220DD9F-A85A-4FDC-ACC5-8F89D7E6E2E8}">
  <ds:schemaRefs>
    <ds:schemaRef ds:uri="http://schemas.microsoft.com/office/2006/metadata/properties"/>
    <ds:schemaRef ds:uri="http://schemas.microsoft.com/office/infopath/2007/PartnerControls"/>
    <ds:schemaRef ds:uri="2696679f-3037-4848-b30b-2f1e1974b63b"/>
    <ds:schemaRef ds:uri="49d4e230-cd4d-48af-adc7-fa24bd8e7671"/>
  </ds:schemaRefs>
</ds:datastoreItem>
</file>

<file path=customXml/itemProps2.xml><?xml version="1.0" encoding="utf-8"?>
<ds:datastoreItem xmlns:ds="http://schemas.openxmlformats.org/officeDocument/2006/customXml" ds:itemID="{FECC842A-60A6-4C94-8FAF-A6D8E1FC69D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696679f-3037-4848-b30b-2f1e1974b63b"/>
    <ds:schemaRef ds:uri="49d4e230-cd4d-48af-adc7-fa24bd8e767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57E4127-4626-47F3-8B68-4734069CC7B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656</Words>
  <Application>Microsoft Office PowerPoint</Application>
  <PresentationFormat>Custom</PresentationFormat>
  <Paragraphs>40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Helvetica</vt:lpstr>
      <vt:lpstr>Helvetica Neue</vt:lpstr>
      <vt:lpstr>Helvetica Neue Medium</vt:lpstr>
      <vt:lpstr>21_BasicWhite</vt:lpstr>
      <vt:lpstr>CYB003-101 Study PKPD Analyses: BP and Hallucination</vt:lpstr>
      <vt:lpstr>CYB003 Blood-Pressure Exposure–Response: BP vs Cmax</vt:lpstr>
      <vt:lpstr>CYB003 Blood-Pressure Concentration–Response</vt:lpstr>
      <vt:lpstr>Two Analyses: Why the Trends are Opposite?</vt:lpstr>
      <vt:lpstr>Conclusions and Key Takeaways</vt:lpstr>
      <vt:lpstr>Hallucination Episodes Were Transient Following CYB003 Dosing</vt:lpstr>
      <vt:lpstr>CYB003-Associated Hallucinations Were Time-Limited, With Median Resolution by ~6 Hours</vt:lpstr>
      <vt:lpstr>Subject 01-033: Longest Visual Hallucination in the Study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Tairan Yang</cp:lastModifiedBy>
  <cp:revision>7</cp:revision>
  <dcterms:modified xsi:type="dcterms:W3CDTF">2026-08-18T15:06:46Z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0x01010054BFA676D878FB40934C15FCCB3415CA</vt:lpwstr>
  </property>
  <property fmtid="{D5CDD505-2E9C-101B-9397-08002B2CF9AE}" pid="3" name="MediaServiceImageTags">
    <vt:lpwstr/>
  </property>
</Properties>
</file>