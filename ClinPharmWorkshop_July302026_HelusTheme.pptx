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85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8471D9-89D9-4317-A45D-61094CAE1A13}" v="24" dt="2026-02-17T10:07:34.516"/>
    <p1510:client id="{D87DA1B1-CB5A-F074-2750-DEE7E3033881}" v="3" dt="2026-02-17T10:36:52.60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8" name="Shape 13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Neurons-GettyImages-2226650668.jpg" descr="Neurons-GettyImages-22266506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AUTHOR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2" y="10403303"/>
            <a:ext cx="12001579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2500" b="1" cap="all">
                <a:solidFill>
                  <a:srgbClr val="41B6E6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t>Author and Date</a:t>
            </a:r>
          </a:p>
        </p:txBody>
      </p:sp>
      <p:sp>
        <p:nvSpPr>
          <p:cNvPr id="16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3556000"/>
            <a:ext cx="1519099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dirty="0"/>
              <a:t>Presentation Title</a:t>
            </a:r>
          </a:p>
        </p:txBody>
      </p:sp>
      <p:sp>
        <p:nvSpPr>
          <p:cNvPr id="1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8204200"/>
            <a:ext cx="10634096" cy="1905000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5pPr>
          </a:lstStyle>
          <a:p>
            <a:r>
              <a:rPr dirty="0"/>
              <a:t>Presentation Subtitle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18" name="DATE"/>
          <p:cNvSpPr txBox="1"/>
          <p:nvPr/>
        </p:nvSpPr>
        <p:spPr>
          <a:xfrm>
            <a:off x="17738900" y="11859862"/>
            <a:ext cx="5583815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r" defTabSz="825500">
              <a:lnSpc>
                <a:spcPct val="100000"/>
              </a:lnSpc>
              <a:spcBef>
                <a:spcPts val="0"/>
              </a:spcBef>
              <a:defRPr sz="2500" b="1" cap="all"/>
            </a:lvl1pPr>
          </a:lstStyle>
          <a:p>
            <a:r>
              <a:rPr>
                <a:latin typeface="Helvetica" panose="020B0604020202020204" pitchFamily="34" charset="0"/>
                <a:cs typeface="Helvetica" panose="020B0604020202020204" pitchFamily="34" charset="0"/>
              </a:rPr>
              <a:t>DATE</a:t>
            </a:r>
          </a:p>
        </p:txBody>
      </p:sp>
      <p:pic>
        <p:nvPicPr>
          <p:cNvPr id="19" name="Image" descr="Image"/>
          <p:cNvPicPr>
            <a:picLocks noChangeAspect="1"/>
          </p:cNvPicPr>
          <p:nvPr/>
        </p:nvPicPr>
        <p:blipFill>
          <a:blip r:embed="rId3"/>
          <a:srcRect r="519"/>
          <a:stretch>
            <a:fillRect/>
          </a:stretch>
        </p:blipFill>
        <p:spPr>
          <a:xfrm>
            <a:off x="1156592" y="1158636"/>
            <a:ext cx="6983068" cy="1283311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3391" y="13076008"/>
            <a:ext cx="384721" cy="3795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en-CA" smtClean="0"/>
              <a:pPr/>
              <a:t>‹#›</a:t>
            </a:fld>
            <a:endParaRPr lang="en-CA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">
    <p:bg>
      <p:bgPr>
        <a:solidFill>
          <a:srgbClr val="41B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Neurons-GettyImages-2226650668.jpg" descr="Neurons-GettyImages-2226650668.jpg"/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Body Level One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2" y="8204200"/>
            <a:ext cx="10634096" cy="1905000"/>
          </a:xfrm>
          <a:prstGeom prst="rect">
            <a:avLst/>
          </a:prstGeom>
        </p:spPr>
        <p:txBody>
          <a:bodyPr/>
          <a:lstStyle>
            <a:lvl1pPr marL="0" indent="0" defTabSz="346709">
              <a:lnSpc>
                <a:spcPct val="100000"/>
              </a:lnSpc>
              <a:spcBef>
                <a:spcPts val="0"/>
              </a:spcBef>
              <a:buSzTx/>
              <a:buNone/>
              <a:defRPr sz="2309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1pPr>
            <a:lvl2pPr marL="0" indent="192023" defTabSz="346709">
              <a:lnSpc>
                <a:spcPct val="100000"/>
              </a:lnSpc>
              <a:spcBef>
                <a:spcPts val="0"/>
              </a:spcBef>
              <a:buSzTx/>
              <a:buNone/>
              <a:defRPr sz="2309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2pPr>
            <a:lvl3pPr marL="0" indent="384047" defTabSz="346709">
              <a:lnSpc>
                <a:spcPct val="100000"/>
              </a:lnSpc>
              <a:spcBef>
                <a:spcPts val="0"/>
              </a:spcBef>
              <a:buSzTx/>
              <a:buNone/>
              <a:defRPr sz="2309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3pPr>
            <a:lvl4pPr marL="0" indent="576071" defTabSz="346709">
              <a:lnSpc>
                <a:spcPct val="100000"/>
              </a:lnSpc>
              <a:spcBef>
                <a:spcPts val="0"/>
              </a:spcBef>
              <a:buSzTx/>
              <a:buNone/>
              <a:defRPr sz="2309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4pPr>
            <a:lvl5pPr marL="0" indent="768095" defTabSz="346709">
              <a:lnSpc>
                <a:spcPct val="100000"/>
              </a:lnSpc>
              <a:spcBef>
                <a:spcPts val="0"/>
              </a:spcBef>
              <a:buSzTx/>
              <a:buNone/>
              <a:defRPr sz="2309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29" name="Section Title"/>
          <p:cNvSpPr txBox="1">
            <a:spLocks noGrp="1"/>
          </p:cNvSpPr>
          <p:nvPr>
            <p:ph type="body" sz="half" idx="22" hasCustomPrompt="1"/>
          </p:nvPr>
        </p:nvSpPr>
        <p:spPr>
          <a:xfrm>
            <a:off x="1206496" y="3556000"/>
            <a:ext cx="15190990" cy="46482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SzTx/>
              <a:buNone/>
              <a:defRPr sz="11600" b="1" spc="-232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24" y="12410120"/>
            <a:ext cx="2287128" cy="683438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Line"/>
          <p:cNvSpPr/>
          <p:nvPr/>
        </p:nvSpPr>
        <p:spPr>
          <a:xfrm>
            <a:off x="3323343" y="12751839"/>
            <a:ext cx="19507749" cy="1"/>
          </a:xfrm>
          <a:prstGeom prst="line">
            <a:avLst/>
          </a:prstGeom>
          <a:ln w="19050">
            <a:solidFill>
              <a:srgbClr val="004B87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264183" y="12558612"/>
            <a:ext cx="368504" cy="3870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4B87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Neurons-GettyImages-2226650668.jpg" descr="Neurons-GettyImages-2226650668.jpg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dirty="0"/>
              <a:t>Slide Title</a:t>
            </a:r>
          </a:p>
        </p:txBody>
      </p:sp>
      <p:sp>
        <p:nvSpPr>
          <p:cNvPr id="4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4859512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r>
              <a:rPr dirty="0"/>
              <a:t>Slide Subtitle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2" name="GettyImages-2189356800.jpg"/>
          <p:cNvSpPr>
            <a:spLocks noGrp="1"/>
          </p:cNvSpPr>
          <p:nvPr>
            <p:ph type="pic" idx="21"/>
          </p:nvPr>
        </p:nvSpPr>
        <p:spPr>
          <a:xfrm>
            <a:off x="6716990" y="987223"/>
            <a:ext cx="16755590" cy="111703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dirty="0"/>
          </a:p>
        </p:txBody>
      </p:sp>
      <p:pic>
        <p:nvPicPr>
          <p:cNvPr id="4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24" y="12410120"/>
            <a:ext cx="2287128" cy="683438"/>
          </a:xfrm>
          <a:prstGeom prst="rect">
            <a:avLst/>
          </a:prstGeom>
          <a:ln w="12700">
            <a:miter lim="400000"/>
          </a:ln>
        </p:spPr>
      </p:pic>
      <p:sp>
        <p:nvSpPr>
          <p:cNvPr id="44" name="Line"/>
          <p:cNvSpPr/>
          <p:nvPr/>
        </p:nvSpPr>
        <p:spPr>
          <a:xfrm>
            <a:off x="3323343" y="12751839"/>
            <a:ext cx="19507749" cy="1"/>
          </a:xfrm>
          <a:prstGeom prst="line">
            <a:avLst/>
          </a:prstGeom>
          <a:ln w="19050">
            <a:solidFill>
              <a:srgbClr val="41B6E6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dirty="0"/>
              <a:t>Slide Title</a:t>
            </a:r>
          </a:p>
        </p:txBody>
      </p:sp>
      <p:sp>
        <p:nvSpPr>
          <p:cNvPr id="5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41B6E6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1pPr>
          </a:lstStyle>
          <a:p>
            <a:r>
              <a:rPr dirty="0"/>
              <a:t>Slide Subtitle</a:t>
            </a:r>
          </a:p>
        </p:txBody>
      </p:sp>
      <p:sp>
        <p:nvSpPr>
          <p:cNvPr id="5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Neurons-GettyImages-2226650668.jpg" descr="Neurons-GettyImages-2226650668.jpg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41B6E6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1pPr>
          </a:lstStyle>
          <a:p>
            <a:r>
              <a:rPr dirty="0"/>
              <a:t>Slide Subtitle</a:t>
            </a:r>
          </a:p>
        </p:txBody>
      </p:sp>
      <p:sp>
        <p:nvSpPr>
          <p:cNvPr id="64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7553048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65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dirty="0"/>
              <a:t>Slide Title</a:t>
            </a:r>
          </a:p>
        </p:txBody>
      </p:sp>
      <p:sp>
        <p:nvSpPr>
          <p:cNvPr id="66" name="GettyImages-2189356800.jpg"/>
          <p:cNvSpPr>
            <a:spLocks noGrp="1"/>
          </p:cNvSpPr>
          <p:nvPr>
            <p:ph type="pic" idx="22"/>
          </p:nvPr>
        </p:nvSpPr>
        <p:spPr>
          <a:xfrm>
            <a:off x="6716990" y="987223"/>
            <a:ext cx="16755590" cy="111703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dirty="0"/>
          </a:p>
        </p:txBody>
      </p:sp>
      <p:pic>
        <p:nvPicPr>
          <p:cNvPr id="6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24" y="12410120"/>
            <a:ext cx="2287128" cy="683438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Line"/>
          <p:cNvSpPr/>
          <p:nvPr/>
        </p:nvSpPr>
        <p:spPr>
          <a:xfrm>
            <a:off x="3323343" y="12751839"/>
            <a:ext cx="19507749" cy="1"/>
          </a:xfrm>
          <a:prstGeom prst="line">
            <a:avLst/>
          </a:prstGeom>
          <a:ln w="19050">
            <a:solidFill>
              <a:srgbClr val="41B6E6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Neurons-GettyImages-2226650668.jpg" descr="Neurons-GettyImages-2226650668.jpg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3541875" y="4920843"/>
            <a:ext cx="1730025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b="1" spc="-232">
                <a:solidFill>
                  <a:srgbClr val="41B6E6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b="1" spc="-232">
                <a:solidFill>
                  <a:srgbClr val="004B87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b="1" spc="-232">
                <a:solidFill>
                  <a:srgbClr val="004B87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b="1" spc="-232">
                <a:solidFill>
                  <a:srgbClr val="004B87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b="1" spc="-232">
                <a:solidFill>
                  <a:srgbClr val="004B87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r>
              <a:rPr dirty="0"/>
              <a:t>Statement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78" name="Rounded Rectangle"/>
          <p:cNvSpPr/>
          <p:nvPr/>
        </p:nvSpPr>
        <p:spPr>
          <a:xfrm>
            <a:off x="3541875" y="9483404"/>
            <a:ext cx="17300250" cy="381206"/>
          </a:xfrm>
          <a:prstGeom prst="roundRect">
            <a:avLst>
              <a:gd name="adj" fmla="val 50000"/>
            </a:avLst>
          </a:prstGeom>
          <a:solidFill>
            <a:srgbClr val="41B6E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7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24" y="12410120"/>
            <a:ext cx="2287128" cy="683438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Line"/>
          <p:cNvSpPr/>
          <p:nvPr/>
        </p:nvSpPr>
        <p:spPr>
          <a:xfrm>
            <a:off x="3323343" y="12751839"/>
            <a:ext cx="19507749" cy="1"/>
          </a:xfrm>
          <a:prstGeom prst="line">
            <a:avLst/>
          </a:prstGeom>
          <a:ln w="19050">
            <a:solidFill>
              <a:srgbClr val="41B6E6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264183" y="12558305"/>
            <a:ext cx="368504" cy="38707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Neurons-GettyImages-2226650668.jpg" descr="Neurons-GettyImages-2226650668.jpg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rgbClr val="004B87"/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rgbClr val="004B87"/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rgbClr val="004B87"/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rgbClr val="004B87"/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rgbClr val="004B87"/>
                </a:solidFill>
              </a:defRPr>
            </a:lvl5pPr>
          </a:lstStyle>
          <a:p>
            <a:r>
              <a:rPr dirty="0"/>
              <a:t>100%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90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41B6E6"/>
                </a:solidFill>
              </a:defRPr>
            </a:lvl1pPr>
          </a:lstStyle>
          <a:p>
            <a:r>
              <a:rPr dirty="0"/>
              <a:t>Fact information</a:t>
            </a:r>
          </a:p>
        </p:txBody>
      </p:sp>
      <p:sp>
        <p:nvSpPr>
          <p:cNvPr id="91" name="Rounded Rectangle"/>
          <p:cNvSpPr/>
          <p:nvPr/>
        </p:nvSpPr>
        <p:spPr>
          <a:xfrm>
            <a:off x="8179073" y="9483404"/>
            <a:ext cx="8025854" cy="381206"/>
          </a:xfrm>
          <a:prstGeom prst="roundRect">
            <a:avLst>
              <a:gd name="adj" fmla="val 50000"/>
            </a:avLst>
          </a:prstGeom>
          <a:solidFill>
            <a:srgbClr val="41B6E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solidFill>
                <a:srgbClr val="41B6E6"/>
              </a:solidFill>
            </a:endParaRPr>
          </a:p>
        </p:txBody>
      </p:sp>
      <p:pic>
        <p:nvPicPr>
          <p:cNvPr id="9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24" y="12410120"/>
            <a:ext cx="2287128" cy="683438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Line"/>
          <p:cNvSpPr/>
          <p:nvPr/>
        </p:nvSpPr>
        <p:spPr>
          <a:xfrm>
            <a:off x="3323343" y="12751839"/>
            <a:ext cx="19507749" cy="1"/>
          </a:xfrm>
          <a:prstGeom prst="line">
            <a:avLst/>
          </a:prstGeom>
          <a:ln w="19050">
            <a:solidFill>
              <a:srgbClr val="41B6E6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Neurons-GettyImages-2226650668.jpg" descr="Neurons-GettyImages-2226650668.jpg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027648" y="10675453"/>
            <a:ext cx="14496205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2500" cap="all">
                <a:solidFill>
                  <a:srgbClr val="004B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Attribution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53923" y="4939860"/>
            <a:ext cx="1449620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b="1" spc="-170">
                <a:solidFill>
                  <a:srgbClr val="004B87"/>
                </a:solidFill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b="1" spc="-170">
                <a:solidFill>
                  <a:srgbClr val="004B87"/>
                </a:solidFill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b="1" spc="-170">
                <a:solidFill>
                  <a:srgbClr val="004B87"/>
                </a:solidFill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b="1" spc="-170">
                <a:solidFill>
                  <a:srgbClr val="004B87"/>
                </a:solidFill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b="1" spc="-170">
                <a:solidFill>
                  <a:srgbClr val="004B87"/>
                </a:solidFill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0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93" y="1719947"/>
            <a:ext cx="2359640" cy="20087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6216842" y="7995874"/>
            <a:ext cx="2359640" cy="20087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24" y="12410120"/>
            <a:ext cx="2287128" cy="683438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Line"/>
          <p:cNvSpPr/>
          <p:nvPr/>
        </p:nvSpPr>
        <p:spPr>
          <a:xfrm>
            <a:off x="3323343" y="12751839"/>
            <a:ext cx="19507749" cy="1"/>
          </a:xfrm>
          <a:prstGeom prst="line">
            <a:avLst/>
          </a:prstGeom>
          <a:ln w="19050">
            <a:solidFill>
              <a:srgbClr val="41B6E6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Neurons-GettyImages-2226650668.jpg" descr="Neurons-GettyImages-2226650668.jpg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24" y="12410120"/>
            <a:ext cx="2287128" cy="683438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Line"/>
          <p:cNvSpPr/>
          <p:nvPr/>
        </p:nvSpPr>
        <p:spPr>
          <a:xfrm>
            <a:off x="3323343" y="12751839"/>
            <a:ext cx="19507749" cy="1"/>
          </a:xfrm>
          <a:prstGeom prst="line">
            <a:avLst/>
          </a:prstGeom>
          <a:ln w="19050">
            <a:solidFill>
              <a:srgbClr val="41B6E6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264118" y="12558295"/>
            <a:ext cx="368504" cy="38707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9" name="GettyImages-2182137033.jpg"/>
          <p:cNvSpPr>
            <a:spLocks noGrp="1"/>
          </p:cNvSpPr>
          <p:nvPr>
            <p:ph type="pic" idx="21"/>
          </p:nvPr>
        </p:nvSpPr>
        <p:spPr>
          <a:xfrm>
            <a:off x="-53306" y="1286706"/>
            <a:ext cx="15849828" cy="1058768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0" name="GettyImages-1337405825.jpg"/>
          <p:cNvSpPr>
            <a:spLocks noGrp="1"/>
          </p:cNvSpPr>
          <p:nvPr>
            <p:ph type="pic" sz="quarter" idx="22"/>
          </p:nvPr>
        </p:nvSpPr>
        <p:spPr>
          <a:xfrm>
            <a:off x="16204970" y="1280788"/>
            <a:ext cx="7881556" cy="510460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1" name="GettyImages-2189356800.jpg"/>
          <p:cNvSpPr>
            <a:spLocks noGrp="1"/>
          </p:cNvSpPr>
          <p:nvPr>
            <p:ph type="pic" sz="quarter" idx="23"/>
          </p:nvPr>
        </p:nvSpPr>
        <p:spPr>
          <a:xfrm>
            <a:off x="15544041" y="6781287"/>
            <a:ext cx="7656911" cy="51046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Neurons-GettyImages-2226650668.jpg" descr="Neurons-GettyImages-22266506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3556000"/>
            <a:ext cx="15190990" cy="4971690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pic>
        <p:nvPicPr>
          <p:cNvPr id="13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591" y="1158636"/>
            <a:ext cx="7019537" cy="1283311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urons-GettyImages-2226650668.jpg" descr="Neurons-GettyImages-2226650668.jpg"/>
          <p:cNvPicPr>
            <a:picLocks noChangeAspect="1"/>
          </p:cNvPicPr>
          <p:nvPr/>
        </p:nvPicPr>
        <p:blipFill>
          <a:blip r:embed="rId12">
            <a:alphaModFix amt="5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5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3124" y="12410120"/>
            <a:ext cx="2287128" cy="68343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Line"/>
          <p:cNvSpPr/>
          <p:nvPr/>
        </p:nvSpPr>
        <p:spPr>
          <a:xfrm>
            <a:off x="3323343" y="12751839"/>
            <a:ext cx="19507749" cy="1"/>
          </a:xfrm>
          <a:prstGeom prst="line">
            <a:avLst/>
          </a:prstGeom>
          <a:ln w="19050">
            <a:solidFill>
              <a:srgbClr val="41B6E6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264183" y="12558295"/>
            <a:ext cx="368504" cy="38707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0F57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AUTHOR"/>
          <p:cNvSpPr txBox="1">
            <a:spLocks noGrp="1"/>
          </p:cNvSpPr>
          <p:nvPr>
            <p:ph type="body" idx="21"/>
          </p:nvPr>
        </p:nvSpPr>
        <p:spPr>
          <a:xfrm>
            <a:off x="1466386" y="9833459"/>
            <a:ext cx="12001579" cy="1126089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r>
              <a:rPr lang="en-US" dirty="0"/>
              <a:t>Tairan Yang</a:t>
            </a:r>
          </a:p>
          <a:p>
            <a:r>
              <a:rPr lang="en-US" dirty="0"/>
              <a:t>July 30</a:t>
            </a:r>
            <a:r>
              <a:rPr dirty="0"/>
              <a:t>, 2026</a:t>
            </a:r>
          </a:p>
        </p:txBody>
      </p:sp>
      <p:sp>
        <p:nvSpPr>
          <p:cNvPr id="141" name="Presentation 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9600" dirty="0"/>
              <a:t>Clin Pharm Working Group</a:t>
            </a:r>
            <a:endParaRPr sz="96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DF3288-6831-EC26-7266-CC0CB6E59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BE35C7C5-CCEF-6BF1-BF93-7A08BB8ACBE6}"/>
              </a:ext>
            </a:extLst>
          </p:cNvPr>
          <p:cNvSpPr txBox="1">
            <a:spLocks/>
          </p:cNvSpPr>
          <p:nvPr/>
        </p:nvSpPr>
        <p:spPr>
          <a:xfrm>
            <a:off x="1673382" y="2512663"/>
            <a:ext cx="21037236" cy="8934990"/>
          </a:xfrm>
          <a:prstGeom prst="rect">
            <a:avLst/>
          </a:prstGeom>
        </p:spPr>
        <p:txBody>
          <a:bodyPr numCol="1" anchor="t" anchorCtr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Tx/>
              <a:buNone/>
              <a:defRPr sz="2000" b="0" i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Clr>
                <a:srgbClr val="EFB100"/>
              </a:buClr>
              <a:buFontTx/>
              <a:buNone/>
              <a:defRPr sz="2000" b="0" i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Recent Work Experience: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Associate director, Clin Pharm &amp; Pharmacometrics, Praxis Precision Medicines (Sept 2024-July 2026)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Principal Scientist, Quantitative Clinical Pharmacology, Legend Biotech (Jan 2022-Sept 2024)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Principal Scientific Researcher, Genentech (May 2020-Dec2021)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Therapeutic area and modality experience: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Immunology, Oncology, hematology, neurology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Small molecules, mono/bispecific antibodies, cell and gene therapies (CAR-T, ASO)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Education: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Georgia Tech; MS Computer Science, 2022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University of Toronto; MS Chemistry and PharmD, 2020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University of British Columbia; BS Chemistry, 2013</a:t>
            </a:r>
          </a:p>
        </p:txBody>
      </p:sp>
    </p:spTree>
    <p:extLst>
      <p:ext uri="{BB962C8B-B14F-4D97-AF65-F5344CB8AC3E}">
        <p14:creationId xmlns:p14="http://schemas.microsoft.com/office/powerpoint/2010/main" val="3985516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C310000-43DB-6E88-1026-474A75F489C4}"/>
              </a:ext>
            </a:extLst>
          </p:cNvPr>
          <p:cNvSpPr/>
          <p:nvPr/>
        </p:nvSpPr>
        <p:spPr>
          <a:xfrm>
            <a:off x="630948" y="550544"/>
            <a:ext cx="23064952" cy="181303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Pharmacokinetics? </a:t>
            </a:r>
            <a:endParaRPr lang="en-US" sz="5600" b="1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5C198BCD-EA2E-AA88-2B8F-7C06BC57C4D6}"/>
              </a:ext>
            </a:extLst>
          </p:cNvPr>
          <p:cNvSpPr txBox="1">
            <a:spLocks/>
          </p:cNvSpPr>
          <p:nvPr/>
        </p:nvSpPr>
        <p:spPr>
          <a:xfrm>
            <a:off x="1668403" y="2812662"/>
            <a:ext cx="21047194" cy="10015441"/>
          </a:xfrm>
          <a:prstGeom prst="rect">
            <a:avLst/>
          </a:prstGeom>
        </p:spPr>
        <p:txBody>
          <a:bodyPr lIns="91440" tIns="45720" rIns="91440" bIns="45720" numCol="1" anchor="t" anchorCtr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Tx/>
              <a:buNone/>
              <a:defRPr sz="2000" b="0" i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Clr>
                <a:srgbClr val="EFB100"/>
              </a:buClr>
              <a:buFontTx/>
              <a:buNone/>
              <a:defRPr sz="2000" b="0" i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PK describes the fate of the drug you take:</a:t>
            </a:r>
          </a:p>
          <a:p>
            <a:pPr marL="800100" lvl="1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Absorption (How much? How fast? Is it affected by food?)</a:t>
            </a:r>
          </a:p>
          <a:p>
            <a:pPr marL="800100" lvl="1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Distribution (Limited or extensive?)</a:t>
            </a:r>
          </a:p>
          <a:p>
            <a:pPr marL="800100" lvl="1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latin typeface="Arial"/>
                <a:ea typeface="Roboto Light"/>
                <a:cs typeface="Arial"/>
              </a:rPr>
              <a:t>Metabolism (What metabolites are formed? What enzymes are involved? DDIs?)</a:t>
            </a:r>
          </a:p>
          <a:p>
            <a:pPr marL="800100" lvl="1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Excretion (Urine or feces? Intact or as metabolites?)</a:t>
            </a:r>
          </a:p>
          <a:p>
            <a:pPr marL="342900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latin typeface="Arial"/>
                <a:ea typeface="Roboto Light"/>
                <a:cs typeface="Arial"/>
              </a:rPr>
              <a:t>Relevant information gleaned from an analysis:</a:t>
            </a:r>
          </a:p>
          <a:p>
            <a:pPr marL="800100" lvl="1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Bioavailability: Fraction of a dose that reaches the plasma</a:t>
            </a:r>
          </a:p>
          <a:p>
            <a:pPr marL="800100" lvl="1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Overall exposure: AUC</a:t>
            </a:r>
          </a:p>
          <a:p>
            <a:pPr marL="800100" lvl="1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latin typeface="Arial"/>
                <a:ea typeface="Roboto Light"/>
                <a:cs typeface="Arial"/>
              </a:rPr>
              <a:t>Peak concentration:  </a:t>
            </a:r>
            <a:r>
              <a:rPr lang="en-US" sz="2900" dirty="0" err="1">
                <a:latin typeface="Arial"/>
                <a:ea typeface="Roboto Light"/>
                <a:cs typeface="Arial"/>
              </a:rPr>
              <a:t>C</a:t>
            </a:r>
            <a:r>
              <a:rPr lang="en-US" sz="2900" baseline="-25000" dirty="0" err="1">
                <a:latin typeface="Arial"/>
                <a:ea typeface="Roboto Light"/>
                <a:cs typeface="Arial"/>
              </a:rPr>
              <a:t>max</a:t>
            </a:r>
            <a:endParaRPr lang="en-US" sz="2900" baseline="-25000" dirty="0">
              <a:latin typeface="Arial"/>
              <a:ea typeface="Roboto Light"/>
              <a:cs typeface="Arial"/>
            </a:endParaRPr>
          </a:p>
          <a:p>
            <a:pPr marL="800100" lvl="1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latin typeface="Arial"/>
                <a:ea typeface="Roboto Light"/>
                <a:cs typeface="Arial"/>
              </a:rPr>
              <a:t>Time of peak concentration: </a:t>
            </a:r>
            <a:r>
              <a:rPr lang="en-US" sz="2900" dirty="0" err="1">
                <a:latin typeface="Arial"/>
                <a:ea typeface="Roboto Light"/>
                <a:cs typeface="Arial"/>
              </a:rPr>
              <a:t>t</a:t>
            </a:r>
            <a:r>
              <a:rPr lang="en-US" sz="2900" baseline="-25000" dirty="0" err="1">
                <a:latin typeface="Arial"/>
                <a:ea typeface="Roboto Light"/>
                <a:cs typeface="Arial"/>
              </a:rPr>
              <a:t>max</a:t>
            </a:r>
            <a:endParaRPr lang="en-US" sz="2900" baseline="-25000" dirty="0">
              <a:latin typeface="Arial"/>
              <a:ea typeface="Roboto Light"/>
              <a:cs typeface="Arial"/>
            </a:endParaRPr>
          </a:p>
          <a:p>
            <a:pPr marL="800100" lvl="1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latin typeface="Arial"/>
                <a:ea typeface="Roboto Light"/>
                <a:cs typeface="Arial"/>
              </a:rPr>
              <a:t>Half-life for elimination: t</a:t>
            </a:r>
            <a:r>
              <a:rPr lang="en-US" sz="2900" baseline="-25000" dirty="0">
                <a:latin typeface="Arial"/>
                <a:ea typeface="Roboto Light"/>
                <a:cs typeface="Arial"/>
              </a:rPr>
              <a:t>½</a:t>
            </a:r>
            <a:r>
              <a:rPr lang="en-US" sz="2900" dirty="0">
                <a:latin typeface="Arial"/>
                <a:ea typeface="Roboto Light"/>
                <a:cs typeface="Arial"/>
              </a:rPr>
              <a:t> </a:t>
            </a:r>
          </a:p>
          <a:p>
            <a:pPr marL="800100" lvl="1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Rate of irreversible removal of drug from plasma: CL</a:t>
            </a:r>
          </a:p>
          <a:p>
            <a:pPr marL="800100" lvl="1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Volume of distribution: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9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sz="29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latin typeface="Arial"/>
                <a:ea typeface="Roboto Light"/>
                <a:cs typeface="Arial"/>
              </a:rPr>
              <a:t>PK analyses give “parameter estimates” that can be important on their own (e.g., bioavailability, t</a:t>
            </a:r>
            <a:r>
              <a:rPr lang="en-US" sz="1800" baseline="-25000" dirty="0">
                <a:latin typeface="Arial"/>
                <a:ea typeface="Roboto Light"/>
                <a:cs typeface="Arial"/>
              </a:rPr>
              <a:t>½</a:t>
            </a:r>
            <a:r>
              <a:rPr lang="en-US" sz="2900" dirty="0">
                <a:latin typeface="Arial"/>
                <a:ea typeface="Roboto Light"/>
                <a:cs typeface="Arial"/>
              </a:rPr>
              <a:t>, </a:t>
            </a:r>
            <a:r>
              <a:rPr lang="en-US" sz="2900" dirty="0" err="1">
                <a:latin typeface="Arial"/>
                <a:ea typeface="Roboto Light"/>
                <a:cs typeface="Arial"/>
              </a:rPr>
              <a:t>t</a:t>
            </a:r>
            <a:r>
              <a:rPr lang="en-US" sz="1800" baseline="-25000" dirty="0" err="1">
                <a:latin typeface="Arial"/>
                <a:ea typeface="Roboto Light"/>
                <a:cs typeface="Arial"/>
              </a:rPr>
              <a:t>max</a:t>
            </a:r>
            <a:r>
              <a:rPr lang="en-US" sz="2900" dirty="0">
                <a:latin typeface="Arial"/>
                <a:ea typeface="Roboto Light"/>
                <a:cs typeface="Arial"/>
              </a:rPr>
              <a:t>) or useful only within the context of clinical response (e.g., AUC, </a:t>
            </a:r>
            <a:r>
              <a:rPr lang="en-US" sz="2900" dirty="0" err="1">
                <a:latin typeface="Arial"/>
                <a:ea typeface="Roboto Light"/>
                <a:cs typeface="Arial"/>
              </a:rPr>
              <a:t>C</a:t>
            </a:r>
            <a:r>
              <a:rPr lang="en-US" sz="2900" baseline="-25000" dirty="0" err="1">
                <a:latin typeface="Arial"/>
                <a:ea typeface="Roboto Light"/>
                <a:cs typeface="Arial"/>
              </a:rPr>
              <a:t>max</a:t>
            </a:r>
            <a:r>
              <a:rPr lang="en-US" sz="2900" dirty="0">
                <a:latin typeface="Arial"/>
                <a:ea typeface="Roboto Light"/>
                <a:cs typeface="Arial"/>
              </a:rPr>
              <a:t>). </a:t>
            </a:r>
          </a:p>
          <a:p>
            <a:pPr marL="342900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latin typeface="Arial"/>
                <a:ea typeface="Roboto Light"/>
                <a:cs typeface="Arial"/>
              </a:rPr>
              <a:t>PK is a key component of dose selection, which combines PK information with efficacy, safety, and tolerability information to determine the dose strength and dosing frequency that produces a good balance between efficacy and safety/tolerability.  </a:t>
            </a:r>
          </a:p>
          <a:p>
            <a:pPr marL="342900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539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FD6BA-41E7-5491-FAD0-B1BEEF2EE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81FDF5-4B7D-5239-48D7-F71948A2FB96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94378" y="3319448"/>
            <a:ext cx="20247406" cy="8333476"/>
          </a:xfrm>
        </p:spPr>
        <p:txBody>
          <a:bodyPr lIns="182880" tIns="91440" rIns="182880" bIns="91440" numCol="1" anchor="t" anchorCtr="0"/>
          <a:lstStyle/>
          <a:p>
            <a:pPr marL="685800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Noncompartmental analyses:</a:t>
            </a:r>
          </a:p>
          <a:p>
            <a:pPr marL="1600200" lvl="1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Typical for Phase 1 studies, when subjects are housed and readily available</a:t>
            </a:r>
          </a:p>
          <a:p>
            <a:pPr marL="1600200" lvl="1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Serial samples are collected after a dose to provide a full concentration-time profile</a:t>
            </a:r>
          </a:p>
          <a:p>
            <a:pPr marL="1600200" lvl="1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latin typeface="Arial"/>
                <a:ea typeface="Roboto Light"/>
                <a:cs typeface="Arial"/>
              </a:rPr>
              <a:t>PK parameter estimates are calculated for each profile</a:t>
            </a:r>
          </a:p>
          <a:p>
            <a:pPr marL="1600200" lvl="1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latin typeface="Arial"/>
                <a:ea typeface="Roboto Light"/>
                <a:cs typeface="Arial"/>
              </a:rPr>
              <a:t>Parameter estimates are summarized across profiles</a:t>
            </a:r>
          </a:p>
          <a:p>
            <a:pPr marL="1600200" lvl="1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43A8E68-3848-CA11-FFC7-8038D511EF5F}"/>
              </a:ext>
            </a:extLst>
          </p:cNvPr>
          <p:cNvSpPr/>
          <p:nvPr/>
        </p:nvSpPr>
        <p:spPr>
          <a:xfrm>
            <a:off x="630948" y="550544"/>
            <a:ext cx="23064952" cy="181303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Type of PK Analyses We’ll Cover Today </a:t>
            </a:r>
            <a:endParaRPr lang="en-US" sz="5600" b="1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90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8C038-BC4B-19B4-5C2E-C1417DA9E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851AC1-809B-CC98-67EB-E6B6D85B8376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94378" y="3319448"/>
            <a:ext cx="20247406" cy="8333476"/>
          </a:xfrm>
        </p:spPr>
        <p:txBody>
          <a:bodyPr lIns="182880" tIns="91440" rIns="182880" bIns="91440" numCol="1" anchor="t" anchorCtr="0"/>
          <a:lstStyle/>
          <a:p>
            <a:pPr marL="685800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latin typeface="Arial"/>
                <a:ea typeface="Roboto Light"/>
                <a:cs typeface="Arial"/>
              </a:rPr>
              <a:t>Population PK (</a:t>
            </a:r>
            <a:r>
              <a:rPr lang="en-US" sz="3200" dirty="0" err="1">
                <a:latin typeface="Arial"/>
                <a:ea typeface="Roboto Light"/>
                <a:cs typeface="Arial"/>
              </a:rPr>
              <a:t>popPK</a:t>
            </a:r>
            <a:r>
              <a:rPr lang="en-US" sz="3200" dirty="0">
                <a:latin typeface="Arial"/>
                <a:ea typeface="Roboto Light"/>
                <a:cs typeface="Arial"/>
              </a:rPr>
              <a:t>) analyses:</a:t>
            </a:r>
          </a:p>
          <a:p>
            <a:pPr marL="1600200" lvl="1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Typical for Phase 2/3 studies, when subjects are </a:t>
            </a:r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housed and readily available</a:t>
            </a:r>
          </a:p>
          <a:p>
            <a:pPr marL="1600200" lvl="1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latin typeface="Arial"/>
                <a:ea typeface="Roboto Light"/>
                <a:cs typeface="Arial"/>
              </a:rPr>
              <a:t>Only 1 or 2 PK samples are collected at a visit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4600" lvl="2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b="0" dirty="0">
                <a:latin typeface="Arial" panose="020B0604020202020204" pitchFamily="34" charset="0"/>
                <a:cs typeface="Arial" panose="020B0604020202020204" pitchFamily="34" charset="0"/>
              </a:rPr>
              <a:t>Individual profiles are not available</a:t>
            </a:r>
          </a:p>
          <a:p>
            <a:pPr marL="1600200" lvl="1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latin typeface="Arial"/>
                <a:ea typeface="Roboto Light"/>
                <a:cs typeface="Arial"/>
              </a:rPr>
              <a:t>The </a:t>
            </a:r>
            <a:r>
              <a:rPr lang="en-US" sz="3200" dirty="0" err="1">
                <a:latin typeface="Arial"/>
                <a:ea typeface="Roboto Light"/>
                <a:cs typeface="Arial"/>
              </a:rPr>
              <a:t>popPK</a:t>
            </a:r>
            <a:r>
              <a:rPr lang="en-US" sz="3200" dirty="0">
                <a:latin typeface="Arial"/>
                <a:ea typeface="Roboto Light"/>
                <a:cs typeface="Arial"/>
              </a:rPr>
              <a:t> analysis combines all data and uses specialized software to develop a model that describes the PK in the </a:t>
            </a:r>
            <a:r>
              <a:rPr lang="en-US" sz="3200" i="1" dirty="0">
                <a:latin typeface="Arial"/>
                <a:ea typeface="Roboto Light"/>
                <a:cs typeface="Arial"/>
              </a:rPr>
              <a:t>population</a:t>
            </a:r>
            <a:r>
              <a:rPr lang="en-US" sz="3200" dirty="0">
                <a:latin typeface="Arial"/>
                <a:ea typeface="Roboto Light"/>
                <a:cs typeface="Arial"/>
              </a:rPr>
              <a:t>, not in </a:t>
            </a:r>
            <a:r>
              <a:rPr lang="en-US" sz="3200" i="1" dirty="0">
                <a:latin typeface="Arial"/>
                <a:ea typeface="Roboto Light"/>
                <a:cs typeface="Arial"/>
              </a:rPr>
              <a:t>individuals</a:t>
            </a:r>
            <a:r>
              <a:rPr lang="en-US" sz="3200" dirty="0">
                <a:latin typeface="Arial"/>
                <a:ea typeface="Roboto Light"/>
                <a:cs typeface="Arial"/>
              </a:rPr>
              <a:t>.</a:t>
            </a:r>
          </a:p>
          <a:p>
            <a:pPr marL="1600200" lvl="1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This is an empirical </a:t>
            </a:r>
            <a:r>
              <a:rPr lang="en-US" sz="3200" b="0" dirty="0">
                <a:latin typeface="Arial" panose="020B0604020202020204" pitchFamily="34" charset="0"/>
                <a:cs typeface="Arial" panose="020B0604020202020204" pitchFamily="34" charset="0"/>
              </a:rPr>
              <a:t>“top-down” approach</a:t>
            </a:r>
          </a:p>
          <a:p>
            <a:pPr marL="1600200" lvl="1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model calculates PK parameter estimates and their variability</a:t>
            </a:r>
          </a:p>
          <a:p>
            <a:pPr marL="1600200" lvl="1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latin typeface="Arial"/>
                <a:ea typeface="Roboto Light"/>
                <a:cs typeface="Arial"/>
              </a:rPr>
              <a:t>The model can then be used to predict individual exposures that are used in exposure-response analyses for efficacy and safety</a:t>
            </a:r>
          </a:p>
          <a:p>
            <a:pPr marL="1600200" lvl="1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0200" lvl="1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0200" lvl="1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FC20A05-235B-A680-379E-339ED995D56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213968" y="12880256"/>
            <a:ext cx="18234238" cy="565992"/>
          </a:xfrm>
        </p:spPr>
        <p:txBody>
          <a:bodyPr>
            <a:noAutofit/>
          </a:bodyPr>
          <a:lstStyle/>
          <a:p>
            <a:endParaRPr lang="en-US" sz="28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F706CF-0938-CD4A-3818-6F1B8D5302EA}"/>
              </a:ext>
            </a:extLst>
          </p:cNvPr>
          <p:cNvSpPr/>
          <p:nvPr/>
        </p:nvSpPr>
        <p:spPr>
          <a:xfrm>
            <a:off x="630948" y="550544"/>
            <a:ext cx="23064952" cy="181303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Type of PK Analyses We’ll Cover Today </a:t>
            </a:r>
            <a:endParaRPr lang="en-US" sz="5600" b="1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86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882F2-D39A-EE74-34CB-30ED493F8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EB6B7D-785C-FFAF-5EE1-03C34253F3B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068297" y="3133917"/>
            <a:ext cx="20247406" cy="9230361"/>
          </a:xfrm>
        </p:spPr>
        <p:txBody>
          <a:bodyPr lIns="182880" tIns="91440" rIns="182880" bIns="91440" numCol="1" anchor="t" anchorCtr="0"/>
          <a:lstStyle/>
          <a:p>
            <a:pPr marL="685800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Physiologically based PK (PBPK) analysis:</a:t>
            </a:r>
          </a:p>
          <a:p>
            <a:pPr marL="1600200" lvl="1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Can be used across all phases, from preclinical to late development</a:t>
            </a:r>
          </a:p>
          <a:p>
            <a:pPr marL="1600200" lvl="1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Mechanistic “bottom-up” approach that develops a physiological model to predict exposures and compare scenarios</a:t>
            </a:r>
          </a:p>
          <a:p>
            <a:pPr marL="1600200" lvl="1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Especially useful to:</a:t>
            </a:r>
          </a:p>
          <a:p>
            <a:pPr marL="2514600" lvl="2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b="0" dirty="0">
                <a:latin typeface="Arial" panose="020B0604020202020204" pitchFamily="34" charset="0"/>
                <a:cs typeface="Arial" panose="020B0604020202020204" pitchFamily="34" charset="0"/>
              </a:rPr>
              <a:t>scale </a:t>
            </a:r>
            <a:r>
              <a:rPr lang="en-US" sz="2800" b="0" i="1" dirty="0">
                <a:latin typeface="Arial" panose="020B0604020202020204" pitchFamily="34" charset="0"/>
                <a:cs typeface="Arial" panose="020B0604020202020204" pitchFamily="34" charset="0"/>
              </a:rPr>
              <a:t>in vitro</a:t>
            </a:r>
            <a:r>
              <a:rPr lang="en-US" sz="2800" b="0" dirty="0">
                <a:latin typeface="Arial" panose="020B0604020202020204" pitchFamily="34" charset="0"/>
                <a:cs typeface="Arial" panose="020B0604020202020204" pitchFamily="34" charset="0"/>
              </a:rPr>
              <a:t> and animal data to predict human PK</a:t>
            </a:r>
          </a:p>
          <a:p>
            <a:pPr marL="2514600" lvl="2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b="0" dirty="0">
                <a:latin typeface="Arial" panose="020B0604020202020204" pitchFamily="34" charset="0"/>
                <a:cs typeface="Arial" panose="020B0604020202020204" pitchFamily="34" charset="0"/>
              </a:rPr>
              <a:t>predict exposure in first-in-human studies</a:t>
            </a:r>
          </a:p>
          <a:p>
            <a:pPr marL="2514600" lvl="2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b="0" dirty="0">
                <a:latin typeface="Arial"/>
                <a:cs typeface="Arial"/>
              </a:rPr>
              <a:t>predict the magnitude of drug-drug interactions</a:t>
            </a:r>
          </a:p>
          <a:p>
            <a:pPr marL="2514600" lvl="2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b="0" dirty="0">
                <a:latin typeface="Arial" panose="020B0604020202020204" pitchFamily="34" charset="0"/>
                <a:cs typeface="Arial" panose="020B0604020202020204" pitchFamily="34" charset="0"/>
              </a:rPr>
              <a:t>predict the effects of organ impairment.</a:t>
            </a:r>
          </a:p>
          <a:p>
            <a:pPr marL="1600200" lvl="1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latin typeface="Arial"/>
                <a:ea typeface="Roboto Light"/>
                <a:cs typeface="Arial"/>
              </a:rPr>
              <a:t>Regulatory agencies accept the results of PBPK modeling, so a good model can negate the need to conduct a $1,000,000+ clinical study.</a:t>
            </a:r>
          </a:p>
          <a:p>
            <a:pPr marL="1600200" lvl="1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FAE52A6-2EC9-FF80-4607-8D3C18E18E83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213968" y="12880256"/>
            <a:ext cx="18234238" cy="565992"/>
          </a:xfrm>
        </p:spPr>
        <p:txBody>
          <a:bodyPr>
            <a:noAutofit/>
          </a:bodyPr>
          <a:lstStyle/>
          <a:p>
            <a:endParaRPr lang="en-US" sz="28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C2F5CE-C96F-1A91-37CC-901CC0DCD1C8}"/>
              </a:ext>
            </a:extLst>
          </p:cNvPr>
          <p:cNvSpPr/>
          <p:nvPr/>
        </p:nvSpPr>
        <p:spPr>
          <a:xfrm>
            <a:off x="630948" y="550544"/>
            <a:ext cx="23064952" cy="181303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Type of PK Analyses (Not Covered Today)</a:t>
            </a:r>
            <a:endParaRPr lang="en-US" sz="5600" b="1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079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ection Title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Non-Compartmental Analysis (NCA)</a:t>
            </a:r>
          </a:p>
        </p:txBody>
      </p:sp>
      <p:sp>
        <p:nvSpPr>
          <p:cNvPr id="1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27734" y="12558612"/>
            <a:ext cx="241403" cy="38707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F01B6-B850-9DB9-A024-62E120434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163FE3C-731A-E239-9117-D997041717B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213968" y="12880256"/>
            <a:ext cx="15282554" cy="565992"/>
          </a:xfrm>
        </p:spPr>
        <p:txBody>
          <a:bodyPr>
            <a:noAutofit/>
          </a:bodyPr>
          <a:lstStyle/>
          <a:p>
            <a:endParaRPr lang="en-US" sz="2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BE2849-2F8A-E102-2C4D-7273F81E40C3}"/>
              </a:ext>
            </a:extLst>
          </p:cNvPr>
          <p:cNvSpPr/>
          <p:nvPr/>
        </p:nvSpPr>
        <p:spPr>
          <a:xfrm>
            <a:off x="1948915" y="550544"/>
            <a:ext cx="20486170" cy="181303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Model-Based vs. Model-Independent PK</a:t>
            </a:r>
            <a:endParaRPr lang="en-US" sz="5600" b="1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85D0E7D-B4F9-D7D5-D148-7378D52FE6B5}"/>
              </a:ext>
            </a:extLst>
          </p:cNvPr>
          <p:cNvSpPr txBox="1">
            <a:spLocks/>
          </p:cNvSpPr>
          <p:nvPr/>
        </p:nvSpPr>
        <p:spPr>
          <a:xfrm>
            <a:off x="3242563" y="2979492"/>
            <a:ext cx="17898874" cy="10183760"/>
          </a:xfrm>
          <a:prstGeom prst="rect">
            <a:avLst/>
          </a:prstGeom>
        </p:spPr>
        <p:txBody>
          <a:bodyPr numCol="1" anchor="t" anchorCtr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Tx/>
              <a:buNone/>
              <a:defRPr sz="2000" b="0" i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Clr>
                <a:srgbClr val="EFB100"/>
              </a:buClr>
              <a:buFontTx/>
              <a:buNone/>
              <a:defRPr sz="2000" b="0" i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There are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major approaches to analyzing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PK data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(also called “Bioanalytical data,” “Concentration-time data”):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4000" b="1" u="sng" dirty="0">
                <a:latin typeface="Arial" panose="020B0604020202020204" pitchFamily="34" charset="0"/>
                <a:cs typeface="Arial" panose="020B0604020202020204" pitchFamily="34" charset="0"/>
              </a:rPr>
              <a:t>Non-Compartmental Analysis (NCA)</a:t>
            </a:r>
          </a:p>
          <a:p>
            <a:pPr marL="342900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Does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not assume any body compartments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Uses simple math to estimate key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PK parameters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directly from data</a:t>
            </a:r>
          </a:p>
          <a:p>
            <a:pPr marL="342900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Faster, simpler, and very common in early clinical studies</a:t>
            </a:r>
          </a:p>
          <a:p>
            <a:pPr marL="342900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Often used for Phase 1 studies, bioavailability, and PK summaries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r>
              <a:rPr lang="en-US" sz="4000" i="1" dirty="0">
                <a:latin typeface="Arial" panose="020B0604020202020204" pitchFamily="34" charset="0"/>
                <a:cs typeface="Arial" panose="020B0604020202020204" pitchFamily="34" charset="0"/>
              </a:rPr>
              <a:t>NCA = model-independent, easy to interpret, quick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4000" b="1" u="sng" dirty="0">
                <a:latin typeface="Arial" panose="020B0604020202020204" pitchFamily="34" charset="0"/>
                <a:cs typeface="Arial" panose="020B0604020202020204" pitchFamily="34" charset="0"/>
              </a:rPr>
              <a:t>Compartmental Analysis</a:t>
            </a:r>
          </a:p>
          <a:p>
            <a:pPr marL="342900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Assumes the body is like “boxes” (compartments) where the drug moves</a:t>
            </a:r>
          </a:p>
          <a:p>
            <a:pPr marL="342900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Builds a model with equations and fits it to the data	</a:t>
            </a:r>
          </a:p>
        </p:txBody>
      </p:sp>
    </p:spTree>
    <p:extLst>
      <p:ext uri="{BB962C8B-B14F-4D97-AF65-F5344CB8AC3E}">
        <p14:creationId xmlns:p14="http://schemas.microsoft.com/office/powerpoint/2010/main" val="218091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BBE40-F22B-4D98-7CBC-FD6011F0F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36FC9C5-E526-C94F-DB90-85304DD4D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866" y="8432286"/>
            <a:ext cx="9499637" cy="4348609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5E04A4-7F67-8D40-405F-E87555DDB01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94380" y="2479227"/>
            <a:ext cx="19995240" cy="9886404"/>
          </a:xfrm>
        </p:spPr>
        <p:txBody>
          <a:bodyPr lIns="182880" tIns="91440" rIns="182880" bIns="91440" numCol="1" anchor="t" anchorCtr="0">
            <a:noAutofit/>
          </a:bodyPr>
          <a:lstStyle/>
          <a:p>
            <a:pPr>
              <a:buClr>
                <a:schemeClr val="tx1"/>
              </a:buClr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NCA uses observed drug concentration data over time; usually from blood samples; to create a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concentration-vs-time curve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buClr>
                <a:schemeClr val="tx1"/>
              </a:buClr>
            </a:pPr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Non-Compartmental Analysis (NCA)</a:t>
            </a:r>
          </a:p>
          <a:p>
            <a:pPr marL="685800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  <a:ea typeface="Roboto Light"/>
                <a:cs typeface="Arial"/>
              </a:rPr>
              <a:t>C</a:t>
            </a:r>
            <a:r>
              <a:rPr lang="en-US" sz="2800" baseline="-25000" dirty="0">
                <a:latin typeface="Arial"/>
                <a:ea typeface="Roboto Light"/>
                <a:cs typeface="Arial"/>
              </a:rPr>
              <a:t>max</a:t>
            </a:r>
            <a:r>
              <a:rPr lang="en-US" sz="2800" dirty="0">
                <a:latin typeface="Arial"/>
                <a:ea typeface="Roboto Light"/>
                <a:cs typeface="Arial"/>
              </a:rPr>
              <a:t>: Highest concentration observed</a:t>
            </a:r>
          </a:p>
          <a:p>
            <a:pPr marL="685800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"/>
                <a:ea typeface="Roboto Light"/>
                <a:cs typeface="Arial"/>
              </a:rPr>
              <a:t>T</a:t>
            </a:r>
            <a:r>
              <a:rPr lang="en-US" sz="2800" baseline="-25000" dirty="0" err="1">
                <a:latin typeface="Arial"/>
                <a:ea typeface="Roboto Light"/>
                <a:cs typeface="Arial"/>
              </a:rPr>
              <a:t>max</a:t>
            </a:r>
            <a:r>
              <a:rPr lang="en-US" sz="2800" dirty="0">
                <a:latin typeface="Arial"/>
                <a:ea typeface="Roboto Light"/>
                <a:cs typeface="Arial"/>
              </a:rPr>
              <a:t>: Time of highest concentration</a:t>
            </a:r>
          </a:p>
          <a:p>
            <a:pPr marL="685800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AUC: Total drug exposure</a:t>
            </a:r>
          </a:p>
          <a:p>
            <a:pPr marL="685800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Half-life (t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½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): Time for concentration to reduce by half</a:t>
            </a:r>
          </a:p>
          <a:p>
            <a:pPr marL="685800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312495-BD52-7E97-82C0-F975433041AF}"/>
              </a:ext>
            </a:extLst>
          </p:cNvPr>
          <p:cNvSpPr/>
          <p:nvPr/>
        </p:nvSpPr>
        <p:spPr>
          <a:xfrm>
            <a:off x="2533866" y="550544"/>
            <a:ext cx="20486170" cy="181303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Non-Compartmental Analysis (NCA) Works </a:t>
            </a:r>
            <a:endParaRPr lang="en-US" sz="5600" b="1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393ED7-FEAA-3BCA-B198-D3BAFC6A4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5440" y="4551295"/>
            <a:ext cx="10972800" cy="822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1ACEB4-13C5-213B-0F3A-73D3512A9113}"/>
              </a:ext>
            </a:extLst>
          </p:cNvPr>
          <p:cNvSpPr txBox="1"/>
          <p:nvPr/>
        </p:nvSpPr>
        <p:spPr>
          <a:xfrm>
            <a:off x="15909528" y="8150014"/>
            <a:ext cx="1349010" cy="615554"/>
          </a:xfrm>
          <a:prstGeom prst="rect">
            <a:avLst/>
          </a:prstGeom>
          <a:noFill/>
        </p:spPr>
        <p:txBody>
          <a:bodyPr wrap="square" lIns="182880" tIns="91440" rIns="182880" bIns="9144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latin typeface="Tahoma"/>
                <a:ea typeface="Tahoma"/>
                <a:cs typeface="Tahoma"/>
              </a:rPr>
              <a:t>AUC</a:t>
            </a:r>
          </a:p>
        </p:txBody>
      </p:sp>
    </p:spTree>
    <p:extLst>
      <p:ext uri="{BB962C8B-B14F-4D97-AF65-F5344CB8AC3E}">
        <p14:creationId xmlns:p14="http://schemas.microsoft.com/office/powerpoint/2010/main" val="1998082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86913-1B49-8CFE-08E5-FCBE50A1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EFB2414-C5B0-FAA4-790D-3662F36E28A3}"/>
              </a:ext>
            </a:extLst>
          </p:cNvPr>
          <p:cNvSpPr/>
          <p:nvPr/>
        </p:nvSpPr>
        <p:spPr>
          <a:xfrm>
            <a:off x="2147993" y="550544"/>
            <a:ext cx="20486170" cy="181303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&amp; Why NCA is Used</a:t>
            </a:r>
            <a:endParaRPr lang="en-US" sz="5600" b="1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D7F854FE-0A6F-E7AE-5180-58C729F65D81}"/>
              </a:ext>
            </a:extLst>
          </p:cNvPr>
          <p:cNvSpPr txBox="1">
            <a:spLocks/>
          </p:cNvSpPr>
          <p:nvPr/>
        </p:nvSpPr>
        <p:spPr>
          <a:xfrm>
            <a:off x="3010650" y="2822670"/>
            <a:ext cx="18362700" cy="10342786"/>
          </a:xfrm>
          <a:prstGeom prst="rect">
            <a:avLst/>
          </a:prstGeom>
        </p:spPr>
        <p:txBody>
          <a:bodyPr numCol="1" anchor="t" anchorCtr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Tx/>
              <a:buNone/>
              <a:defRPr sz="2000" b="0" i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Clr>
                <a:srgbClr val="EFB100"/>
              </a:buClr>
              <a:buFontTx/>
              <a:buNone/>
              <a:defRPr sz="2000" b="0" i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Used when: </a:t>
            </a:r>
          </a:p>
          <a:p>
            <a:pPr marL="342900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Early clinical/phase 1 studies </a:t>
            </a:r>
          </a:p>
          <a:p>
            <a:pPr marL="342900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Rich sampling over time </a:t>
            </a:r>
          </a:p>
          <a:p>
            <a:pPr marL="342900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Need basic exposure metrics</a:t>
            </a:r>
          </a:p>
          <a:p>
            <a:pPr marL="342900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4000" b="1" u="sng" dirty="0"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</a:p>
          <a:p>
            <a:pPr marL="342900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Does not assume how many “compartments” the body has </a:t>
            </a:r>
          </a:p>
          <a:p>
            <a:pPr marL="342900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Simple, robust, and reproducible </a:t>
            </a:r>
          </a:p>
          <a:p>
            <a:pPr marL="342900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Commonly accepted by regulators for PK summaries 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4000" b="1" u="sng" dirty="0"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</a:p>
          <a:p>
            <a:pPr marL="342900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Not good for sparse sampling designs</a:t>
            </a:r>
          </a:p>
          <a:p>
            <a:pPr marL="342900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Cannot predict future levels under new conditions (e.g., new dose)</a:t>
            </a:r>
          </a:p>
          <a:p>
            <a:pPr marL="342900" indent="-3429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No mechanistic insight like compartmental or PBPK models </a:t>
            </a:r>
          </a:p>
        </p:txBody>
      </p:sp>
    </p:spTree>
    <p:extLst>
      <p:ext uri="{BB962C8B-B14F-4D97-AF65-F5344CB8AC3E}">
        <p14:creationId xmlns:p14="http://schemas.microsoft.com/office/powerpoint/2010/main" val="1919971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ection Title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Population PK Modeling</a:t>
            </a:r>
          </a:p>
        </p:txBody>
      </p:sp>
      <p:sp>
        <p:nvSpPr>
          <p:cNvPr id="1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27734" y="12558612"/>
            <a:ext cx="241403" cy="38707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073E0690-9A9D-03E8-E094-22A066A11598}"/>
              </a:ext>
            </a:extLst>
          </p:cNvPr>
          <p:cNvSpPr txBox="1">
            <a:spLocks/>
          </p:cNvSpPr>
          <p:nvPr/>
        </p:nvSpPr>
        <p:spPr>
          <a:xfrm>
            <a:off x="1591277" y="639930"/>
            <a:ext cx="20783731" cy="1152239"/>
          </a:xfrm>
          <a:prstGeom prst="rect">
            <a:avLst/>
          </a:prstGeom>
        </p:spPr>
        <p:txBody>
          <a:bodyPr vert="horz" wrap="square" lIns="0" tIns="318135" rIns="0" bIns="0" rtlCol="0" anchor="ctr" anchorCtr="0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0" i="0" kern="1200" cap="none" spc="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5400" spc="60">
                <a:latin typeface="Arial" panose="020B0604020202020204" pitchFamily="34" charset="0"/>
                <a:cs typeface="Arial" panose="020B0604020202020204" pitchFamily="34" charset="0"/>
              </a:rPr>
              <a:t>Why Do We Need PopPK Models</a:t>
            </a:r>
            <a:r>
              <a:rPr lang="en-US" sz="5400" spc="8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A6B6BA-D97F-679C-9591-07BC12261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277" y="2372585"/>
            <a:ext cx="18607393" cy="973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39159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B5522C-00AD-81F5-7F75-6380F9F9D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7633" y="1622901"/>
            <a:ext cx="21971000" cy="1433163"/>
          </a:xfrm>
        </p:spPr>
        <p:txBody>
          <a:bodyPr>
            <a:normAutofit/>
          </a:bodyPr>
          <a:lstStyle/>
          <a:p>
            <a:r>
              <a:rPr lang="en-US" sz="6000" spc="75" dirty="0">
                <a:latin typeface="Arial" panose="020B0604020202020204" pitchFamily="34" charset="0"/>
                <a:cs typeface="Arial" panose="020B0604020202020204" pitchFamily="34" charset="0"/>
              </a:rPr>
              <a:t>Modeling Steps</a:t>
            </a:r>
            <a:endParaRPr lang="en-US" sz="6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17E829-2AE8-509F-FCC8-9F99B1DFD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633" y="3056064"/>
            <a:ext cx="15471088" cy="78689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4920" y="970584"/>
            <a:ext cx="19995240" cy="1504258"/>
          </a:xfrm>
          <a:prstGeom prst="rect">
            <a:avLst/>
          </a:prstGeom>
        </p:spPr>
        <p:txBody>
          <a:bodyPr vert="horz" wrap="square" lIns="0" tIns="6362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0"/>
              </a:spcBef>
            </a:pPr>
            <a:r>
              <a:rPr sz="5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ata Gathering and Dataset Construction</a:t>
            </a:r>
            <a:endParaRPr sz="5600" spc="6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94920" y="3412185"/>
            <a:ext cx="19301460" cy="6891630"/>
          </a:xfrm>
          <a:prstGeom prst="rect">
            <a:avLst/>
          </a:prstGeom>
        </p:spPr>
        <p:txBody>
          <a:bodyPr vert="horz" wrap="square" lIns="0" tIns="99060" rIns="0" bIns="0" rtlCol="0" anchor="t">
            <a:spAutoFit/>
          </a:bodyPr>
          <a:lstStyle/>
          <a:p>
            <a:pPr marL="207010" marR="39370" lvl="0" indent="-186690" algn="l" defTabSz="1828800" rtl="0" eaLnBrk="1" fontAlgn="auto" latinLnBrk="0" hangingPunct="1">
              <a:lnSpc>
                <a:spcPts val="4760"/>
              </a:lnSpc>
              <a:spcBef>
                <a:spcPts val="780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208278" algn="l"/>
                <a:tab pos="523240" algn="l"/>
              </a:tabLst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Design</a:t>
            </a:r>
            <a:r>
              <a:rPr kumimoji="0" lang="en-US" sz="4400" b="0" i="0" u="none" strike="noStrike" kern="0" cap="none" spc="-6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lang="en-US" sz="44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analysis</a:t>
            </a:r>
            <a:r>
              <a:rPr kumimoji="0" lang="en-US" sz="44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(number</a:t>
            </a:r>
            <a:r>
              <a:rPr kumimoji="0" lang="en-US" sz="44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lang="en-US" sz="4400" b="0" i="0" u="none" strike="noStrike" kern="0" cap="none" spc="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subjects,</a:t>
            </a:r>
            <a:r>
              <a:rPr kumimoji="0" lang="en-US" sz="44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number</a:t>
            </a:r>
            <a:r>
              <a:rPr kumimoji="0" lang="en-US" sz="44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lang="en-US" sz="4400" b="0" i="0" u="none" strike="noStrike" kern="0" cap="none" spc="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samples,</a:t>
            </a:r>
            <a:r>
              <a:rPr kumimoji="0" lang="en-US" sz="44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timing</a:t>
            </a:r>
            <a:r>
              <a:rPr kumimoji="0" lang="en-US" sz="44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lang="en-US" sz="4400" b="0" i="0" u="none" strike="noStrike" kern="0" cap="none" spc="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sample collection)</a:t>
            </a:r>
            <a:endParaRPr lang="en-US" sz="4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80670" marR="0" lvl="0" indent="0" algn="l" defTabSz="18288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/>
                <a:cs typeface="Arial"/>
              </a:rPr>
              <a:t></a:t>
            </a:r>
            <a:r>
              <a:rPr kumimoji="0" lang="en-US" sz="3600" b="0" i="0" u="none" strike="noStrike" kern="0" cap="none" spc="95" normalizeH="0" baseline="0" noProof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how</a:t>
            </a:r>
            <a:r>
              <a:rPr kumimoji="0" lang="en-US" sz="3600" b="0" i="0" u="none" strike="noStrike" kern="0" cap="none" spc="-1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much</a:t>
            </a:r>
            <a:r>
              <a:rPr kumimoji="0" lang="en-US" sz="36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information</a:t>
            </a:r>
            <a:r>
              <a:rPr kumimoji="0" lang="en-US" sz="36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does</a:t>
            </a:r>
            <a:r>
              <a:rPr kumimoji="0" lang="en-US" sz="36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lang="en-US" sz="36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data</a:t>
            </a:r>
            <a:r>
              <a:rPr kumimoji="0" lang="en-US" sz="36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contain</a:t>
            </a:r>
            <a:r>
              <a:rPr kumimoji="0" lang="en-US" sz="36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for the</a:t>
            </a:r>
            <a:r>
              <a:rPr kumimoji="0" lang="en-US" sz="3600" b="0" i="0" u="none" strike="noStrike" kern="0" cap="none" spc="-1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parameter</a:t>
            </a:r>
            <a:r>
              <a:rPr kumimoji="0" lang="en-US" sz="3600" b="0" i="0" u="none" strike="noStrike" kern="0" cap="none" spc="-5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lang="en-US" sz="3600" b="0" i="0" u="none" strike="noStrike" kern="0" cap="none" spc="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interest?</a:t>
            </a: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24510" marR="0" lvl="0" indent="-501650" algn="l" defTabSz="1828800" rtl="0" eaLnBrk="1" fontAlgn="auto" latinLnBrk="0" hangingPunct="1">
              <a:lnSpc>
                <a:spcPct val="100000"/>
              </a:lnSpc>
              <a:spcBef>
                <a:spcPts val="2630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524510" algn="l"/>
              </a:tabLst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Collect</a:t>
            </a:r>
            <a:r>
              <a:rPr kumimoji="0" lang="en-US" sz="44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dosing</a:t>
            </a:r>
            <a:r>
              <a:rPr kumimoji="0" lang="en-US" sz="4400" b="0" i="0" u="none" strike="noStrike" kern="0" cap="none" spc="-5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history</a:t>
            </a:r>
            <a:r>
              <a:rPr kumimoji="0" lang="en-US" sz="44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(amount,</a:t>
            </a:r>
            <a:r>
              <a:rPr kumimoji="0" lang="en-US" sz="4400" b="0" i="0" u="none" strike="noStrike" kern="0" cap="none" spc="-7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rate,</a:t>
            </a:r>
            <a:r>
              <a:rPr kumimoji="0" lang="en-US" sz="4400" b="0" i="0" u="none" strike="noStrike" kern="0" cap="none" spc="-5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lang="en-US" sz="4400" b="0" i="0" u="none" strike="noStrike" kern="0" cap="none" spc="-6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time),</a:t>
            </a:r>
            <a:r>
              <a:rPr kumimoji="0" lang="en-US" sz="4400" b="0" i="0" u="none" strike="noStrike" kern="0" cap="none" spc="-6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sample</a:t>
            </a:r>
            <a:r>
              <a:rPr kumimoji="0" lang="en-US" sz="4400" b="0" i="0" u="none" strike="noStrike" kern="0" cap="none" spc="-5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collection,</a:t>
            </a:r>
            <a:r>
              <a:rPr kumimoji="0" lang="en-US" sz="44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concentration</a:t>
            </a:r>
            <a:r>
              <a:rPr kumimoji="0" lang="en-US" sz="44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values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54990" marR="109220" lvl="0" indent="-274320" algn="l" defTabSz="1828800" rtl="0" eaLnBrk="1" fontAlgn="auto" latinLnBrk="0" hangingPunct="1">
              <a:lnSpc>
                <a:spcPts val="3878"/>
              </a:lnSpc>
              <a:spcBef>
                <a:spcPts val="9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/>
                <a:cs typeface="Arial"/>
              </a:rPr>
              <a:t></a:t>
            </a:r>
            <a:r>
              <a:rPr kumimoji="0" lang="en-US" sz="3600" b="0" i="0" u="none" strike="noStrike" kern="0" cap="none" spc="80" normalizeH="0" baseline="0" noProof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data</a:t>
            </a:r>
            <a:r>
              <a:rPr kumimoji="0" lang="en-US" sz="36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errors</a:t>
            </a:r>
            <a:r>
              <a:rPr kumimoji="0" lang="en-US" sz="3600" b="0" i="0" u="none" strike="noStrike" kern="0" cap="none" spc="-1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lead</a:t>
            </a:r>
            <a:r>
              <a:rPr kumimoji="0" lang="en-US" sz="36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lang="en-US" sz="36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problems</a:t>
            </a:r>
            <a:r>
              <a:rPr kumimoji="0" lang="en-US" sz="36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lang="en-US" sz="36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parameter</a:t>
            </a:r>
            <a:r>
              <a:rPr kumimoji="0" lang="en-US" sz="36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estimation</a:t>
            </a:r>
            <a:r>
              <a:rPr kumimoji="0" lang="en-US" sz="36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lang="en-US" sz="36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inflated</a:t>
            </a:r>
            <a:r>
              <a:rPr kumimoji="0" lang="en-US" sz="36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inter-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subject</a:t>
            </a:r>
            <a:r>
              <a:rPr kumimoji="0" lang="en-US" sz="36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variability</a:t>
            </a:r>
            <a:r>
              <a:rPr kumimoji="0" lang="en-US" sz="3600" b="0" i="0" u="none" strike="sngStrike" kern="0" cap="none" spc="-4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sz="3600" b="0" i="0" u="none" strike="sngStrike" kern="0" cap="none" spc="-1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24510" marR="0" lvl="0" indent="-501650" algn="l" defTabSz="1828800" rtl="0" eaLnBrk="1" fontAlgn="auto" latinLnBrk="0" hangingPunct="1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524510" algn="l"/>
              </a:tabLst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Collect</a:t>
            </a:r>
            <a:r>
              <a:rPr kumimoji="0" lang="en-US" sz="4400" b="0" i="0" u="none" strike="noStrike" kern="0" cap="none" spc="-5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other</a:t>
            </a:r>
            <a:r>
              <a:rPr kumimoji="0" lang="en-US" sz="4400" b="0" i="0" u="none" strike="noStrike" kern="0" cap="none" spc="-6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important</a:t>
            </a:r>
            <a:r>
              <a:rPr kumimoji="0" lang="en-US" sz="4400" b="0" i="0" u="none" strike="noStrike" kern="0" cap="none" spc="-5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covariate</a:t>
            </a:r>
            <a:r>
              <a:rPr kumimoji="0" lang="en-US" sz="44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information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07010" marR="999490" lvl="0" indent="-186690" algn="l" defTabSz="1828800" rtl="0" eaLnBrk="1" fontAlgn="auto" latinLnBrk="0" hangingPunct="1">
              <a:lnSpc>
                <a:spcPts val="4760"/>
              </a:lnSpc>
              <a:spcBef>
                <a:spcPts val="3220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208278" algn="l"/>
                <a:tab pos="523240" algn="l"/>
              </a:tabLst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Create</a:t>
            </a:r>
            <a:r>
              <a:rPr kumimoji="0" lang="en-US" sz="4400" b="0" i="0" u="none" strike="noStrike" kern="0" cap="none" spc="-6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lang="en-US" sz="44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dataset</a:t>
            </a:r>
            <a:r>
              <a:rPr kumimoji="0" lang="en-US" sz="44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conforming</a:t>
            </a:r>
            <a:r>
              <a:rPr kumimoji="0" lang="en-US" sz="44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lang="en-US" sz="44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specific</a:t>
            </a:r>
            <a:r>
              <a:rPr kumimoji="0" lang="en-US" sz="44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format</a:t>
            </a:r>
            <a:r>
              <a:rPr kumimoji="0" lang="en-US" sz="44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requirement</a:t>
            </a:r>
            <a:r>
              <a:rPr kumimoji="0" lang="en-US" sz="44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lang="en-US" sz="4400" b="0" i="0" u="none" strike="noStrike" kern="0" cap="none" spc="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lang="en-US" sz="44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software</a:t>
            </a:r>
            <a:r>
              <a:rPr kumimoji="0" lang="en-US" sz="44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(e.g.,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NONMEM,</a:t>
            </a:r>
            <a:r>
              <a:rPr kumimoji="0" lang="en-US" sz="4400" b="0" i="0" u="none" strike="noStrike" kern="0" cap="none" spc="-6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Monolix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,</a:t>
            </a:r>
            <a:r>
              <a:rPr kumimoji="0" lang="en-US" sz="4400" b="0" i="0" u="none" strike="noStrike" kern="0" cap="none" spc="-8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Phoenix</a:t>
            </a:r>
            <a:r>
              <a:rPr kumimoji="0" lang="en-US" sz="4400" b="0" i="0" u="none" strike="noStrike" kern="0" cap="none" spc="-8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44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NLME)</a:t>
            </a:r>
            <a:endParaRPr kumimoji="0" lang="en-US" sz="3600" b="0" i="0" u="none" strike="sng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CF565-5B99-F8DF-CDFC-30730D80A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5D9163B-A524-20F4-7372-F8067CD7EE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62432" y="984144"/>
            <a:ext cx="19995240" cy="1221104"/>
          </a:xfrm>
          <a:prstGeom prst="rect">
            <a:avLst/>
          </a:prstGeom>
        </p:spPr>
        <p:txBody>
          <a:bodyPr vert="horz" wrap="square" lIns="0" tIns="331470" rIns="0" bIns="0" rtlCol="0">
            <a:spAutoFit/>
          </a:bodyPr>
          <a:lstStyle/>
          <a:p>
            <a:pPr marL="25400" marR="10160">
              <a:lnSpc>
                <a:spcPct val="80000"/>
              </a:lnSpc>
              <a:spcBef>
                <a:spcPts val="2610"/>
              </a:spcBef>
            </a:pPr>
            <a:r>
              <a:rPr sz="720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7200">
                <a:latin typeface="Arial" panose="020B0604020202020204" pitchFamily="34" charset="0"/>
                <a:cs typeface="Arial" panose="020B0604020202020204" pitchFamily="34" charset="0"/>
              </a:rPr>
              <a:t>ompartmental Modeling</a:t>
            </a:r>
            <a:endParaRPr sz="7200" spc="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C38B5E4-281F-7B04-16F0-719143BBE1C4}"/>
              </a:ext>
            </a:extLst>
          </p:cNvPr>
          <p:cNvGrpSpPr/>
          <p:nvPr/>
        </p:nvGrpSpPr>
        <p:grpSpPr>
          <a:xfrm>
            <a:off x="6578694" y="5910034"/>
            <a:ext cx="228600" cy="796290"/>
            <a:chOff x="14062126" y="7746492"/>
            <a:chExt cx="228600" cy="79629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B4B34C9-4CEC-EC92-5DAF-625B291B6B7F}"/>
                </a:ext>
              </a:extLst>
            </p:cNvPr>
            <p:cNvSpPr/>
            <p:nvPr/>
          </p:nvSpPr>
          <p:spPr>
            <a:xfrm>
              <a:off x="14176426" y="7746492"/>
              <a:ext cx="0" cy="605790"/>
            </a:xfrm>
            <a:custGeom>
              <a:avLst/>
              <a:gdLst/>
              <a:ahLst/>
              <a:cxnLst/>
              <a:rect l="l" t="t" r="r" b="b"/>
              <a:pathLst>
                <a:path h="302895">
                  <a:moveTo>
                    <a:pt x="0" y="0"/>
                  </a:moveTo>
                  <a:lnTo>
                    <a:pt x="0" y="302856"/>
                  </a:lnTo>
                </a:path>
              </a:pathLst>
            </a:custGeom>
            <a:ln w="76200">
              <a:solidFill>
                <a:srgbClr val="1CADE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1828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CC1A5B4-0D33-771E-FF28-52BC76F2C93E}"/>
                </a:ext>
              </a:extLst>
            </p:cNvPr>
            <p:cNvSpPr/>
            <p:nvPr/>
          </p:nvSpPr>
          <p:spPr>
            <a:xfrm>
              <a:off x="14062126" y="831410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1CADE4"/>
            </a:solidFill>
          </p:spPr>
          <p:txBody>
            <a:bodyPr wrap="square" lIns="0" tIns="0" rIns="0" bIns="0" rtlCol="0"/>
            <a:lstStyle/>
            <a:p>
              <a:pPr marL="0" marR="0" lvl="0" indent="0" defTabSz="1828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4CEF4094-05F0-ED0D-AC08-3EB19E2A744C}"/>
              </a:ext>
            </a:extLst>
          </p:cNvPr>
          <p:cNvGraphicFramePr>
            <a:graphicFrameLocks noGrp="1"/>
          </p:cNvGraphicFramePr>
          <p:nvPr/>
        </p:nvGraphicFramePr>
        <p:xfrm>
          <a:off x="5366910" y="6739420"/>
          <a:ext cx="2957830" cy="2095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6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1600">
                <a:tc gridSpan="2">
                  <a:txBody>
                    <a:bodyPr/>
                    <a:lstStyle/>
                    <a:p>
                      <a:pPr marL="195580" marR="184150" indent="762000">
                        <a:lnSpc>
                          <a:spcPct val="100000"/>
                        </a:lnSpc>
                        <a:spcBef>
                          <a:spcPts val="1880"/>
                        </a:spcBef>
                      </a:pPr>
                      <a:r>
                        <a:rPr sz="2800" spc="-1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Central </a:t>
                      </a:r>
                      <a:r>
                        <a:rPr sz="280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Compartment</a:t>
                      </a:r>
                      <a:r>
                        <a:rPr sz="2800" spc="-5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 </a:t>
                      </a:r>
                      <a:r>
                        <a:rPr sz="2800" spc="-2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(Vc)</a:t>
                      </a:r>
                      <a:endParaRPr sz="2800">
                        <a:latin typeface="Tw Cen MT"/>
                        <a:cs typeface="Tw Cen MT"/>
                      </a:endParaRPr>
                    </a:p>
                  </a:txBody>
                  <a:tcPr marL="0" marR="0" marT="238760" marB="0">
                    <a:lnL w="19050">
                      <a:solidFill>
                        <a:srgbClr val="117EA7"/>
                      </a:solidFill>
                      <a:prstDash val="solid"/>
                    </a:lnL>
                    <a:lnR w="19050">
                      <a:solidFill>
                        <a:srgbClr val="117EA7"/>
                      </a:solidFill>
                      <a:prstDash val="solid"/>
                    </a:lnR>
                    <a:lnT w="19050">
                      <a:solidFill>
                        <a:srgbClr val="117EA7"/>
                      </a:solidFill>
                      <a:prstDash val="solid"/>
                    </a:lnT>
                    <a:lnB w="19050">
                      <a:solidFill>
                        <a:srgbClr val="117EA7"/>
                      </a:solidFill>
                      <a:prstDash val="solid"/>
                    </a:lnB>
                    <a:solidFill>
                      <a:srgbClr val="1CAD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1CADE4"/>
                      </a:solidFill>
                      <a:prstDash val="solid"/>
                    </a:lnR>
                    <a:lnT w="19050">
                      <a:solidFill>
                        <a:srgbClr val="117EA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97510">
                        <a:lnSpc>
                          <a:spcPct val="100000"/>
                        </a:lnSpc>
                      </a:pPr>
                      <a:r>
                        <a:rPr sz="3600" spc="-25" dirty="0">
                          <a:latin typeface="Tw Cen MT"/>
                          <a:cs typeface="Tw Cen MT"/>
                        </a:rPr>
                        <a:t>CL</a:t>
                      </a:r>
                      <a:endParaRPr sz="3600" dirty="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38100">
                      <a:solidFill>
                        <a:srgbClr val="1CADE4"/>
                      </a:solidFill>
                      <a:prstDash val="solid"/>
                    </a:lnL>
                    <a:lnT w="19050">
                      <a:solidFill>
                        <a:srgbClr val="117EA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>
            <a:extLst>
              <a:ext uri="{FF2B5EF4-FFF2-40B4-BE49-F238E27FC236}">
                <a16:creationId xmlns:a16="http://schemas.microsoft.com/office/drawing/2014/main" id="{8A2FBEEC-D852-3634-A1CF-FD592CD93532}"/>
              </a:ext>
            </a:extLst>
          </p:cNvPr>
          <p:cNvSpPr/>
          <p:nvPr/>
        </p:nvSpPr>
        <p:spPr>
          <a:xfrm>
            <a:off x="6640084" y="881269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0"/>
                </a:moveTo>
                <a:lnTo>
                  <a:pt x="0" y="0"/>
                </a:lnTo>
                <a:lnTo>
                  <a:pt x="5715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1CADE4"/>
          </a:solidFill>
        </p:spPr>
        <p:txBody>
          <a:bodyPr wrap="square" lIns="0" tIns="0" rIns="0" bIns="0" rtlCol="0"/>
          <a:lstStyle/>
          <a:p>
            <a:pPr marL="0" marR="0" lvl="0" indent="0" defTabSz="1828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817C954-36BA-D435-059D-9D16A74B144E}"/>
              </a:ext>
            </a:extLst>
          </p:cNvPr>
          <p:cNvSpPr txBox="1"/>
          <p:nvPr/>
        </p:nvSpPr>
        <p:spPr>
          <a:xfrm>
            <a:off x="6288294" y="5161216"/>
            <a:ext cx="932180" cy="59944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5400" marR="0" lvl="0" indent="0" defTabSz="18288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input</a:t>
            </a:r>
            <a:endParaRPr kumimoji="0" sz="3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cs typeface="Tw Cen MT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D62FA37-BF52-49F5-F2DA-19E3FF322A93}"/>
              </a:ext>
            </a:extLst>
          </p:cNvPr>
          <p:cNvSpPr txBox="1"/>
          <p:nvPr/>
        </p:nvSpPr>
        <p:spPr>
          <a:xfrm>
            <a:off x="12775046" y="6780912"/>
            <a:ext cx="2959100" cy="1371600"/>
          </a:xfrm>
          <a:prstGeom prst="rect">
            <a:avLst/>
          </a:prstGeom>
          <a:solidFill>
            <a:srgbClr val="00B050"/>
          </a:solidFill>
          <a:ln w="31750">
            <a:solidFill>
              <a:srgbClr val="117EA7"/>
            </a:solidFill>
          </a:ln>
        </p:spPr>
        <p:txBody>
          <a:bodyPr vert="horz" wrap="square" lIns="0" tIns="238760" rIns="0" bIns="0" rtlCol="0">
            <a:spAutoFit/>
          </a:bodyPr>
          <a:lstStyle/>
          <a:p>
            <a:pPr marL="195580" marR="184150" lvl="0" indent="762000" defTabSz="1828800" eaLnBrk="1" fontAlgn="auto" latinLnBrk="0" hangingPunct="1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cs typeface="Tw Cen MT"/>
              </a:rPr>
              <a:t>Central </a:t>
            </a: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cs typeface="Tw Cen MT"/>
              </a:rPr>
              <a:t>Compartment</a:t>
            </a:r>
            <a:r>
              <a:rPr kumimoji="0" sz="2800" b="0" i="0" u="none" strike="noStrike" kern="0" cap="none" spc="-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cs typeface="Tw Cen MT"/>
              </a:rPr>
              <a:t> </a:t>
            </a:r>
            <a:r>
              <a:rPr kumimoji="0" sz="2800" b="0" i="0" u="none" strike="noStrike" kern="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cs typeface="Tw Cen MT"/>
              </a:rPr>
              <a:t>(Vc)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cs typeface="Tw Cen MT"/>
            </a:endParaRPr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F2C14807-4BC5-C5EC-11B2-55A8444BC110}"/>
              </a:ext>
            </a:extLst>
          </p:cNvPr>
          <p:cNvGrpSpPr/>
          <p:nvPr/>
        </p:nvGrpSpPr>
        <p:grpSpPr>
          <a:xfrm>
            <a:off x="14086144" y="5829364"/>
            <a:ext cx="228600" cy="796290"/>
            <a:chOff x="18117540" y="6896632"/>
            <a:chExt cx="228600" cy="796290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0A10C32D-9C9F-D6EA-3147-F9A33118D823}"/>
                </a:ext>
              </a:extLst>
            </p:cNvPr>
            <p:cNvSpPr/>
            <p:nvPr/>
          </p:nvSpPr>
          <p:spPr>
            <a:xfrm>
              <a:off x="18231840" y="6896632"/>
              <a:ext cx="0" cy="605790"/>
            </a:xfrm>
            <a:custGeom>
              <a:avLst/>
              <a:gdLst/>
              <a:ahLst/>
              <a:cxnLst/>
              <a:rect l="l" t="t" r="r" b="b"/>
              <a:pathLst>
                <a:path h="302895">
                  <a:moveTo>
                    <a:pt x="0" y="0"/>
                  </a:moveTo>
                  <a:lnTo>
                    <a:pt x="0" y="302856"/>
                  </a:lnTo>
                </a:path>
              </a:pathLst>
            </a:custGeom>
            <a:ln w="7620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1828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7BFB3F5D-A837-DB98-9894-FE4BEE323037}"/>
                </a:ext>
              </a:extLst>
            </p:cNvPr>
            <p:cNvSpPr/>
            <p:nvPr/>
          </p:nvSpPr>
          <p:spPr>
            <a:xfrm>
              <a:off x="18117540" y="746424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pPr marL="0" marR="0" lvl="0" indent="0" defTabSz="1828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35A02FE7-A65B-EB7E-2EB2-76BF2AD67EB3}"/>
              </a:ext>
            </a:extLst>
          </p:cNvPr>
          <p:cNvSpPr txBox="1"/>
          <p:nvPr/>
        </p:nvSpPr>
        <p:spPr>
          <a:xfrm>
            <a:off x="3067368" y="3460360"/>
            <a:ext cx="19731066" cy="579646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5400" marR="10160" lvl="0" indent="0" defTabSz="18288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Compartment:</a:t>
            </a:r>
            <a:r>
              <a:rPr kumimoji="0" sz="36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sz="3600" b="0" i="0" u="none" strike="noStrike" kern="0" cap="none" spc="-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  <a:r>
              <a:rPr kumimoji="0" sz="3600" b="0" i="0" u="none" strike="noStrike" kern="0" cap="none" spc="-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0" sz="3600" b="0" i="0" u="none" strike="noStrike" kern="0" cap="none" spc="5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0" sz="36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kumimoji="0" sz="36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kumimoji="0" sz="3600" b="0" i="0" u="none" strike="noStrike" kern="0" cap="none" spc="-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kumimoji="0" sz="3600" b="0" i="0" u="none" strike="noStrike" kern="0" cap="none" spc="-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0" sz="36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drug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kumimoji="0" sz="36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well</a:t>
            </a:r>
            <a:r>
              <a:rPr kumimoji="0" sz="36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mixed</a:t>
            </a:r>
            <a:r>
              <a:rPr kumimoji="0" sz="36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kumimoji="0" sz="36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kinetically</a:t>
            </a:r>
            <a:r>
              <a:rPr kumimoji="0" sz="36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homogenous</a:t>
            </a:r>
            <a:endParaRPr kumimoji="0" sz="3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3D8F0A58-22B9-7DAD-D6AB-28D5A30A8941}"/>
              </a:ext>
            </a:extLst>
          </p:cNvPr>
          <p:cNvSpPr txBox="1"/>
          <p:nvPr/>
        </p:nvSpPr>
        <p:spPr>
          <a:xfrm>
            <a:off x="16594012" y="6780912"/>
            <a:ext cx="2959100" cy="1371600"/>
          </a:xfrm>
          <a:prstGeom prst="rect">
            <a:avLst/>
          </a:prstGeom>
          <a:solidFill>
            <a:srgbClr val="00B050"/>
          </a:solidFill>
          <a:ln w="31750">
            <a:solidFill>
              <a:srgbClr val="117EA7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518158" marR="500380" lvl="0" indent="-7620" algn="ctr" defTabSz="18288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cs typeface="Tw Cen MT"/>
              </a:rPr>
              <a:t>Peripheral Compartment </a:t>
            </a:r>
            <a:r>
              <a:rPr kumimoji="0" sz="2800" b="0" i="0" u="none" strike="noStrike" kern="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cs typeface="Tw Cen MT"/>
              </a:rPr>
              <a:t>(Vp)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cs typeface="Tw Cen MT"/>
            </a:endParaRPr>
          </a:p>
        </p:txBody>
      </p:sp>
      <p:grpSp>
        <p:nvGrpSpPr>
          <p:cNvPr id="19" name="object 19">
            <a:extLst>
              <a:ext uri="{FF2B5EF4-FFF2-40B4-BE49-F238E27FC236}">
                <a16:creationId xmlns:a16="http://schemas.microsoft.com/office/drawing/2014/main" id="{EE0C170F-B605-C54A-4BD1-4AF90F58243F}"/>
              </a:ext>
            </a:extLst>
          </p:cNvPr>
          <p:cNvGrpSpPr/>
          <p:nvPr/>
        </p:nvGrpSpPr>
        <p:grpSpPr>
          <a:xfrm>
            <a:off x="15733384" y="7134988"/>
            <a:ext cx="861060" cy="171450"/>
            <a:chOff x="19764780" y="10165816"/>
            <a:chExt cx="861060" cy="171450"/>
          </a:xfrm>
        </p:grpSpPr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05AC9943-6A68-667A-267A-0BDD8B5FE526}"/>
                </a:ext>
              </a:extLst>
            </p:cNvPr>
            <p:cNvSpPr/>
            <p:nvPr/>
          </p:nvSpPr>
          <p:spPr>
            <a:xfrm>
              <a:off x="19764780" y="10251540"/>
              <a:ext cx="718820" cy="0"/>
            </a:xfrm>
            <a:custGeom>
              <a:avLst/>
              <a:gdLst/>
              <a:ahLst/>
              <a:cxnLst/>
              <a:rect l="l" t="t" r="r" b="b"/>
              <a:pathLst>
                <a:path w="359409">
                  <a:moveTo>
                    <a:pt x="0" y="0"/>
                  </a:moveTo>
                  <a:lnTo>
                    <a:pt x="358863" y="0"/>
                  </a:lnTo>
                </a:path>
              </a:pathLst>
            </a:custGeom>
            <a:ln w="5715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1828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4683CDE6-F624-9C45-50CF-00B5603A50EF}"/>
                </a:ext>
              </a:extLst>
            </p:cNvPr>
            <p:cNvSpPr/>
            <p:nvPr/>
          </p:nvSpPr>
          <p:spPr>
            <a:xfrm>
              <a:off x="20453958" y="10165816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4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pPr marL="0" marR="0" lvl="0" indent="0" defTabSz="1828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2" name="object 22">
            <a:extLst>
              <a:ext uri="{FF2B5EF4-FFF2-40B4-BE49-F238E27FC236}">
                <a16:creationId xmlns:a16="http://schemas.microsoft.com/office/drawing/2014/main" id="{F8167CF4-67D4-D708-DDB6-CF193CCF8686}"/>
              </a:ext>
            </a:extLst>
          </p:cNvPr>
          <p:cNvGrpSpPr/>
          <p:nvPr/>
        </p:nvGrpSpPr>
        <p:grpSpPr>
          <a:xfrm>
            <a:off x="15733384" y="7672858"/>
            <a:ext cx="789940" cy="171450"/>
            <a:chOff x="19764780" y="10703686"/>
            <a:chExt cx="789940" cy="171450"/>
          </a:xfrm>
        </p:grpSpPr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7594E9A5-8C5D-7C52-5DF6-15219879415E}"/>
                </a:ext>
              </a:extLst>
            </p:cNvPr>
            <p:cNvSpPr/>
            <p:nvPr/>
          </p:nvSpPr>
          <p:spPr>
            <a:xfrm>
              <a:off x="19907680" y="10789410"/>
              <a:ext cx="646430" cy="0"/>
            </a:xfrm>
            <a:custGeom>
              <a:avLst/>
              <a:gdLst/>
              <a:ahLst/>
              <a:cxnLst/>
              <a:rect l="l" t="t" r="r" b="b"/>
              <a:pathLst>
                <a:path w="323215">
                  <a:moveTo>
                    <a:pt x="323011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1828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9AE85C68-8035-BE7B-A62A-37B9485EAF1D}"/>
                </a:ext>
              </a:extLst>
            </p:cNvPr>
            <p:cNvSpPr/>
            <p:nvPr/>
          </p:nvSpPr>
          <p:spPr>
            <a:xfrm>
              <a:off x="19764780" y="10703686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0"/>
                  </a:moveTo>
                  <a:lnTo>
                    <a:pt x="0" y="42862"/>
                  </a:lnTo>
                  <a:lnTo>
                    <a:pt x="85725" y="8572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pPr marL="0" marR="0" lvl="0" indent="0" defTabSz="1828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5" name="object 25">
            <a:extLst>
              <a:ext uri="{FF2B5EF4-FFF2-40B4-BE49-F238E27FC236}">
                <a16:creationId xmlns:a16="http://schemas.microsoft.com/office/drawing/2014/main" id="{B2EB831C-6F46-3D50-906E-1134A0F43B37}"/>
              </a:ext>
            </a:extLst>
          </p:cNvPr>
          <p:cNvGrpSpPr/>
          <p:nvPr/>
        </p:nvGrpSpPr>
        <p:grpSpPr>
          <a:xfrm>
            <a:off x="14139916" y="8152520"/>
            <a:ext cx="228600" cy="1032510"/>
            <a:chOff x="18171312" y="11183348"/>
            <a:chExt cx="228600" cy="1032510"/>
          </a:xfrm>
        </p:grpSpPr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84808852-51B9-9814-3D27-511E1C321122}"/>
                </a:ext>
              </a:extLst>
            </p:cNvPr>
            <p:cNvSpPr/>
            <p:nvPr/>
          </p:nvSpPr>
          <p:spPr>
            <a:xfrm>
              <a:off x="18285612" y="11183348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421004">
                  <a:moveTo>
                    <a:pt x="0" y="0"/>
                  </a:moveTo>
                  <a:lnTo>
                    <a:pt x="0" y="420484"/>
                  </a:lnTo>
                </a:path>
              </a:pathLst>
            </a:custGeom>
            <a:ln w="7620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1828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5686232D-F920-DDC5-B0A2-DED72A6FAE73}"/>
                </a:ext>
              </a:extLst>
            </p:cNvPr>
            <p:cNvSpPr/>
            <p:nvPr/>
          </p:nvSpPr>
          <p:spPr>
            <a:xfrm>
              <a:off x="18171312" y="1198621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pPr marL="0" marR="0" lvl="0" indent="0" defTabSz="1828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8" name="object 28">
            <a:extLst>
              <a:ext uri="{FF2B5EF4-FFF2-40B4-BE49-F238E27FC236}">
                <a16:creationId xmlns:a16="http://schemas.microsoft.com/office/drawing/2014/main" id="{5BDB455C-322B-5E8F-F4F3-A4DBAA0BA608}"/>
              </a:ext>
            </a:extLst>
          </p:cNvPr>
          <p:cNvSpPr txBox="1"/>
          <p:nvPr/>
        </p:nvSpPr>
        <p:spPr>
          <a:xfrm>
            <a:off x="15962594" y="6482436"/>
            <a:ext cx="403860" cy="59944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5400" marR="0" lvl="0" indent="0" defTabSz="18288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Q</a:t>
            </a:r>
            <a:endParaRPr kumimoji="0" sz="3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cs typeface="Tw Cen MT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2CC7119F-61BA-B925-7F0A-1CA85D1B123A}"/>
              </a:ext>
            </a:extLst>
          </p:cNvPr>
          <p:cNvSpPr txBox="1"/>
          <p:nvPr/>
        </p:nvSpPr>
        <p:spPr>
          <a:xfrm>
            <a:off x="14438290" y="8336840"/>
            <a:ext cx="506730" cy="59944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5400" marR="0" lvl="0" indent="0" defTabSz="18288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CL</a:t>
            </a:r>
            <a:endParaRPr kumimoji="0" sz="3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cs typeface="Tw Cen MT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F9A5DFC7-D63F-0BCE-9AE0-24EB1F65475D}"/>
              </a:ext>
            </a:extLst>
          </p:cNvPr>
          <p:cNvSpPr txBox="1"/>
          <p:nvPr/>
        </p:nvSpPr>
        <p:spPr>
          <a:xfrm>
            <a:off x="14429044" y="5778044"/>
            <a:ext cx="547370" cy="59944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5400" marR="0" lvl="0" indent="0" defTabSz="18288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Ka</a:t>
            </a:r>
            <a:endParaRPr kumimoji="0" sz="3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cs typeface="Tw Cen MT"/>
            </a:endParaRP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5490B227-F88B-1D9A-273F-64F7EE6CD0B5}"/>
              </a:ext>
            </a:extLst>
          </p:cNvPr>
          <p:cNvSpPr txBox="1"/>
          <p:nvPr/>
        </p:nvSpPr>
        <p:spPr>
          <a:xfrm>
            <a:off x="5140418" y="9550404"/>
            <a:ext cx="3562350" cy="456536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5400" marR="0" lvl="0" indent="0" defTabSz="18288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One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-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compartment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model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cs typeface="Tw Cen MT"/>
            </a:endParaRPr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9B8B88AC-1AEA-1314-7305-6A06F88269A9}"/>
              </a:ext>
            </a:extLst>
          </p:cNvPr>
          <p:cNvSpPr txBox="1"/>
          <p:nvPr/>
        </p:nvSpPr>
        <p:spPr>
          <a:xfrm>
            <a:off x="14007782" y="9464064"/>
            <a:ext cx="3501390" cy="456536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5400" marR="0" lvl="0" indent="0" defTabSz="18288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Two</a:t>
            </a:r>
            <a:r>
              <a:rPr lang="en-US" sz="2800" kern="0" spc="-25" dirty="0">
                <a:solidFill>
                  <a:sysClr val="windowText" lastClr="000000"/>
                </a:solidFill>
                <a:latin typeface="Tw Cen MT"/>
                <a:cs typeface="Tw Cen MT"/>
              </a:rPr>
              <a:t>-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compartment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model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cs typeface="Tw Cen MT"/>
            </a:endParaRPr>
          </a:p>
        </p:txBody>
      </p:sp>
      <p:sp>
        <p:nvSpPr>
          <p:cNvPr id="38" name="object 8">
            <a:extLst>
              <a:ext uri="{FF2B5EF4-FFF2-40B4-BE49-F238E27FC236}">
                <a16:creationId xmlns:a16="http://schemas.microsoft.com/office/drawing/2014/main" id="{BF05C270-4AD8-794D-C9F6-784D0500FCA1}"/>
              </a:ext>
            </a:extLst>
          </p:cNvPr>
          <p:cNvSpPr txBox="1"/>
          <p:nvPr/>
        </p:nvSpPr>
        <p:spPr>
          <a:xfrm>
            <a:off x="13673826" y="5085426"/>
            <a:ext cx="932180" cy="59944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5400" marR="0" lvl="0" indent="0" defTabSz="18288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input</a:t>
            </a:r>
            <a:endParaRPr kumimoji="0" sz="3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cs typeface="Tw Cen MT"/>
            </a:endParaRPr>
          </a:p>
        </p:txBody>
      </p:sp>
      <p:sp>
        <p:nvSpPr>
          <p:cNvPr id="31" name="object 30">
            <a:extLst>
              <a:ext uri="{FF2B5EF4-FFF2-40B4-BE49-F238E27FC236}">
                <a16:creationId xmlns:a16="http://schemas.microsoft.com/office/drawing/2014/main" id="{50F88754-DF04-E596-9D2B-5D176B6A7F2B}"/>
              </a:ext>
            </a:extLst>
          </p:cNvPr>
          <p:cNvSpPr txBox="1"/>
          <p:nvPr/>
        </p:nvSpPr>
        <p:spPr>
          <a:xfrm>
            <a:off x="6921594" y="5860694"/>
            <a:ext cx="547370" cy="59944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5400" marR="0" lvl="0" indent="0" defTabSz="18288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Ka</a:t>
            </a:r>
            <a:endParaRPr kumimoji="0" sz="3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cs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458269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2738" y="1066248"/>
            <a:ext cx="9448248" cy="1750479"/>
          </a:xfrm>
          <a:prstGeom prst="rect">
            <a:avLst/>
          </a:prstGeom>
        </p:spPr>
        <p:txBody>
          <a:bodyPr vert="horz" wrap="square" lIns="0" tIns="6362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0"/>
              </a:spcBef>
            </a:pPr>
            <a:r>
              <a:rPr sz="72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ovariate Modeling</a:t>
            </a:r>
            <a:endParaRPr sz="7200" spc="6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52738" y="3726136"/>
            <a:ext cx="20231100" cy="624530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08278" marR="1492250" lvl="0" indent="-186690" algn="l" defTabSz="1828800" rtl="0" eaLnBrk="1" fontAlgn="auto" latinLnBrk="0" hangingPunct="1">
              <a:lnSpc>
                <a:spcPts val="4760"/>
              </a:lnSpc>
              <a:spcBef>
                <a:spcPts val="780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208278" algn="l"/>
                <a:tab pos="523240" algn="l"/>
              </a:tabLst>
              <a:defRPr/>
            </a:pP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	Identify</a:t>
            </a:r>
            <a:r>
              <a:rPr kumimoji="0" sz="4400" b="0" i="0" u="none" strike="noStrike" kern="0" cap="none" spc="-8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candidate</a:t>
            </a:r>
            <a:r>
              <a:rPr kumimoji="0" sz="4400" b="0" i="0" u="none" strike="noStrike" kern="0" cap="none" spc="-7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covariates,</a:t>
            </a:r>
            <a:r>
              <a:rPr kumimoji="0" sz="4400" b="0" i="0" u="none" strike="noStrike" kern="0" cap="none" spc="-6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biological</a:t>
            </a:r>
            <a:r>
              <a:rPr kumimoji="0" sz="4400" b="0" i="0" u="none" strike="noStrike" kern="0" cap="none" spc="-6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relevance</a:t>
            </a:r>
            <a:r>
              <a:rPr kumimoji="0" sz="4400" b="0" i="0" u="none" strike="noStrike" kern="0" cap="none" spc="-7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(e.g.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0" sz="4400" b="0" i="0" u="none" strike="noStrike" kern="0" cap="none" spc="-8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height</a:t>
            </a:r>
            <a:r>
              <a:rPr kumimoji="0" sz="4400" b="0" i="0" u="none" strike="noStrike" kern="0" cap="none" spc="-8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vs.</a:t>
            </a:r>
            <a:r>
              <a:rPr kumimoji="0" sz="4400" b="0" i="0" u="none" strike="noStrike" kern="0" cap="none" spc="-8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shoe</a:t>
            </a:r>
            <a:r>
              <a:rPr kumimoji="0" sz="4400" b="0" i="0" u="none" strike="noStrike" kern="0" cap="none" spc="-8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size,</a:t>
            </a:r>
            <a:r>
              <a:rPr kumimoji="0" sz="4400" b="0" i="0" u="none" strike="noStrike" kern="0" cap="none" spc="-8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weight,</a:t>
            </a:r>
            <a:r>
              <a:rPr kumimoji="0" sz="44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BMI</a:t>
            </a:r>
            <a:r>
              <a:rPr kumimoji="0" sz="44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kumimoji="0" sz="44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lean</a:t>
            </a:r>
            <a:r>
              <a:rPr kumimoji="0" sz="4400" b="0" i="0" u="none" strike="noStrike" kern="0" cap="none" spc="-6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kumimoji="0" sz="4400" b="0" i="0" u="none" strike="noStrike" kern="0" cap="none" spc="-6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weight)</a:t>
            </a:r>
            <a:endParaRPr kumimoji="0" sz="4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8278" marR="208278" lvl="0" indent="-186690" algn="l" defTabSz="1828800" rtl="0" eaLnBrk="1" fontAlgn="auto" latinLnBrk="0" hangingPunct="1">
              <a:lnSpc>
                <a:spcPts val="4760"/>
              </a:lnSpc>
              <a:spcBef>
                <a:spcPts val="2790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208278" algn="l"/>
                <a:tab pos="523240" algn="l"/>
              </a:tabLst>
              <a:defRPr/>
            </a:pP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	Evaluate</a:t>
            </a:r>
            <a:r>
              <a:rPr kumimoji="0" sz="4400" b="0" i="0" u="none" strike="noStrike" kern="0" cap="none" spc="-7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kumimoji="0" sz="4400" b="0" i="0" u="none" strike="noStrike" kern="0" cap="none" spc="-7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0" sz="44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covariates</a:t>
            </a:r>
            <a:r>
              <a:rPr kumimoji="0" sz="4400" b="0" i="0" u="none" strike="noStrike" kern="0" cap="none" spc="-7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kumimoji="0" sz="4400" b="0" i="0" u="none" strike="noStrike" kern="0" cap="none" spc="-8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r>
              <a:rPr kumimoji="0" sz="4400" b="0" i="0" u="none" strike="noStrike" kern="0" cap="none" spc="-7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kumimoji="0" sz="4400" b="0" i="0" u="none" strike="noStrike" kern="0" cap="none" spc="-9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covariates</a:t>
            </a:r>
            <a:r>
              <a:rPr kumimoji="0" sz="4400" b="0" i="0" u="none" strike="noStrike" kern="0" cap="none" spc="-7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(to</a:t>
            </a:r>
            <a:r>
              <a:rPr kumimoji="0" sz="4400" b="0" i="0" u="none" strike="noStrike" kern="0" cap="none" spc="-8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avoid</a:t>
            </a:r>
            <a:r>
              <a:rPr kumimoji="0" sz="4400" b="0" i="0" u="none" strike="noStrike" kern="0" cap="none" spc="-8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collinearity),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  <a:r>
              <a:rPr kumimoji="0" sz="44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kumimoji="0" sz="4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8278" marR="10160" lvl="0" indent="-186690" algn="l" defTabSz="1828800" rtl="0" eaLnBrk="1" fontAlgn="auto" latinLnBrk="0" hangingPunct="1">
              <a:lnSpc>
                <a:spcPts val="4760"/>
              </a:lnSpc>
              <a:spcBef>
                <a:spcPts val="2770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208278" algn="l"/>
                <a:tab pos="523240" algn="l"/>
              </a:tabLst>
              <a:defRPr/>
            </a:pP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	Screening:</a:t>
            </a:r>
            <a:r>
              <a:rPr kumimoji="0" sz="44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kumimoji="0" sz="44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Empirical</a:t>
            </a:r>
            <a:r>
              <a:rPr kumimoji="0" sz="44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Bayesian</a:t>
            </a:r>
            <a:r>
              <a:rPr kumimoji="0" sz="44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Estimate</a:t>
            </a:r>
            <a:r>
              <a:rPr kumimoji="0" sz="44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0" sz="4400" b="0" i="0" u="none" strike="noStrike" kern="0" cap="none" spc="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kumimoji="0" sz="44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  <a:r>
              <a:rPr kumimoji="0" sz="44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kumimoji="0" sz="44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random</a:t>
            </a:r>
            <a:r>
              <a:rPr kumimoji="0" sz="44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effect</a:t>
            </a:r>
            <a:r>
              <a:rPr kumimoji="0" sz="44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4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against covariates</a:t>
            </a:r>
            <a:endParaRPr kumimoji="0" sz="4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53720" marR="0" lvl="0" indent="-273050" algn="l" defTabSz="18288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CADE4"/>
              </a:buClr>
              <a:buSzTx/>
              <a:buFont typeface="Arial"/>
              <a:buChar char="•"/>
              <a:tabLst>
                <a:tab pos="553720" algn="l"/>
              </a:tabLst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kumimoji="0" sz="36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covariates</a:t>
            </a:r>
            <a:r>
              <a:rPr kumimoji="0" sz="36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kumimoji="0" sz="36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kumimoji="0" sz="36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formally</a:t>
            </a:r>
            <a:r>
              <a:rPr kumimoji="0" sz="3600" b="0" i="0" u="none" strike="noStrike" kern="0" cap="none" spc="-1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tested</a:t>
            </a:r>
            <a:r>
              <a:rPr kumimoji="0" sz="36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kumimoji="0" sz="3600" b="0" i="0" u="none" strike="noStrike" kern="0" cap="none" spc="-1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0" sz="36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kumimoji="0" sz="3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54990" marR="1352550" lvl="0" indent="-274320" algn="l" defTabSz="1828800" rtl="0" eaLnBrk="1" fontAlgn="auto" latinLnBrk="0" hangingPunct="1">
              <a:lnSpc>
                <a:spcPts val="3878"/>
              </a:lnSpc>
              <a:spcBef>
                <a:spcPts val="1260"/>
              </a:spcBef>
              <a:spcAft>
                <a:spcPts val="0"/>
              </a:spcAft>
              <a:buClr>
                <a:srgbClr val="1CADE4"/>
              </a:buClr>
              <a:buSzTx/>
              <a:buFont typeface="Arial"/>
              <a:buChar char="•"/>
              <a:tabLst>
                <a:tab pos="554990" algn="l"/>
              </a:tabLst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kumimoji="0" sz="36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proper</a:t>
            </a:r>
            <a:r>
              <a:rPr kumimoji="0" sz="36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candidate</a:t>
            </a:r>
            <a:r>
              <a:rPr kumimoji="0" sz="36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parameter-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covariate</a:t>
            </a:r>
            <a:r>
              <a:rPr kumimoji="0" sz="36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r>
              <a:rPr kumimoji="0" sz="36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(some</a:t>
            </a:r>
            <a:r>
              <a:rPr kumimoji="0" sz="36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should</a:t>
            </a:r>
            <a:r>
              <a:rPr kumimoji="0" sz="36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kumimoji="0" sz="36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kumimoji="0" sz="36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kumimoji="0" sz="36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knowledge</a:t>
            </a:r>
            <a:r>
              <a:rPr kumimoji="0" sz="36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kumimoji="0" sz="36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biology,</a:t>
            </a:r>
            <a:r>
              <a:rPr kumimoji="0" sz="36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physiology</a:t>
            </a:r>
            <a:r>
              <a:rPr kumimoji="0" lang="en-US" sz="36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0" sz="36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kumimoji="0" sz="36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allometric</a:t>
            </a:r>
            <a:r>
              <a:rPr kumimoji="0" sz="36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6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principles)</a:t>
            </a:r>
            <a:endParaRPr kumimoji="0" sz="3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2432" y="719456"/>
            <a:ext cx="19995240" cy="1750480"/>
          </a:xfrm>
          <a:prstGeom prst="rect">
            <a:avLst/>
          </a:prstGeom>
        </p:spPr>
        <p:txBody>
          <a:bodyPr vert="horz" wrap="square" lIns="0" tIns="6362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0"/>
              </a:spcBef>
            </a:pPr>
            <a:r>
              <a:rPr sz="7200" spc="6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7200" spc="60">
                <a:latin typeface="Arial" panose="020B0604020202020204" pitchFamily="34" charset="0"/>
                <a:cs typeface="Arial" panose="020B0604020202020204" pitchFamily="34" charset="0"/>
              </a:rPr>
              <a:t>imulation Based on a </a:t>
            </a:r>
            <a:r>
              <a:rPr lang="en-US" sz="7200" spc="60" err="1">
                <a:latin typeface="Arial" panose="020B0604020202020204" pitchFamily="34" charset="0"/>
                <a:cs typeface="Arial" panose="020B0604020202020204" pitchFamily="34" charset="0"/>
              </a:rPr>
              <a:t>PopPK</a:t>
            </a:r>
            <a:r>
              <a:rPr lang="en-US" sz="7200" spc="60"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  <a:endParaRPr sz="7200" spc="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21654" y="3291906"/>
            <a:ext cx="10096500" cy="8279190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478790" marR="0" lvl="0" indent="-454658" algn="l" defTabSz="1828800" rtl="0" eaLnBrk="1" fontAlgn="auto" latinLnBrk="0" hangingPunct="1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1CADE4"/>
              </a:buClr>
              <a:buSzPct val="95000"/>
              <a:buFont typeface="Wingdings"/>
              <a:buChar char=""/>
              <a:tabLst>
                <a:tab pos="478790" algn="l"/>
              </a:tabLst>
              <a:defRPr/>
            </a:pPr>
            <a:r>
              <a:rPr kumimoji="0" sz="4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Question</a:t>
            </a:r>
            <a:r>
              <a:rPr kumimoji="0" sz="4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kumimoji="0" sz="4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kumimoji="0" sz="4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addressed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8790" marR="0" lvl="0" indent="-454658" algn="l" defTabSz="1828800" rtl="0" eaLnBrk="1" fontAlgn="auto" latinLnBrk="0" hangingPunct="1">
              <a:lnSpc>
                <a:spcPts val="4580"/>
              </a:lnSpc>
              <a:spcBef>
                <a:spcPts val="1370"/>
              </a:spcBef>
              <a:spcAft>
                <a:spcPts val="0"/>
              </a:spcAft>
              <a:buClr>
                <a:srgbClr val="1CADE4"/>
              </a:buClr>
              <a:buSzPct val="95000"/>
              <a:buFont typeface="Wingdings"/>
              <a:buChar char=""/>
              <a:tabLst>
                <a:tab pos="478790" algn="l"/>
              </a:tabLst>
              <a:defRPr/>
            </a:pPr>
            <a:r>
              <a:rPr kumimoji="0" sz="4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r>
              <a:rPr kumimoji="0" sz="4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0" sz="4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simulations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0670" marR="0" lvl="0" indent="0" algn="l" defTabSz="1828800" rtl="0" eaLnBrk="1" fontAlgn="auto" latinLnBrk="0" hangingPunct="1">
              <a:lnSpc>
                <a:spcPts val="3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</a:t>
            </a:r>
            <a:r>
              <a:rPr kumimoji="0" sz="3400" b="0" i="0" u="none" strike="noStrike" kern="0" cap="none" spc="105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Typical</a:t>
            </a:r>
            <a:r>
              <a:rPr kumimoji="0" sz="3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profile</a:t>
            </a:r>
            <a:endParaRPr kumimoji="0" sz="3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0670" marR="0" lvl="0" indent="0" algn="l" defTabSz="1828800" rtl="0" eaLnBrk="1" fontAlgn="auto" latinLnBrk="0" hangingPunct="1">
              <a:lnSpc>
                <a:spcPts val="40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</a:t>
            </a:r>
            <a:r>
              <a:rPr kumimoji="0" sz="3400" b="0" i="0" u="none" strike="noStrike" kern="0" cap="none" spc="11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kumimoji="0" sz="3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0" sz="34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exposure</a:t>
            </a:r>
            <a:r>
              <a:rPr kumimoji="0" lang="en-US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kumimoji="0" sz="3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  <a:r>
              <a:rPr kumimoji="0" sz="3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sz="3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population</a:t>
            </a:r>
            <a:r>
              <a:rPr kumimoji="0" sz="3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(random</a:t>
            </a:r>
            <a:r>
              <a:rPr kumimoji="0" sz="3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effect)</a:t>
            </a:r>
            <a:endParaRPr kumimoji="0" sz="3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8790" marR="0" lvl="0" indent="-454658" algn="l" defTabSz="1828800" rtl="0" eaLnBrk="1" fontAlgn="auto" latinLnBrk="0" hangingPunct="1">
              <a:lnSpc>
                <a:spcPts val="4600"/>
              </a:lnSpc>
              <a:spcBef>
                <a:spcPts val="1750"/>
              </a:spcBef>
              <a:spcAft>
                <a:spcPts val="0"/>
              </a:spcAft>
              <a:buClr>
                <a:srgbClr val="1CADE4"/>
              </a:buClr>
              <a:buSzPct val="95000"/>
              <a:buFont typeface="Wingdings"/>
              <a:buChar char=""/>
              <a:tabLst>
                <a:tab pos="478790" algn="l"/>
              </a:tabLst>
              <a:defRPr/>
            </a:pPr>
            <a:r>
              <a:rPr kumimoji="0" sz="4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  <a:r>
              <a:rPr kumimoji="0" sz="4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0670" marR="0" lvl="0" indent="0" algn="l" defTabSz="1828800" rtl="0" eaLnBrk="1" fontAlgn="auto" latinLnBrk="0" hangingPunct="1">
              <a:lnSpc>
                <a:spcPts val="38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</a:t>
            </a:r>
            <a:r>
              <a:rPr kumimoji="0" sz="3400" b="0" i="0" u="none" strike="noStrike" kern="0" cap="none" spc="155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Dos</a:t>
            </a:r>
            <a:r>
              <a:rPr kumimoji="0" lang="en-US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ing</a:t>
            </a:r>
            <a:r>
              <a:rPr kumimoji="0" sz="3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regimen</a:t>
            </a:r>
            <a:endParaRPr kumimoji="0" sz="3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0670" marR="0" lvl="0" indent="0" algn="l" defTabSz="1828800" rtl="0" eaLnBrk="1" fontAlgn="auto" latinLnBrk="0" hangingPunct="1">
              <a:lnSpc>
                <a:spcPts val="4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</a:t>
            </a:r>
            <a:r>
              <a:rPr kumimoji="0" sz="3400" b="0" i="0" u="none" strike="noStrike" kern="0" cap="none" spc="125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Sampling</a:t>
            </a:r>
            <a:r>
              <a:rPr kumimoji="0" sz="3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r>
              <a:rPr kumimoji="0" sz="3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points</a:t>
            </a:r>
            <a:endParaRPr kumimoji="0" sz="3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0670" marR="0" lvl="0" indent="0" algn="l" defTabSz="1828800" rtl="0" eaLnBrk="1" fontAlgn="auto" latinLnBrk="0" hangingPunct="1">
              <a:lnSpc>
                <a:spcPts val="4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</a:t>
            </a:r>
            <a:r>
              <a:rPr kumimoji="0" sz="3400" b="0" i="0" u="none" strike="noStrike" kern="0" cap="none" spc="145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kumimoji="0" sz="3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0" sz="34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subjects</a:t>
            </a:r>
            <a:endParaRPr kumimoji="0" sz="3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0670" marR="0" lvl="0" indent="0" algn="l" defTabSz="1828800" rtl="0" eaLnBrk="1" fontAlgn="auto" latinLnBrk="0" hangingPunct="1">
              <a:lnSpc>
                <a:spcPts val="40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</a:t>
            </a:r>
            <a:r>
              <a:rPr kumimoji="0" sz="3400" b="0" i="0" u="none" strike="noStrike" kern="0" cap="none" spc="95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Realistic</a:t>
            </a:r>
            <a:r>
              <a:rPr kumimoji="0" sz="3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distribution</a:t>
            </a:r>
            <a:r>
              <a:rPr kumimoji="0" sz="3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kumimoji="0" sz="3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covariates</a:t>
            </a:r>
            <a:endParaRPr kumimoji="0" sz="3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8790" marR="0" lvl="0" indent="-454658" algn="l" defTabSz="1828800" rtl="0" eaLnBrk="1" fontAlgn="auto" latinLnBrk="0" hangingPunct="1">
              <a:lnSpc>
                <a:spcPts val="4600"/>
              </a:lnSpc>
              <a:spcBef>
                <a:spcPts val="1760"/>
              </a:spcBef>
              <a:spcAft>
                <a:spcPts val="0"/>
              </a:spcAft>
              <a:buClr>
                <a:srgbClr val="1CADE4"/>
              </a:buClr>
              <a:buSzPct val="95000"/>
              <a:buFont typeface="Wingdings"/>
              <a:buChar char=""/>
              <a:tabLst>
                <a:tab pos="478790" algn="l"/>
              </a:tabLst>
              <a:defRPr/>
            </a:pPr>
            <a:r>
              <a:rPr kumimoji="0" sz="4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Choice</a:t>
            </a:r>
            <a:r>
              <a:rPr kumimoji="0" sz="4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0" sz="40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4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parameters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0670" marR="0" lvl="0" indent="0" algn="l" defTabSz="1828800" rtl="0" eaLnBrk="1" fontAlgn="auto" latinLnBrk="0" hangingPunct="1">
              <a:lnSpc>
                <a:spcPts val="38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</a:t>
            </a:r>
            <a:r>
              <a:rPr kumimoji="0" sz="3400" b="0" i="0" u="none" strike="noStrike" kern="0" cap="none" spc="13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Final </a:t>
            </a:r>
            <a:r>
              <a:rPr kumimoji="0" sz="3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estimate</a:t>
            </a:r>
            <a:endParaRPr kumimoji="0" sz="3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0670" marR="0" lvl="0" indent="0" algn="l" defTabSz="1828800" rtl="0" eaLnBrk="1" fontAlgn="auto" latinLnBrk="0" hangingPunct="1">
              <a:lnSpc>
                <a:spcPts val="4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</a:t>
            </a:r>
            <a:r>
              <a:rPr kumimoji="0" sz="3400" b="0" i="0" u="none" strike="noStrike" kern="0" cap="none" spc="125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Uncertainty</a:t>
            </a:r>
            <a:r>
              <a:rPr kumimoji="0" sz="3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kumimoji="0" sz="3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  <a:r>
              <a:rPr kumimoji="0" sz="3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estimates</a:t>
            </a:r>
            <a:endParaRPr kumimoji="0" sz="3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0670" marR="0" lvl="0" indent="0" algn="l" defTabSz="1828800" rtl="0" eaLnBrk="1" fontAlgn="auto" latinLnBrk="0" hangingPunct="1">
              <a:lnSpc>
                <a:spcPts val="40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</a:t>
            </a:r>
            <a:r>
              <a:rPr kumimoji="0" sz="3400" b="0" i="0" u="none" strike="noStrike" kern="0" cap="none" spc="11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r>
              <a:rPr kumimoji="0" sz="3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kumimoji="0" sz="3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3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parameters</a:t>
            </a:r>
            <a:endParaRPr kumimoji="0" sz="3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CE8174-F3C3-200B-C037-3F2AA5EF0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7571" y="2603660"/>
            <a:ext cx="8659970" cy="4726264"/>
          </a:xfrm>
          <a:prstGeom prst="rect">
            <a:avLst/>
          </a:prstGeom>
        </p:spPr>
      </p:pic>
      <p:pic>
        <p:nvPicPr>
          <p:cNvPr id="5" name="Picture 4" descr="A graph of a graph showing the amount of time and time  AI-generated content may be incorrect.">
            <a:extLst>
              <a:ext uri="{FF2B5EF4-FFF2-40B4-BE49-F238E27FC236}">
                <a16:creationId xmlns:a16="http://schemas.microsoft.com/office/drawing/2014/main" id="{E63998E2-6C2B-87DA-BBF9-26DDFFF55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6014" y="7329924"/>
            <a:ext cx="7943084" cy="4765850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14CE58EE-89A5-46B0-23D1-B0C4DE307ED7}"/>
              </a:ext>
            </a:extLst>
          </p:cNvPr>
          <p:cNvSpPr txBox="1">
            <a:spLocks/>
          </p:cNvSpPr>
          <p:nvPr/>
        </p:nvSpPr>
        <p:spPr>
          <a:xfrm>
            <a:off x="13304610" y="11571096"/>
            <a:ext cx="8152952" cy="172937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000" b="0" i="0" kern="1200" cap="none" spc="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</a:lstStyle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PRAX-XXX 60mg and 100mg Population PK Model Predicted Steady State Concentration: </a:t>
            </a:r>
            <a:b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Shaded areas representing 5%, 27.5%, 50%, 72.5% and 95%ile of 1000 simulated patients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22D3B-664F-EE7D-45D4-0EF9DD449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E1A1BA4-86A2-5CF7-547B-404C19A88F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70922" y="1079500"/>
            <a:ext cx="20606578" cy="1750479"/>
          </a:xfrm>
          <a:prstGeom prst="rect">
            <a:avLst/>
          </a:prstGeom>
        </p:spPr>
        <p:txBody>
          <a:bodyPr vert="horz" wrap="square" lIns="0" tIns="636270" rIns="0" bIns="0" rtlCol="0" anchor="t">
            <a:spAutoFit/>
          </a:bodyPr>
          <a:lstStyle/>
          <a:p>
            <a:pPr marL="25400">
              <a:lnSpc>
                <a:spcPct val="100000"/>
              </a:lnSpc>
              <a:spcBef>
                <a:spcPts val="210"/>
              </a:spcBef>
            </a:pPr>
            <a:r>
              <a:rPr lang="en-US" sz="7200" dirty="0">
                <a:solidFill>
                  <a:schemeClr val="tx1"/>
                </a:solidFill>
                <a:latin typeface="Arial"/>
                <a:cs typeface="Arial"/>
              </a:rPr>
              <a:t>Useful Outputs</a:t>
            </a:r>
            <a:endParaRPr lang="en-US" sz="7200" spc="65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BC4557E-2833-4913-5385-84DEEF83A715}"/>
              </a:ext>
            </a:extLst>
          </p:cNvPr>
          <p:cNvSpPr txBox="1"/>
          <p:nvPr/>
        </p:nvSpPr>
        <p:spPr>
          <a:xfrm>
            <a:off x="3052728" y="3726136"/>
            <a:ext cx="20231100" cy="4511492"/>
          </a:xfrm>
          <a:prstGeom prst="rect">
            <a:avLst/>
          </a:prstGeom>
        </p:spPr>
        <p:txBody>
          <a:bodyPr vert="horz" wrap="square" lIns="0" tIns="99060" rIns="0" bIns="0" rtlCol="0" anchor="t">
            <a:spAutoFit/>
          </a:bodyPr>
          <a:lstStyle/>
          <a:p>
            <a:pPr marL="207010" marR="1492250" lvl="0" indent="-186690" algn="l" defTabSz="1828800" rtl="0" eaLnBrk="1" fontAlgn="auto" latinLnBrk="0" hangingPunct="1">
              <a:lnSpc>
                <a:spcPts val="4760"/>
              </a:lnSpc>
              <a:spcBef>
                <a:spcPts val="780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208278" algn="l"/>
                <a:tab pos="523240" algn="l"/>
              </a:tabLst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	A model that describes the PK we have seen in studies, with parameter estimates that can used in labeling and to explain observed data. </a:t>
            </a:r>
            <a:endParaRPr lang="en-US" sz="44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  <a:p>
            <a:pPr marL="207010" marR="207010" lvl="0" indent="-186690" algn="l" defTabSz="1828800" rtl="0" eaLnBrk="1" fontAlgn="auto" latinLnBrk="0" hangingPunct="1">
              <a:lnSpc>
                <a:spcPts val="4760"/>
              </a:lnSpc>
              <a:spcBef>
                <a:spcPts val="2790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208278" algn="l"/>
                <a:tab pos="523240" algn="l"/>
              </a:tabLst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	The model can be used to simulate scenarios that have not been tested clinically (e.g., different dosing regimens). </a:t>
            </a:r>
            <a:endParaRPr lang="en-US" sz="44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  <a:p>
            <a:pPr marL="207010" marR="10160" lvl="0" indent="-186690" algn="l" defTabSz="1828800" rtl="0" eaLnBrk="1" fontAlgn="auto" latinLnBrk="0" hangingPunct="1">
              <a:lnSpc>
                <a:spcPts val="4760"/>
              </a:lnSpc>
              <a:spcBef>
                <a:spcPts val="2770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208278" algn="l"/>
                <a:tab pos="523240" algn="l"/>
              </a:tabLst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Predicted exposures can be used in exposure-response analyses for efficacy and safety, to support dose selection.  </a:t>
            </a:r>
            <a:endParaRPr lang="en-US" sz="44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9199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ection Title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Case Study</a:t>
            </a:r>
          </a:p>
        </p:txBody>
      </p:sp>
      <p:sp>
        <p:nvSpPr>
          <p:cNvPr id="1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27734" y="12558612"/>
            <a:ext cx="241403" cy="38707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CE4131-16CD-5C4A-39BE-C8B762D79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Exploratory Data Analysis</a:t>
            </a:r>
          </a:p>
        </p:txBody>
      </p:sp>
      <p:pic>
        <p:nvPicPr>
          <p:cNvPr id="5" name="Graphic 100001">
            <a:extLst>
              <a:ext uri="{FF2B5EF4-FFF2-40B4-BE49-F238E27FC236}">
                <a16:creationId xmlns:a16="http://schemas.microsoft.com/office/drawing/2014/main" id="{30A30662-4E5B-0CDA-C384-FCE017CB9C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0139" y="2179888"/>
            <a:ext cx="8217852" cy="6122363"/>
          </a:xfrm>
          <a:prstGeom prst="rect">
            <a:avLst/>
          </a:prstGeom>
        </p:spPr>
      </p:pic>
      <p:pic>
        <p:nvPicPr>
          <p:cNvPr id="6" name="Graphic 100003">
            <a:extLst>
              <a:ext uri="{FF2B5EF4-FFF2-40B4-BE49-F238E27FC236}">
                <a16:creationId xmlns:a16="http://schemas.microsoft.com/office/drawing/2014/main" id="{BD8B36CC-6E30-29FD-5502-49568C2A54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00" y="2179888"/>
            <a:ext cx="8217853" cy="612236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41576B4-40FE-4B0F-C5A7-C1F871313A26}"/>
              </a:ext>
            </a:extLst>
          </p:cNvPr>
          <p:cNvSpPr/>
          <p:nvPr/>
        </p:nvSpPr>
        <p:spPr>
          <a:xfrm>
            <a:off x="3429544" y="6016484"/>
            <a:ext cx="462646" cy="135172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ysClr val="windowText" lastClr="000000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B8699F-E320-0A35-8101-4D5FF05698F5}"/>
              </a:ext>
            </a:extLst>
          </p:cNvPr>
          <p:cNvSpPr txBox="1"/>
          <p:nvPr/>
        </p:nvSpPr>
        <p:spPr>
          <a:xfrm rot="16200000">
            <a:off x="2893200" y="6461512"/>
            <a:ext cx="1536318" cy="461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PRAX-XXX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97BECF-7B2F-AE8D-8FC1-9E8D8140E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1089" y="8693427"/>
            <a:ext cx="19161821" cy="416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5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B4F0AF-D6C1-37DD-9168-6D2DE7DB2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Model Structure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33BB2D-0E91-90FF-FAC1-21B491727086}"/>
              </a:ext>
            </a:extLst>
          </p:cNvPr>
          <p:cNvSpPr/>
          <p:nvPr/>
        </p:nvSpPr>
        <p:spPr>
          <a:xfrm>
            <a:off x="8785928" y="5167432"/>
            <a:ext cx="2892972" cy="132430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Roboto Condensed" panose="02000000000000000000" pitchFamily="2" charset="0"/>
                <a:cs typeface="Arial" panose="020B0604020202020204" pitchFamily="34" charset="0"/>
              </a:rPr>
              <a:t>Central </a:t>
            </a:r>
          </a:p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Roboto Condensed" panose="02000000000000000000" pitchFamily="2" charset="0"/>
                <a:cs typeface="Arial" panose="020B0604020202020204" pitchFamily="34" charset="0"/>
              </a:rPr>
              <a:t>(V1)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5F2ABE5-E53E-6CA5-C680-D39900832A45}"/>
              </a:ext>
            </a:extLst>
          </p:cNvPr>
          <p:cNvSpPr/>
          <p:nvPr/>
        </p:nvSpPr>
        <p:spPr>
          <a:xfrm>
            <a:off x="8785928" y="7385318"/>
            <a:ext cx="2892972" cy="132430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Roboto Condensed" panose="02000000000000000000" pitchFamily="2" charset="0"/>
                <a:cs typeface="Arial" panose="020B0604020202020204" pitchFamily="34" charset="0"/>
              </a:rPr>
              <a:t>Peripheral </a:t>
            </a:r>
          </a:p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Roboto Condensed" panose="02000000000000000000" pitchFamily="2" charset="0"/>
                <a:cs typeface="Arial" panose="020B0604020202020204" pitchFamily="34" charset="0"/>
              </a:rPr>
              <a:t>(V2)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C89161-7E83-1537-8024-A05E7ED4FE71}"/>
              </a:ext>
            </a:extLst>
          </p:cNvPr>
          <p:cNvSpPr/>
          <p:nvPr/>
        </p:nvSpPr>
        <p:spPr>
          <a:xfrm>
            <a:off x="13817752" y="5187234"/>
            <a:ext cx="2892972" cy="132430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Roboto Condensed" panose="02000000000000000000" pitchFamily="2" charset="0"/>
                <a:cs typeface="Arial" panose="020B0604020202020204" pitchFamily="34" charset="0"/>
              </a:rPr>
              <a:t>Central </a:t>
            </a:r>
          </a:p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Roboto Condensed" panose="02000000000000000000" pitchFamily="2" charset="0"/>
                <a:cs typeface="Arial" panose="020B0604020202020204" pitchFamily="34" charset="0"/>
              </a:rPr>
              <a:t>(V1)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0684F3A-3DB6-61C3-E8C5-BA0B99B8C7C2}"/>
              </a:ext>
            </a:extLst>
          </p:cNvPr>
          <p:cNvSpPr/>
          <p:nvPr/>
        </p:nvSpPr>
        <p:spPr>
          <a:xfrm>
            <a:off x="13817752" y="7405120"/>
            <a:ext cx="2892972" cy="132430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Roboto Condensed" panose="02000000000000000000" pitchFamily="2" charset="0"/>
                <a:cs typeface="Arial" panose="020B0604020202020204" pitchFamily="34" charset="0"/>
              </a:rPr>
              <a:t>Peripheral (V2m)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274003-5697-5507-3850-FED910C23D00}"/>
              </a:ext>
            </a:extLst>
          </p:cNvPr>
          <p:cNvCxnSpPr/>
          <p:nvPr/>
        </p:nvCxnSpPr>
        <p:spPr>
          <a:xfrm>
            <a:off x="10252118" y="3669708"/>
            <a:ext cx="0" cy="1497724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30DB469-BB69-8920-4897-000948F1C745}"/>
              </a:ext>
            </a:extLst>
          </p:cNvPr>
          <p:cNvSpPr txBox="1"/>
          <p:nvPr/>
        </p:nvSpPr>
        <p:spPr>
          <a:xfrm>
            <a:off x="9629830" y="3072270"/>
            <a:ext cx="1244572" cy="615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Dose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5DBFEC-607D-F1EA-41C4-E6AB6A228F85}"/>
              </a:ext>
            </a:extLst>
          </p:cNvPr>
          <p:cNvCxnSpPr>
            <a:cxnSpLocks/>
          </p:cNvCxnSpPr>
          <p:nvPr/>
        </p:nvCxnSpPr>
        <p:spPr>
          <a:xfrm>
            <a:off x="9967638" y="6511538"/>
            <a:ext cx="0" cy="87378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C666D22-8E2D-52B8-E0BA-81165E0C8DA4}"/>
              </a:ext>
            </a:extLst>
          </p:cNvPr>
          <p:cNvCxnSpPr>
            <a:cxnSpLocks/>
          </p:cNvCxnSpPr>
          <p:nvPr/>
        </p:nvCxnSpPr>
        <p:spPr>
          <a:xfrm flipV="1">
            <a:off x="10502612" y="6491736"/>
            <a:ext cx="0" cy="83975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2EE00A-9233-98DB-2658-57DB711B78F0}"/>
              </a:ext>
            </a:extLst>
          </p:cNvPr>
          <p:cNvCxnSpPr>
            <a:cxnSpLocks/>
          </p:cNvCxnSpPr>
          <p:nvPr/>
        </p:nvCxnSpPr>
        <p:spPr>
          <a:xfrm flipH="1">
            <a:off x="7205670" y="5829584"/>
            <a:ext cx="1439918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14E9DC5-21E2-3EBF-FB65-22C53BD4E100}"/>
              </a:ext>
            </a:extLst>
          </p:cNvPr>
          <p:cNvSpPr txBox="1"/>
          <p:nvPr/>
        </p:nvSpPr>
        <p:spPr>
          <a:xfrm>
            <a:off x="10252118" y="4110794"/>
            <a:ext cx="766876" cy="615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60116A-CB64-A86A-736F-459DF9F01159}"/>
              </a:ext>
            </a:extLst>
          </p:cNvPr>
          <p:cNvSpPr txBox="1"/>
          <p:nvPr/>
        </p:nvSpPr>
        <p:spPr>
          <a:xfrm>
            <a:off x="10502612" y="6625042"/>
            <a:ext cx="648256" cy="615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969CE3-1C65-8AD3-8AB7-8AF3A3DEDBE9}"/>
              </a:ext>
            </a:extLst>
          </p:cNvPr>
          <p:cNvSpPr txBox="1"/>
          <p:nvPr/>
        </p:nvSpPr>
        <p:spPr>
          <a:xfrm>
            <a:off x="7623152" y="5233832"/>
            <a:ext cx="728404" cy="615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</a:t>
            </a:r>
            <a:endParaRPr kumimoji="0" lang="en-US" sz="2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8F87962-8162-28E6-E369-20ED72B1BFD7}"/>
              </a:ext>
            </a:extLst>
          </p:cNvPr>
          <p:cNvCxnSpPr>
            <a:cxnSpLocks/>
          </p:cNvCxnSpPr>
          <p:nvPr/>
        </p:nvCxnSpPr>
        <p:spPr>
          <a:xfrm>
            <a:off x="11718310" y="5829584"/>
            <a:ext cx="2099442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B4CF135-C4A9-D059-D570-C24055119564}"/>
              </a:ext>
            </a:extLst>
          </p:cNvPr>
          <p:cNvCxnSpPr>
            <a:cxnSpLocks/>
          </p:cNvCxnSpPr>
          <p:nvPr/>
        </p:nvCxnSpPr>
        <p:spPr>
          <a:xfrm>
            <a:off x="14994038" y="6537048"/>
            <a:ext cx="0" cy="87378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43F619B-8EAC-1E19-C38B-27851B59BAB6}"/>
              </a:ext>
            </a:extLst>
          </p:cNvPr>
          <p:cNvCxnSpPr>
            <a:cxnSpLocks/>
          </p:cNvCxnSpPr>
          <p:nvPr/>
        </p:nvCxnSpPr>
        <p:spPr>
          <a:xfrm flipV="1">
            <a:off x="15529012" y="6517246"/>
            <a:ext cx="0" cy="83975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2D279A7-3513-51FD-7C6A-8C5799C65DD3}"/>
              </a:ext>
            </a:extLst>
          </p:cNvPr>
          <p:cNvSpPr txBox="1"/>
          <p:nvPr/>
        </p:nvSpPr>
        <p:spPr>
          <a:xfrm>
            <a:off x="15529012" y="6650552"/>
            <a:ext cx="968856" cy="615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Qm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E9A438-471D-569B-46E2-4711D073FDEA}"/>
              </a:ext>
            </a:extLst>
          </p:cNvPr>
          <p:cNvSpPr txBox="1"/>
          <p:nvPr/>
        </p:nvSpPr>
        <p:spPr>
          <a:xfrm>
            <a:off x="12184218" y="5200632"/>
            <a:ext cx="1167628" cy="615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Kpm</a:t>
            </a:r>
            <a:endParaRPr kumimoji="0" lang="en-US" sz="2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0E01EBC-8C4F-D0F1-1879-E725BF47477A}"/>
              </a:ext>
            </a:extLst>
          </p:cNvPr>
          <p:cNvCxnSpPr>
            <a:cxnSpLocks/>
          </p:cNvCxnSpPr>
          <p:nvPr/>
        </p:nvCxnSpPr>
        <p:spPr>
          <a:xfrm>
            <a:off x="16784948" y="5851426"/>
            <a:ext cx="1445766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4F5523F-A9D6-BD31-E9CB-D0E0F0209DE1}"/>
              </a:ext>
            </a:extLst>
          </p:cNvPr>
          <p:cNvSpPr txBox="1"/>
          <p:nvPr/>
        </p:nvSpPr>
        <p:spPr>
          <a:xfrm>
            <a:off x="17047112" y="5233928"/>
            <a:ext cx="1049006" cy="615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Clm</a:t>
            </a:r>
            <a:endParaRPr kumimoji="0" lang="en-US" sz="2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62D4C52-993C-566B-F6EF-75ECB5F83AC8}"/>
              </a:ext>
            </a:extLst>
          </p:cNvPr>
          <p:cNvCxnSpPr/>
          <p:nvPr/>
        </p:nvCxnSpPr>
        <p:spPr>
          <a:xfrm>
            <a:off x="8196336" y="2879882"/>
            <a:ext cx="391026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E746946-2FC5-6A1D-259B-22FB979CCAB6}"/>
              </a:ext>
            </a:extLst>
          </p:cNvPr>
          <p:cNvCxnSpPr/>
          <p:nvPr/>
        </p:nvCxnSpPr>
        <p:spPr>
          <a:xfrm>
            <a:off x="13318846" y="2879882"/>
            <a:ext cx="391026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D3AFA2F-76F6-6A2B-7542-58083F658F0A}"/>
              </a:ext>
            </a:extLst>
          </p:cNvPr>
          <p:cNvSpPr txBox="1"/>
          <p:nvPr/>
        </p:nvSpPr>
        <p:spPr>
          <a:xfrm>
            <a:off x="8406740" y="2229072"/>
            <a:ext cx="3661900" cy="615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Parent (PRAX-XXX)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FD7340-F08E-6C4C-B127-D0C7699419DC}"/>
              </a:ext>
            </a:extLst>
          </p:cNvPr>
          <p:cNvSpPr txBox="1"/>
          <p:nvPr/>
        </p:nvSpPr>
        <p:spPr>
          <a:xfrm>
            <a:off x="13680150" y="2229072"/>
            <a:ext cx="3168176" cy="615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Metabolite (M12)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6248AC-0F15-BC94-346E-5C936D77D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444" y="9232707"/>
            <a:ext cx="16313548" cy="352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243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562A33-BCBB-946F-0F30-C3FC058FC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82880" tIns="91440" rIns="182880" bIns="91440" anchor="ctr" anchorCtr="0">
            <a:noAutofit/>
          </a:bodyPr>
          <a:lstStyle/>
          <a:p>
            <a:pPr algn="ctr"/>
            <a:r>
              <a:rPr lang="en-US" sz="6000" b="1" dirty="0">
                <a:latin typeface="Arial"/>
                <a:ea typeface="Roboto Light"/>
                <a:cs typeface="Arial"/>
              </a:rPr>
              <a:t>Estimated Population PK model Parameters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80594A-DA75-3D6F-D9B8-FB43C9748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836971"/>
              </p:ext>
            </p:extLst>
          </p:nvPr>
        </p:nvGraphicFramePr>
        <p:xfrm>
          <a:off x="2990850" y="2989607"/>
          <a:ext cx="18402300" cy="8718435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319691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8925033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3181571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984327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1831341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8003961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7004413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Stoch. Approx.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22026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S.E.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R.S.E.(%)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P2.5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P97.5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244612805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Fixed Effects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543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ka_pop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0.232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0.0312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13.442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0.179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0.301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658954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V1_pop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19.825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2.24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11.3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15.919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24.688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3619631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Cl_pop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6.88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2.794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40.605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3.352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14.123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3519607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Q_pop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23.731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1.182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4.979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21.528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26.159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1660195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V2_pop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1093.622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44.957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4.111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1009.066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1185.263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3969262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Clm_pop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6.462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1.226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18.977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4.497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9.285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3474293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Qm_pop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23.281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16.595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71.284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7.745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69.981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2703883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V2m_pop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53.657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10.795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20.118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36.578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78.71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3427430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Kpm_pop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0.0571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0.016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28.09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0.0339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0.0963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328871895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Standard Deviation of the Random Effects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090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C.V.(%)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090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omega_ka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0.328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33.747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0.0884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26.926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0.199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0.543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4200329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omega_V1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0.0607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6.077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0.115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190.175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0.00943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0.391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1181569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omega_Cl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1.023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135.832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0.255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24.961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0.64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1.634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4118243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omega_V2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0.0282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2.818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0.0432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153.493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0.00517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0.154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3678091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omega_Qm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0.844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101.917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0.406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48.113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1.926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3677789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omega_Kpm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0.502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53.54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0.145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28.864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0.294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0.857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1713934438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Error Model Parameters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30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aParent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5.627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0.393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6.989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4.909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6.45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2485277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bParent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0.163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0.0117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7.143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0.142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0.188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374962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aM12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3.432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0.311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9.061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2.877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4.095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2846716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375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42A324-A416-CED9-7F95-3122A16B965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116066" y="11229534"/>
            <a:ext cx="19995240" cy="1446660"/>
          </a:xfrm>
        </p:spPr>
        <p:txBody>
          <a:bodyPr lIns="182880" tIns="91440" rIns="182880" bIns="91440" numCol="1" anchor="t" anchorCtr="0"/>
          <a:lstStyle/>
          <a:p>
            <a:r>
              <a:rPr lang="en-US" sz="3200" dirty="0">
                <a:latin typeface="Arial"/>
                <a:ea typeface="Roboto Light"/>
                <a:cs typeface="Arial"/>
              </a:rPr>
              <a:t>Observed PK concentrations (blue dots) overlapped well with model-predicted plasma concentrations over PK sampling time for both PRAX-XXX (left panel) and M12 (right panel)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4F23D1-F4DE-3E7C-A040-A004B3E03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82880" tIns="91440" rIns="182880" bIns="91440" anchor="ctr" anchorCtr="0">
            <a:noAutofit/>
          </a:bodyPr>
          <a:lstStyle/>
          <a:p>
            <a:pPr algn="ctr"/>
            <a:r>
              <a:rPr lang="en-US" sz="6000" b="1" dirty="0">
                <a:latin typeface="Arial"/>
                <a:ea typeface="Roboto Light"/>
                <a:cs typeface="Arial"/>
              </a:rPr>
              <a:t>PRAX-XXX-105 (hAME) Study Goodness-of-fit: Individual fits</a:t>
            </a:r>
          </a:p>
        </p:txBody>
      </p:sp>
      <p:pic>
        <p:nvPicPr>
          <p:cNvPr id="5" name="Graphic 100009">
            <a:extLst>
              <a:ext uri="{FF2B5EF4-FFF2-40B4-BE49-F238E27FC236}">
                <a16:creationId xmlns:a16="http://schemas.microsoft.com/office/drawing/2014/main" id="{EB002D31-9BEF-6C6B-3D98-1FAABA8023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6066" y="3162300"/>
            <a:ext cx="9921240" cy="7391400"/>
          </a:xfrm>
          <a:prstGeom prst="rect">
            <a:avLst/>
          </a:prstGeom>
        </p:spPr>
      </p:pic>
      <p:pic>
        <p:nvPicPr>
          <p:cNvPr id="6" name="Graphic 100011">
            <a:extLst>
              <a:ext uri="{FF2B5EF4-FFF2-40B4-BE49-F238E27FC236}">
                <a16:creationId xmlns:a16="http://schemas.microsoft.com/office/drawing/2014/main" id="{EB2424A4-9059-F53E-79EE-A3E9EA5719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37306" y="3162300"/>
            <a:ext cx="9921240" cy="7391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B10A20-C146-85A9-A709-B5E119840526}"/>
              </a:ext>
            </a:extLst>
          </p:cNvPr>
          <p:cNvSpPr txBox="1"/>
          <p:nvPr/>
        </p:nvSpPr>
        <p:spPr>
          <a:xfrm>
            <a:off x="6455824" y="2494776"/>
            <a:ext cx="51356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PRAX-XXX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2D6E5-511C-EB41-0A25-B177DB95313E}"/>
              </a:ext>
            </a:extLst>
          </p:cNvPr>
          <p:cNvSpPr txBox="1"/>
          <p:nvPr/>
        </p:nvSpPr>
        <p:spPr>
          <a:xfrm>
            <a:off x="15928928" y="2463448"/>
            <a:ext cx="51356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M12 metabolite</a:t>
            </a:r>
          </a:p>
        </p:txBody>
      </p:sp>
    </p:spTree>
    <p:extLst>
      <p:ext uri="{BB962C8B-B14F-4D97-AF65-F5344CB8AC3E}">
        <p14:creationId xmlns:p14="http://schemas.microsoft.com/office/powerpoint/2010/main" val="21388589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7E553E-5277-E9FA-62EA-34C4680B7CC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062432" y="10951192"/>
            <a:ext cx="19995240" cy="1286384"/>
          </a:xfrm>
        </p:spPr>
        <p:txBody>
          <a:bodyPr/>
          <a:lstStyle/>
          <a:p>
            <a:r>
              <a:rPr lang="en-US" sz="3600">
                <a:latin typeface="Arial" panose="020B0604020202020204" pitchFamily="34" charset="0"/>
                <a:cs typeface="Arial" panose="020B0604020202020204" pitchFamily="34" charset="0"/>
              </a:rPr>
              <a:t>Individual model-predicted and observed PK data are in a line of unity.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186EB-93AE-54D5-BE31-C7D2A1441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82880" tIns="91440" rIns="182880" bIns="91440" anchor="ctr" anchorCtr="0">
            <a:noAutofit/>
          </a:bodyPr>
          <a:lstStyle/>
          <a:p>
            <a:pPr algn="ctr"/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Roboto Light"/>
                <a:cs typeface="Arial"/>
              </a:rPr>
              <a:t>Goodness-of-fit: Observation vs Predictions</a:t>
            </a:r>
            <a:r>
              <a:rPr lang="en-US" sz="5000" b="1" dirty="0">
                <a:solidFill>
                  <a:srgbClr val="000000"/>
                </a:solidFill>
                <a:latin typeface="Arial"/>
                <a:ea typeface="Roboto Light"/>
                <a:cs typeface="Arial"/>
              </a:rPr>
              <a:t> </a:t>
            </a:r>
            <a:br>
              <a:rPr lang="en-US" sz="5000" b="1" dirty="0">
                <a:solidFill>
                  <a:srgbClr val="000000"/>
                </a:solidFill>
                <a:latin typeface="Arial"/>
                <a:ea typeface="Roboto Light"/>
                <a:cs typeface="Arial"/>
              </a:rPr>
            </a:br>
            <a:r>
              <a:rPr lang="en-US" sz="5000" b="1" dirty="0">
                <a:solidFill>
                  <a:srgbClr val="000000"/>
                </a:solidFill>
                <a:latin typeface="Arial"/>
                <a:ea typeface="Roboto Light"/>
                <a:cs typeface="Arial"/>
              </a:rPr>
              <a:t>(PRAX-XXX-105 hAME Study)</a:t>
            </a:r>
            <a:endParaRPr lang="en-US" sz="5000" dirty="0"/>
          </a:p>
        </p:txBody>
      </p:sp>
      <p:pic>
        <p:nvPicPr>
          <p:cNvPr id="5" name="Graphic 100015">
            <a:extLst>
              <a:ext uri="{FF2B5EF4-FFF2-40B4-BE49-F238E27FC236}">
                <a16:creationId xmlns:a16="http://schemas.microsoft.com/office/drawing/2014/main" id="{C29C35CE-5106-0427-7E37-99E5F41AF0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136432" y="2947916"/>
            <a:ext cx="9921240" cy="7391400"/>
          </a:xfrm>
          <a:prstGeom prst="rect">
            <a:avLst/>
          </a:prstGeom>
        </p:spPr>
      </p:pic>
      <p:pic>
        <p:nvPicPr>
          <p:cNvPr id="6" name="Graphic 100013">
            <a:extLst>
              <a:ext uri="{FF2B5EF4-FFF2-40B4-BE49-F238E27FC236}">
                <a16:creationId xmlns:a16="http://schemas.microsoft.com/office/drawing/2014/main" id="{B78DD0FF-A284-8CFB-FE87-3EB00E793A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8812" y="2947916"/>
            <a:ext cx="9921240" cy="7391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0ADF11-6E6B-6F6B-ED09-D8CCB824FAE4}"/>
              </a:ext>
            </a:extLst>
          </p:cNvPr>
          <p:cNvSpPr txBox="1"/>
          <p:nvPr/>
        </p:nvSpPr>
        <p:spPr>
          <a:xfrm>
            <a:off x="6889548" y="2764808"/>
            <a:ext cx="2578270" cy="707886"/>
          </a:xfrm>
          <a:prstGeom prst="rect">
            <a:avLst/>
          </a:prstGeom>
          <a:noFill/>
        </p:spPr>
        <p:txBody>
          <a:bodyPr wrap="none" lIns="182880" tIns="91440" rIns="182880" bIns="91440" rtlCol="0" anchor="t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PRAX-XXX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DAF701-5C35-D25B-F4AB-1D37F9DF3F0C}"/>
              </a:ext>
            </a:extLst>
          </p:cNvPr>
          <p:cNvSpPr txBox="1"/>
          <p:nvPr/>
        </p:nvSpPr>
        <p:spPr>
          <a:xfrm>
            <a:off x="17487590" y="2947916"/>
            <a:ext cx="12189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M12</a:t>
            </a:r>
          </a:p>
        </p:txBody>
      </p:sp>
    </p:spTree>
    <p:extLst>
      <p:ext uri="{BB962C8B-B14F-4D97-AF65-F5344CB8AC3E}">
        <p14:creationId xmlns:p14="http://schemas.microsoft.com/office/powerpoint/2010/main" val="32331045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AF7014-34AE-12C6-ADE6-521E32447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82880" tIns="91440" rIns="182880" bIns="91440" anchor="ctr" anchorCtr="0">
            <a:noAutofit/>
          </a:bodyPr>
          <a:lstStyle/>
          <a:p>
            <a:pPr algn="ctr"/>
            <a:r>
              <a:rPr lang="en-US" b="1" dirty="0">
                <a:latin typeface="Arial"/>
                <a:ea typeface="Roboto Light"/>
              </a:rPr>
              <a:t> </a:t>
            </a:r>
            <a:r>
              <a:rPr lang="en-US" sz="5000" b="1" dirty="0">
                <a:latin typeface="Arial"/>
                <a:ea typeface="Roboto Light"/>
              </a:rPr>
              <a:t>Ph1 Study M12 Goodness-of-fit: Individual fits</a:t>
            </a:r>
            <a:endParaRPr lang="en-US" sz="5000" b="1" dirty="0">
              <a:latin typeface="Arial"/>
            </a:endParaRPr>
          </a:p>
        </p:txBody>
      </p:sp>
      <p:pic>
        <p:nvPicPr>
          <p:cNvPr id="5" name="Picture 4" descr="A collage of graphs  AI-generated content may be incorrect.">
            <a:extLst>
              <a:ext uri="{FF2B5EF4-FFF2-40B4-BE49-F238E27FC236}">
                <a16:creationId xmlns:a16="http://schemas.microsoft.com/office/drawing/2014/main" id="{48A00090-348E-AEB5-1E7F-C6A2B5023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96" y="2495548"/>
            <a:ext cx="9969886" cy="7961168"/>
          </a:xfrm>
          <a:prstGeom prst="rect">
            <a:avLst/>
          </a:prstGeom>
        </p:spPr>
      </p:pic>
      <p:pic>
        <p:nvPicPr>
          <p:cNvPr id="6" name="Picture 5" descr="A collage of graphs  AI-generated content may be incorrect.">
            <a:extLst>
              <a:ext uri="{FF2B5EF4-FFF2-40B4-BE49-F238E27FC236}">
                <a16:creationId xmlns:a16="http://schemas.microsoft.com/office/drawing/2014/main" id="{CB0A3E00-466B-248B-AB4D-0EB0E78F0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634" y="2495550"/>
            <a:ext cx="10397646" cy="7961168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65706143-B7FF-D3C1-2BB3-4788756C932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116066" y="11229534"/>
            <a:ext cx="19995240" cy="1446660"/>
          </a:xfrm>
        </p:spPr>
        <p:txBody>
          <a:bodyPr lIns="182880" tIns="91440" rIns="182880" bIns="91440" numCol="1" anchor="t" anchorCtr="0"/>
          <a:lstStyle/>
          <a:p>
            <a:r>
              <a:rPr lang="en-US" sz="3200" dirty="0">
                <a:latin typeface="Arial"/>
                <a:ea typeface="Roboto Light"/>
                <a:cs typeface="Arial"/>
              </a:rPr>
              <a:t>Observed PK concentrations (blue dots) overlapped well with model-predicted plasma concentrations for M12 in Ph1 study</a:t>
            </a:r>
          </a:p>
        </p:txBody>
      </p:sp>
    </p:spTree>
    <p:extLst>
      <p:ext uri="{BB962C8B-B14F-4D97-AF65-F5344CB8AC3E}">
        <p14:creationId xmlns:p14="http://schemas.microsoft.com/office/powerpoint/2010/main" val="49732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89B5F1-79EC-CB39-E470-67351FA6502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062432" y="10604308"/>
            <a:ext cx="19995240" cy="1978928"/>
          </a:xfrm>
        </p:spPr>
        <p:txBody>
          <a:bodyPr/>
          <a:lstStyle/>
          <a:p>
            <a:r>
              <a:rPr lang="en-US" sz="3600">
                <a:latin typeface="Arial" panose="020B0604020202020204" pitchFamily="34" charset="0"/>
                <a:cs typeface="Arial" panose="020B0604020202020204" pitchFamily="34" charset="0"/>
              </a:rPr>
              <a:t>VPC is a simulation-based model diagnostic tool to validate a PK model by graphically comparing simulated data from the model to the original observed data: 95, 50 and 5 percentile prediction intervals overlaid with empirical and predicted percentiles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C23F59-5FDB-2F08-718B-7EDEC3239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Goodness-of-fit: Visual Predictive Check (VPC) </a:t>
            </a:r>
          </a:p>
        </p:txBody>
      </p:sp>
      <p:pic>
        <p:nvPicPr>
          <p:cNvPr id="5" name="Graphic 100025">
            <a:extLst>
              <a:ext uri="{FF2B5EF4-FFF2-40B4-BE49-F238E27FC236}">
                <a16:creationId xmlns:a16="http://schemas.microsoft.com/office/drawing/2014/main" id="{ED6BB249-CF19-05F5-1F60-A08146DD6C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70760" y="2486466"/>
            <a:ext cx="9921240" cy="7391400"/>
          </a:xfrm>
          <a:prstGeom prst="rect">
            <a:avLst/>
          </a:prstGeom>
        </p:spPr>
      </p:pic>
      <p:pic>
        <p:nvPicPr>
          <p:cNvPr id="6" name="Graphic 100027">
            <a:extLst>
              <a:ext uri="{FF2B5EF4-FFF2-40B4-BE49-F238E27FC236}">
                <a16:creationId xmlns:a16="http://schemas.microsoft.com/office/drawing/2014/main" id="{D2ECBB9B-9CF5-CFDB-E542-D27AC7FC17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64216" y="2486466"/>
            <a:ext cx="9921240" cy="7391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B903B75-DF73-D3E7-09B4-57F33806578C}"/>
              </a:ext>
            </a:extLst>
          </p:cNvPr>
          <p:cNvSpPr/>
          <p:nvPr/>
        </p:nvSpPr>
        <p:spPr>
          <a:xfrm>
            <a:off x="2337020" y="6967400"/>
            <a:ext cx="462646" cy="135172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ysClr val="windowText" lastClr="000000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7D30B5-99B4-A4EB-E043-026C676DCA5B}"/>
              </a:ext>
            </a:extLst>
          </p:cNvPr>
          <p:cNvSpPr txBox="1"/>
          <p:nvPr/>
        </p:nvSpPr>
        <p:spPr>
          <a:xfrm rot="16200000">
            <a:off x="1862206" y="7348198"/>
            <a:ext cx="1411284" cy="430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PRAX-XXX</a:t>
            </a:r>
          </a:p>
        </p:txBody>
      </p:sp>
    </p:spTree>
    <p:extLst>
      <p:ext uri="{BB962C8B-B14F-4D97-AF65-F5344CB8AC3E}">
        <p14:creationId xmlns:p14="http://schemas.microsoft.com/office/powerpoint/2010/main" val="3201837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5A2576-9C9D-6BF8-BF9F-2B9949B05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908106"/>
            <a:ext cx="21971000" cy="1433163"/>
          </a:xfrm>
        </p:spPr>
        <p:txBody>
          <a:bodyPr lIns="182880" tIns="91440" rIns="182880" bIns="91440" anchor="ctr" anchorCtr="0">
            <a:noAutofit/>
          </a:bodyPr>
          <a:lstStyle/>
          <a:p>
            <a:pPr algn="ctr"/>
            <a:r>
              <a:rPr lang="en-US" sz="4000" b="1" dirty="0">
                <a:solidFill>
                  <a:srgbClr val="000000"/>
                </a:solidFill>
                <a:latin typeface="Arial"/>
                <a:ea typeface="Roboto Light"/>
                <a:cs typeface="Arial"/>
              </a:rPr>
              <a:t>Model-predicted Typical Conc vs Time Profile (90 mg QD)</a:t>
            </a:r>
            <a:endParaRPr lang="en-US" sz="40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D992233-FA4B-A6CB-A22B-965CD3C53279}"/>
              </a:ext>
            </a:extLst>
          </p:cNvPr>
          <p:cNvGraphicFramePr>
            <a:graphicFrameLocks noGrp="1"/>
          </p:cNvGraphicFramePr>
          <p:nvPr/>
        </p:nvGraphicFramePr>
        <p:xfrm>
          <a:off x="2296160" y="8562812"/>
          <a:ext cx="20761512" cy="1432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60252">
                  <a:extLst>
                    <a:ext uri="{9D8B030D-6E8A-4147-A177-3AD203B41FA5}">
                      <a16:colId xmlns:a16="http://schemas.microsoft.com/office/drawing/2014/main" val="1949694768"/>
                    </a:ext>
                  </a:extLst>
                </a:gridCol>
                <a:gridCol w="3460252">
                  <a:extLst>
                    <a:ext uri="{9D8B030D-6E8A-4147-A177-3AD203B41FA5}">
                      <a16:colId xmlns:a16="http://schemas.microsoft.com/office/drawing/2014/main" val="2534596164"/>
                    </a:ext>
                  </a:extLst>
                </a:gridCol>
                <a:gridCol w="3460252">
                  <a:extLst>
                    <a:ext uri="{9D8B030D-6E8A-4147-A177-3AD203B41FA5}">
                      <a16:colId xmlns:a16="http://schemas.microsoft.com/office/drawing/2014/main" val="1531442153"/>
                    </a:ext>
                  </a:extLst>
                </a:gridCol>
                <a:gridCol w="3460252">
                  <a:extLst>
                    <a:ext uri="{9D8B030D-6E8A-4147-A177-3AD203B41FA5}">
                      <a16:colId xmlns:a16="http://schemas.microsoft.com/office/drawing/2014/main" val="295778892"/>
                    </a:ext>
                  </a:extLst>
                </a:gridCol>
                <a:gridCol w="3460252">
                  <a:extLst>
                    <a:ext uri="{9D8B030D-6E8A-4147-A177-3AD203B41FA5}">
                      <a16:colId xmlns:a16="http://schemas.microsoft.com/office/drawing/2014/main" val="2718835370"/>
                    </a:ext>
                  </a:extLst>
                </a:gridCol>
                <a:gridCol w="3460252">
                  <a:extLst>
                    <a:ext uri="{9D8B030D-6E8A-4147-A177-3AD203B41FA5}">
                      <a16:colId xmlns:a16="http://schemas.microsoft.com/office/drawing/2014/main" val="2885554875"/>
                    </a:ext>
                  </a:extLst>
                </a:gridCol>
              </a:tblGrid>
              <a:tr h="420120">
                <a:tc gridSpan="6"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latin typeface="Arial"/>
                          <a:cs typeface="Arial"/>
                        </a:rPr>
                        <a:t>Adult M12 Median Model-Predicted PK Parameters at Steady State (n=1000)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061967"/>
                  </a:ext>
                </a:extLst>
              </a:tr>
              <a:tr h="420120">
                <a:tc>
                  <a:txBody>
                    <a:bodyPr/>
                    <a:lstStyle/>
                    <a:p>
                      <a:pPr algn="ctr"/>
                      <a:r>
                        <a:rPr lang="en-US" sz="2400" err="1">
                          <a:latin typeface="Arial"/>
                          <a:cs typeface="Arial"/>
                        </a:rPr>
                        <a:t>Cmin</a:t>
                      </a:r>
                      <a:r>
                        <a:rPr lang="en-US" sz="2400">
                          <a:latin typeface="Arial"/>
                          <a:cs typeface="Arial"/>
                        </a:rPr>
                        <a:t> (ng/mL)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err="1">
                          <a:latin typeface="Arial"/>
                          <a:cs typeface="Arial"/>
                        </a:rPr>
                        <a:t>Cmax</a:t>
                      </a:r>
                      <a:r>
                        <a:rPr lang="en-US" sz="2400">
                          <a:latin typeface="Arial"/>
                          <a:cs typeface="Arial"/>
                        </a:rPr>
                        <a:t> (ng/mL)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Arial"/>
                          <a:cs typeface="Arial"/>
                        </a:rPr>
                        <a:t>AUCtau (ng/mL*</a:t>
                      </a:r>
                      <a:r>
                        <a:rPr lang="en-US" sz="2400" err="1">
                          <a:latin typeface="Arial"/>
                          <a:cs typeface="Arial"/>
                        </a:rPr>
                        <a:t>hr</a:t>
                      </a:r>
                      <a:r>
                        <a:rPr lang="en-US" sz="2400">
                          <a:latin typeface="Arial"/>
                          <a:cs typeface="Arial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err="1">
                          <a:latin typeface="Arial"/>
                          <a:cs typeface="Arial"/>
                        </a:rPr>
                        <a:t>Tmax</a:t>
                      </a:r>
                      <a:r>
                        <a:rPr lang="en-US" sz="2400">
                          <a:latin typeface="Arial"/>
                          <a:cs typeface="Arial"/>
                        </a:rPr>
                        <a:t> (</a:t>
                      </a:r>
                      <a:r>
                        <a:rPr lang="en-US" sz="2400" err="1">
                          <a:latin typeface="Arial"/>
                          <a:cs typeface="Arial"/>
                        </a:rPr>
                        <a:t>hr</a:t>
                      </a:r>
                      <a:r>
                        <a:rPr lang="en-US" sz="2400">
                          <a:latin typeface="Arial"/>
                          <a:cs typeface="Arial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Arial"/>
                          <a:cs typeface="Arial"/>
                        </a:rPr>
                        <a:t>Half-life (</a:t>
                      </a:r>
                      <a:r>
                        <a:rPr lang="en-US" sz="2400" err="1">
                          <a:latin typeface="Arial"/>
                          <a:cs typeface="Arial"/>
                        </a:rPr>
                        <a:t>hr</a:t>
                      </a:r>
                      <a:r>
                        <a:rPr lang="en-US" sz="2400">
                          <a:latin typeface="Arial"/>
                          <a:cs typeface="Arial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Arial"/>
                          <a:cs typeface="Arial"/>
                        </a:rPr>
                        <a:t>Accu.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38435"/>
                  </a:ext>
                </a:extLst>
              </a:tr>
              <a:tr h="42012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Arial"/>
                          <a:cs typeface="Arial"/>
                        </a:rPr>
                        <a:t>63.3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Arial"/>
                          <a:cs typeface="Arial"/>
                        </a:rPr>
                        <a:t>87.3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Arial"/>
                          <a:cs typeface="Arial"/>
                        </a:rPr>
                        <a:t>1820.0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Arial"/>
                          <a:cs typeface="Arial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Arial"/>
                          <a:cs typeface="Arial"/>
                        </a:rPr>
                        <a:t>52.8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Arial"/>
                          <a:cs typeface="Arial"/>
                        </a:rPr>
                        <a:t>4.0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03058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1ED8E355-5587-2BB0-4CBE-ECD31E995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862" y="2082553"/>
            <a:ext cx="11344276" cy="6191250"/>
          </a:xfrm>
          <a:prstGeom prst="rect">
            <a:avLst/>
          </a:prstGeom>
        </p:spPr>
      </p:pic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DF4A5A0-129C-9218-944C-17F450898F4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679296" y="10150098"/>
            <a:ext cx="19995240" cy="2612106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What we observe in Ph1 median concentration at V5 Double Blind Treatment Week 4</a:t>
            </a:r>
          </a:p>
          <a:p>
            <a:pPr lvl="1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Predose: 33 ng/mL, 1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hour: 32.7ng/mL, 2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hour: 31.9ng/mL, 4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hour: 31.1ng/mL, 6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hour: 32.7ng/mL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Median model-predicted steady state exposure (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Cmin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Cmax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) is higher in adults from 105 study than observed pediatric concentration in Ph1.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823143-1445-36D8-07AE-DF7884712EDB}"/>
              </a:ext>
            </a:extLst>
          </p:cNvPr>
          <p:cNvSpPr/>
          <p:nvPr/>
        </p:nvSpPr>
        <p:spPr>
          <a:xfrm>
            <a:off x="17268760" y="4939640"/>
            <a:ext cx="1080294" cy="238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ysClr val="windowText" lastClr="000000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32AB12-980E-20DA-E0B9-AD5A7AF84779}"/>
              </a:ext>
            </a:extLst>
          </p:cNvPr>
          <p:cNvSpPr txBox="1"/>
          <p:nvPr/>
        </p:nvSpPr>
        <p:spPr>
          <a:xfrm>
            <a:off x="17182777" y="4924492"/>
            <a:ext cx="1411284" cy="430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PRAX-XXX</a:t>
            </a:r>
          </a:p>
        </p:txBody>
      </p:sp>
    </p:spTree>
    <p:extLst>
      <p:ext uri="{BB962C8B-B14F-4D97-AF65-F5344CB8AC3E}">
        <p14:creationId xmlns:p14="http://schemas.microsoft.com/office/powerpoint/2010/main" val="2881200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BF8DE-B34C-169E-5161-B6A81A2AC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D94381-2D59-92BE-76FF-64A0D6A0A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82880" tIns="91440" rIns="182880" bIns="91440" anchor="ctr" anchorCtr="0">
            <a:noAutofit/>
          </a:bodyPr>
          <a:lstStyle/>
          <a:p>
            <a:pPr algn="ctr"/>
            <a:r>
              <a:rPr lang="en-US" sz="5000" b="1" dirty="0">
                <a:solidFill>
                  <a:srgbClr val="000000"/>
                </a:solidFill>
                <a:latin typeface="Arial"/>
                <a:ea typeface="Roboto Light"/>
                <a:cs typeface="Arial"/>
              </a:rPr>
              <a:t>M12: Model-predicted Ph1 Pediatric 1mg/kg/day</a:t>
            </a:r>
          </a:p>
        </p:txBody>
      </p:sp>
      <p:pic>
        <p:nvPicPr>
          <p:cNvPr id="6" name="Picture 5" descr="A graph with a line and dots  AI-generated content may be incorrect.">
            <a:extLst>
              <a:ext uri="{FF2B5EF4-FFF2-40B4-BE49-F238E27FC236}">
                <a16:creationId xmlns:a16="http://schemas.microsoft.com/office/drawing/2014/main" id="{C13C1249-1E35-672A-D6B1-63C30EECF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2444" y="2314188"/>
            <a:ext cx="8632108" cy="665696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7DF91B8-D9C7-485F-C5A2-80784D22C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237234"/>
              </p:ext>
            </p:extLst>
          </p:nvPr>
        </p:nvGraphicFramePr>
        <p:xfrm>
          <a:off x="5575916" y="9278814"/>
          <a:ext cx="14697272" cy="3261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74318">
                  <a:extLst>
                    <a:ext uri="{9D8B030D-6E8A-4147-A177-3AD203B41FA5}">
                      <a16:colId xmlns:a16="http://schemas.microsoft.com/office/drawing/2014/main" val="1949694768"/>
                    </a:ext>
                  </a:extLst>
                </a:gridCol>
                <a:gridCol w="3674318">
                  <a:extLst>
                    <a:ext uri="{9D8B030D-6E8A-4147-A177-3AD203B41FA5}">
                      <a16:colId xmlns:a16="http://schemas.microsoft.com/office/drawing/2014/main" val="2534596164"/>
                    </a:ext>
                  </a:extLst>
                </a:gridCol>
                <a:gridCol w="3674318">
                  <a:extLst>
                    <a:ext uri="{9D8B030D-6E8A-4147-A177-3AD203B41FA5}">
                      <a16:colId xmlns:a16="http://schemas.microsoft.com/office/drawing/2014/main" val="1531442153"/>
                    </a:ext>
                  </a:extLst>
                </a:gridCol>
                <a:gridCol w="3674318">
                  <a:extLst>
                    <a:ext uri="{9D8B030D-6E8A-4147-A177-3AD203B41FA5}">
                      <a16:colId xmlns:a16="http://schemas.microsoft.com/office/drawing/2014/main" val="295778892"/>
                    </a:ext>
                  </a:extLst>
                </a:gridCol>
              </a:tblGrid>
              <a:tr h="4201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Ph1 M12 Median Model-Predicted PK Parameters (n = 24 at true steady state)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061967"/>
                  </a:ext>
                </a:extLst>
              </a:tr>
              <a:tr h="420120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Day 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Cmin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(ng/mL)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Cmax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(ng/mL)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AUCtau (ng/mL*</a:t>
                      </a:r>
                      <a:r>
                        <a:rPr lang="en-US" sz="2400" b="1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hr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38435"/>
                  </a:ext>
                </a:extLst>
              </a:tr>
              <a:tr h="4201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36.9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44.6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970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03058"/>
                  </a:ext>
                </a:extLst>
              </a:tr>
              <a:tr h="420120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Day 28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Cmin</a:t>
                      </a: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(ng/mL)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Cmax</a:t>
                      </a: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(ng/mL)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AUCtau (ng/mL*</a:t>
                      </a:r>
                      <a:r>
                        <a:rPr lang="en-US" sz="24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hr</a:t>
                      </a: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008425"/>
                  </a:ext>
                </a:extLst>
              </a:tr>
              <a:tr h="420120">
                <a:tc vMerge="1">
                  <a:txBody>
                    <a:bodyPr/>
                    <a:lstStyle/>
                    <a:p>
                      <a:pPr algn="ctr"/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46.7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53.4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Arial"/>
                          <a:cs typeface="Arial"/>
                        </a:rPr>
                        <a:t>1195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7498464"/>
                  </a:ext>
                </a:extLst>
              </a:tr>
              <a:tr h="420120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Day 28 </a:t>
                      </a:r>
                    </a:p>
                    <a:p>
                      <a:pPr algn="ctr"/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Observed 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Cmin</a:t>
                      </a: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(ng/mL)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Cmax</a:t>
                      </a: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(ng/mL)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AUCtau (ng/mL*</a:t>
                      </a:r>
                      <a:r>
                        <a:rPr lang="en-US" sz="24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hr</a:t>
                      </a: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00807058"/>
                  </a:ext>
                </a:extLst>
              </a:tr>
              <a:tr h="420120">
                <a:tc vMerge="1">
                  <a:txBody>
                    <a:bodyPr/>
                    <a:lstStyle/>
                    <a:p>
                      <a:pPr algn="ctr"/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/>
                          <a:cs typeface="Arial"/>
                        </a:rPr>
                        <a:t>1125</a:t>
                      </a:r>
                      <a:r>
                        <a:rPr lang="en-US" sz="2400" b="1" dirty="0">
                          <a:latin typeface="Arial"/>
                          <a:cs typeface="Arial"/>
                        </a:rPr>
                        <a:t>* (extrapolated)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91235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476B708-31A8-92AF-0243-2AB100F7C151}"/>
              </a:ext>
            </a:extLst>
          </p:cNvPr>
          <p:cNvSpPr txBox="1"/>
          <p:nvPr/>
        </p:nvSpPr>
        <p:spPr>
          <a:xfrm>
            <a:off x="13495502" y="2669427"/>
            <a:ext cx="9681998" cy="5969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 Conclusions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PopPK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model accurately predicts pediatric M12 exposures.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Observed Ph1 data confirm predictable and consistent M12 accumulation.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Minimal diurnal fluctuation indicates low PK variability and stable exposure.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Current pediatric dosing achieves exposures aligned with model expectations.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Rat toxicology coverage at Day 14 is approximately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55–56%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441974"/>
      </p:ext>
    </p:extLst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253746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253746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253746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96679f-3037-4848-b30b-2f1e1974b63b">
      <Terms xmlns="http://schemas.microsoft.com/office/infopath/2007/PartnerControls"/>
    </lcf76f155ced4ddcb4097134ff3c332f>
    <TaxCatchAll xmlns="49d4e230-cd4d-48af-adc7-fa24bd8e767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BFA676D878FB40934C15FCCB3415CA" ma:contentTypeVersion="17" ma:contentTypeDescription="Create a new document." ma:contentTypeScope="" ma:versionID="71737acb0db350579df77be81ea5de62">
  <xsd:schema xmlns:xsd="http://www.w3.org/2001/XMLSchema" xmlns:xs="http://www.w3.org/2001/XMLSchema" xmlns:p="http://schemas.microsoft.com/office/2006/metadata/properties" xmlns:ns2="2696679f-3037-4848-b30b-2f1e1974b63b" xmlns:ns3="49d4e230-cd4d-48af-adc7-fa24bd8e7671" targetNamespace="http://schemas.microsoft.com/office/2006/metadata/properties" ma:root="true" ma:fieldsID="83afc5360d741a8b904cd1599f00d80a" ns2:_="" ns3:_="">
    <xsd:import namespace="2696679f-3037-4848-b30b-2f1e1974b63b"/>
    <xsd:import namespace="49d4e230-cd4d-48af-adc7-fa24bd8e76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96679f-3037-4848-b30b-2f1e1974b6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39d418fa-cd13-4954-8d84-690dd7a1ef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4e230-cd4d-48af-adc7-fa24bd8e767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e2df3f6-27b3-497b-8163-73b7daa3db2e}" ma:internalName="TaxCatchAll" ma:showField="CatchAllData" ma:web="49d4e230-cd4d-48af-adc7-fa24bd8e76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7E4127-4626-47F3-8B68-4734069CC7B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20DD9F-A85A-4FDC-ACC5-8F89D7E6E2E8}">
  <ds:schemaRefs>
    <ds:schemaRef ds:uri="http://schemas.microsoft.com/office/2006/metadata/properties"/>
    <ds:schemaRef ds:uri="http://schemas.microsoft.com/office/infopath/2007/PartnerControls"/>
    <ds:schemaRef ds:uri="2696679f-3037-4848-b30b-2f1e1974b63b"/>
    <ds:schemaRef ds:uri="49d4e230-cd4d-48af-adc7-fa24bd8e7671"/>
  </ds:schemaRefs>
</ds:datastoreItem>
</file>

<file path=customXml/itemProps3.xml><?xml version="1.0" encoding="utf-8"?>
<ds:datastoreItem xmlns:ds="http://schemas.openxmlformats.org/officeDocument/2006/customXml" ds:itemID="{FECC842A-60A6-4C94-8FAF-A6D8E1FC69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96679f-3037-4848-b30b-2f1e1974b63b"/>
    <ds:schemaRef ds:uri="49d4e230-cd4d-48af-adc7-fa24bd8e76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1904</Words>
  <Application>Microsoft Office PowerPoint</Application>
  <PresentationFormat>Custom</PresentationFormat>
  <Paragraphs>357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Arial</vt:lpstr>
      <vt:lpstr>Calibri</vt:lpstr>
      <vt:lpstr>Helvetica</vt:lpstr>
      <vt:lpstr>Helvetica Neue</vt:lpstr>
      <vt:lpstr>Helvetica Neue Light</vt:lpstr>
      <vt:lpstr>Helvetica Neue Medium</vt:lpstr>
      <vt:lpstr>Roboto Condensed</vt:lpstr>
      <vt:lpstr>Tahoma</vt:lpstr>
      <vt:lpstr>Times New Roman</vt:lpstr>
      <vt:lpstr>Tw Cen MT</vt:lpstr>
      <vt:lpstr>Wingdings</vt:lpstr>
      <vt:lpstr>21_BasicWhite</vt:lpstr>
      <vt:lpstr>Clin Pharm Working Group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Modeling Steps</vt:lpstr>
      <vt:lpstr>Data Gathering and Dataset Construction</vt:lpstr>
      <vt:lpstr>Compartmental Modeling</vt:lpstr>
      <vt:lpstr>Covariate Modeling</vt:lpstr>
      <vt:lpstr>Simulation Based on a PopPK Model</vt:lpstr>
      <vt:lpstr>Useful Outputs</vt:lpstr>
      <vt:lpstr>PowerPoint Presentation</vt:lpstr>
      <vt:lpstr>Exploratory Data Analysis</vt:lpstr>
      <vt:lpstr>Model Structure</vt:lpstr>
      <vt:lpstr>Estimated Population PK model Parameters</vt:lpstr>
      <vt:lpstr>PRAX-XXX-105 (hAME) Study Goodness-of-fit: Individual fits</vt:lpstr>
      <vt:lpstr>Goodness-of-fit: Observation vs Predictions  (PRAX-XXX-105 hAME Study)</vt:lpstr>
      <vt:lpstr> Ph1 Study M12 Goodness-of-fit: Individual fits</vt:lpstr>
      <vt:lpstr>Goodness-of-fit: Visual Predictive Check (VPC) </vt:lpstr>
      <vt:lpstr>Model-predicted Typical Conc vs Time Profile (90 mg QD)</vt:lpstr>
      <vt:lpstr>M12: Model-predicted Ph1 Pediatric 1mg/kg/day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Tairan Yang</cp:lastModifiedBy>
  <cp:revision>7</cp:revision>
  <dcterms:modified xsi:type="dcterms:W3CDTF">2026-07-30T01:14:30Z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0x01010054BFA676D878FB40934C15FCCB3415CA</vt:lpwstr>
  </property>
  <property fmtid="{D5CDD505-2E9C-101B-9397-08002B2CF9AE}" pid="3" name="MediaServiceImageTags">
    <vt:lpwstr/>
  </property>
</Properties>
</file>