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5" r:id="rId3"/>
    <p:sldId id="259" r:id="rId4"/>
    <p:sldId id="262" r:id="rId5"/>
    <p:sldId id="263" r:id="rId6"/>
    <p:sldId id="266" r:id="rId7"/>
    <p:sldId id="298" r:id="rId8"/>
    <p:sldId id="269" r:id="rId9"/>
    <p:sldId id="271" r:id="rId10"/>
    <p:sldId id="272" r:id="rId11"/>
    <p:sldId id="296" r:id="rId12"/>
    <p:sldId id="276" r:id="rId13"/>
    <p:sldId id="278" r:id="rId14"/>
    <p:sldId id="281" r:id="rId15"/>
    <p:sldId id="282" r:id="rId16"/>
    <p:sldId id="284" r:id="rId17"/>
    <p:sldId id="286" r:id="rId18"/>
    <p:sldId id="297" r:id="rId19"/>
    <p:sldId id="288" r:id="rId20"/>
    <p:sldId id="291" r:id="rId21"/>
    <p:sldId id="293" r:id="rId22"/>
    <p:sldId id="29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0" d="100"/>
          <a:sy n="110" d="100"/>
        </p:scale>
        <p:origin x="898" y="1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12186" y="1169089"/>
            <a:ext cx="7536288" cy="68106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210" b="1" i="0">
                <a:solidFill>
                  <a:srgbClr val="000000"/>
                </a:solidFill>
                <a:latin typeface="Arial"/>
              </a:rPr>
              <a:t>Clinical Pharmacology Considerations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80283" y="1608615"/>
            <a:ext cx="5889587" cy="68055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Arial"/>
              </a:rPr>
              <a:t>for Cell Therapy Development: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1121" y="4010820"/>
            <a:ext cx="5126227" cy="68055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3200" b="1" i="0" dirty="0">
                <a:solidFill>
                  <a:srgbClr val="000000"/>
                </a:solidFill>
                <a:latin typeface="Arial"/>
              </a:rPr>
              <a:t>Tairan Yang</a:t>
            </a:r>
            <a:endParaRPr sz="3200" b="1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34534" y="4814442"/>
            <a:ext cx="2122932" cy="5097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2400" b="1" dirty="0">
                <a:solidFill>
                  <a:srgbClr val="000000"/>
                </a:solidFill>
                <a:latin typeface="Arial"/>
              </a:rPr>
              <a:t>Aug</a:t>
            </a:r>
            <a:r>
              <a:rPr sz="2400" b="1" i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Arial"/>
              </a:rPr>
              <a:t>27,</a:t>
            </a:r>
            <a:r>
              <a:rPr sz="2400" b="1" dirty="0">
                <a:solidFill>
                  <a:srgbClr val="000000"/>
                </a:solidFill>
                <a:latin typeface="Arial"/>
              </a:rPr>
              <a:t> 202</a:t>
            </a:r>
            <a:r>
              <a:rPr lang="en-US" sz="2400" b="1" i="0" dirty="0">
                <a:solidFill>
                  <a:srgbClr val="000000"/>
                </a:solidFill>
                <a:latin typeface="Arial"/>
              </a:rPr>
              <a:t>6</a:t>
            </a:r>
            <a:endParaRPr sz="2400" b="1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54045" y="2284382"/>
            <a:ext cx="6032816" cy="68055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200" b="1" i="0" dirty="0">
                <a:solidFill>
                  <a:srgbClr val="000000"/>
                </a:solidFill>
                <a:latin typeface="Arial"/>
              </a:rPr>
              <a:t>A Case Study with CARVYKTI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/>
          <p:cNvSpPr txBox="1"/>
          <p:nvPr/>
        </p:nvSpPr>
        <p:spPr>
          <a:xfrm>
            <a:off x="457200" y="228600"/>
            <a:ext cx="8000000" cy="7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400" b="1" i="0" dirty="0">
                <a:solidFill>
                  <a:srgbClr val="000000"/>
                </a:solidFill>
                <a:latin typeface="Arial"/>
              </a:rPr>
              <a:t>Introduction</a:t>
            </a:r>
          </a:p>
        </p:txBody>
      </p:sp>
      <p:sp>
        <p:nvSpPr>
          <p:cNvPr id="4" name="Content Text"/>
          <p:cNvSpPr txBox="1"/>
          <p:nvPr/>
        </p:nvSpPr>
        <p:spPr>
          <a:xfrm>
            <a:off x="457200" y="1143000"/>
            <a:ext cx="11277600" cy="5257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 dirty="0">
                <a:solidFill>
                  <a:srgbClr val="1F1F1F"/>
                </a:solidFill>
                <a:latin typeface="Arial"/>
              </a:rPr>
              <a:t>Recent Work Experience:</a:t>
            </a:r>
          </a:p>
          <a:p>
            <a:pPr marL="285750" indent="-285750" algn="l">
              <a:spcBef>
                <a:spcPts val="400"/>
              </a:spcBef>
              <a:buClr>
                <a:srgbClr val="2E75B6"/>
              </a:buClr>
              <a:buFont typeface="Arial"/>
              <a:buChar char="•"/>
            </a:pPr>
            <a:r>
              <a:rPr sz="1800" b="0" i="0" dirty="0">
                <a:solidFill>
                  <a:srgbClr val="1F1F1F"/>
                </a:solidFill>
                <a:latin typeface="Arial"/>
              </a:rPr>
              <a:t>Associate Director, Clin Pharm &amp; Pharmacometrics, Praxis Precision Medicines (Sept 2024–Present)</a:t>
            </a:r>
          </a:p>
          <a:p>
            <a:pPr marL="285750" indent="-285750" algn="l">
              <a:spcBef>
                <a:spcPts val="400"/>
              </a:spcBef>
              <a:buClr>
                <a:srgbClr val="2E75B6"/>
              </a:buClr>
              <a:buFont typeface="Arial"/>
              <a:buChar char="•"/>
            </a:pPr>
            <a:r>
              <a:rPr sz="1800" b="0" i="0" dirty="0">
                <a:solidFill>
                  <a:srgbClr val="1F1F1F"/>
                </a:solidFill>
                <a:latin typeface="Arial"/>
              </a:rPr>
              <a:t>Principal Scientist, Quantitative Clinical Pharmacology, Legend Biotech (Jan 2022–Sept 2024)</a:t>
            </a:r>
          </a:p>
          <a:p>
            <a:pPr marL="285750" indent="-285750" algn="l">
              <a:spcBef>
                <a:spcPts val="400"/>
              </a:spcBef>
              <a:buClr>
                <a:srgbClr val="2E75B6"/>
              </a:buClr>
              <a:buFont typeface="Arial"/>
              <a:buChar char="•"/>
            </a:pPr>
            <a:r>
              <a:rPr sz="1800" b="0" i="0" dirty="0">
                <a:solidFill>
                  <a:srgbClr val="1F1F1F"/>
                </a:solidFill>
                <a:latin typeface="Arial"/>
              </a:rPr>
              <a:t>Principal Scientific Researcher, Genentech (May 2020–Dec 2021)</a:t>
            </a:r>
          </a:p>
          <a:p>
            <a:pPr algn="l">
              <a:spcBef>
                <a:spcPts val="1800"/>
              </a:spcBef>
              <a:spcAft>
                <a:spcPts val="600"/>
              </a:spcAft>
            </a:pPr>
            <a:r>
              <a:rPr sz="2000" b="1" i="0" dirty="0">
                <a:solidFill>
                  <a:srgbClr val="1F1F1F"/>
                </a:solidFill>
                <a:latin typeface="Arial"/>
              </a:rPr>
              <a:t>Therapeutic Area and Modality Experience:</a:t>
            </a:r>
          </a:p>
          <a:p>
            <a:pPr marL="285750" indent="-285750" algn="l">
              <a:spcBef>
                <a:spcPts val="400"/>
              </a:spcBef>
              <a:buClr>
                <a:srgbClr val="2E75B6"/>
              </a:buClr>
              <a:buFont typeface="Arial"/>
              <a:buChar char="•"/>
            </a:pPr>
            <a:r>
              <a:rPr sz="1800" b="0" i="0" dirty="0">
                <a:solidFill>
                  <a:srgbClr val="1F1F1F"/>
                </a:solidFill>
                <a:latin typeface="Arial"/>
              </a:rPr>
              <a:t>Immunology, oncology, hematology, neurology</a:t>
            </a:r>
          </a:p>
          <a:p>
            <a:pPr marL="285750" indent="-285750" algn="l">
              <a:spcBef>
                <a:spcPts val="400"/>
              </a:spcBef>
              <a:buClr>
                <a:srgbClr val="2E75B6"/>
              </a:buClr>
              <a:buFont typeface="Arial"/>
              <a:buChar char="•"/>
            </a:pPr>
            <a:r>
              <a:rPr sz="1800" b="0" i="0" dirty="0">
                <a:solidFill>
                  <a:srgbClr val="1F1F1F"/>
                </a:solidFill>
                <a:latin typeface="Arial"/>
              </a:rPr>
              <a:t>Small molecules, antibodies, cell and gene therapies (CAR-T, ASO)</a:t>
            </a:r>
          </a:p>
          <a:p>
            <a:pPr algn="l">
              <a:spcBef>
                <a:spcPts val="1800"/>
              </a:spcBef>
              <a:spcAft>
                <a:spcPts val="600"/>
              </a:spcAft>
            </a:pPr>
            <a:r>
              <a:rPr sz="2000" b="1" i="0" dirty="0">
                <a:solidFill>
                  <a:srgbClr val="1F1F1F"/>
                </a:solidFill>
                <a:latin typeface="Arial"/>
              </a:rPr>
              <a:t>Education:</a:t>
            </a:r>
          </a:p>
          <a:p>
            <a:pPr marL="285750" indent="-285750" algn="l">
              <a:spcBef>
                <a:spcPts val="400"/>
              </a:spcBef>
              <a:buClr>
                <a:srgbClr val="2E75B6"/>
              </a:buClr>
              <a:buFont typeface="Arial"/>
              <a:buChar char="•"/>
            </a:pPr>
            <a:r>
              <a:rPr sz="1800" b="0" i="0" dirty="0">
                <a:solidFill>
                  <a:srgbClr val="1F1F1F"/>
                </a:solidFill>
                <a:latin typeface="Arial"/>
              </a:rPr>
              <a:t>Georgia Tech; MS Computer Science, 2022</a:t>
            </a:r>
          </a:p>
          <a:p>
            <a:pPr marL="285750" indent="-285750" algn="l">
              <a:spcBef>
                <a:spcPts val="400"/>
              </a:spcBef>
              <a:buClr>
                <a:srgbClr val="2E75B6"/>
              </a:buClr>
              <a:buFont typeface="Arial"/>
              <a:buChar char="•"/>
            </a:pPr>
            <a:r>
              <a:rPr sz="1800" b="0" i="0" dirty="0">
                <a:solidFill>
                  <a:srgbClr val="1F1F1F"/>
                </a:solidFill>
                <a:latin typeface="Arial"/>
              </a:rPr>
              <a:t>University of Toronto; MS Chemistry and PharmD, 2020</a:t>
            </a:r>
          </a:p>
          <a:p>
            <a:pPr marL="285750" indent="-285750" algn="l">
              <a:spcBef>
                <a:spcPts val="400"/>
              </a:spcBef>
              <a:buClr>
                <a:srgbClr val="2E75B6"/>
              </a:buClr>
              <a:buFont typeface="Arial"/>
              <a:buChar char="•"/>
            </a:pPr>
            <a:r>
              <a:rPr sz="1800" b="0" i="0" dirty="0">
                <a:solidFill>
                  <a:srgbClr val="1F1F1F"/>
                </a:solidFill>
                <a:latin typeface="Arial"/>
              </a:rPr>
              <a:t>University of British Columbia; BS Chemistry, 2013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/>
          <p:cNvSpPr txBox="1"/>
          <p:nvPr/>
        </p:nvSpPr>
        <p:spPr>
          <a:xfrm>
            <a:off x="457200" y="365760"/>
            <a:ext cx="8000000" cy="7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400" b="1" i="0" dirty="0">
                <a:solidFill>
                  <a:srgbClr val="FFFFFF"/>
                </a:solidFill>
                <a:latin typeface="Arial"/>
              </a:rPr>
              <a:t>Outlines</a:t>
            </a:r>
          </a:p>
        </p:txBody>
      </p:sp>
      <p:sp>
        <p:nvSpPr>
          <p:cNvPr id="4" name="Content Text"/>
          <p:cNvSpPr txBox="1"/>
          <p:nvPr/>
        </p:nvSpPr>
        <p:spPr>
          <a:xfrm>
            <a:off x="822960" y="1229139"/>
            <a:ext cx="10549752" cy="4800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spcAft>
                <a:spcPts val="2400"/>
              </a:spcAft>
            </a:pPr>
            <a:r>
              <a:rPr sz="2400" b="1" i="0" u="sng" dirty="0">
                <a:solidFill>
                  <a:srgbClr val="FFFFFF"/>
                </a:solidFill>
                <a:latin typeface="Arial"/>
              </a:rPr>
              <a:t>Chimeric Antigen Receptor (CAR) T-cell Therapies</a:t>
            </a:r>
          </a:p>
          <a:p>
            <a:pPr marL="342900" indent="-342900" algn="l">
              <a:spcBef>
                <a:spcPts val="2000"/>
              </a:spcBef>
              <a:buClr>
                <a:srgbClr val="FFFFFF"/>
              </a:buClr>
              <a:buFont typeface="Arial"/>
              <a:buChar char="•"/>
            </a:pPr>
            <a:r>
              <a:rPr sz="2000" b="0" i="0" dirty="0">
                <a:solidFill>
                  <a:srgbClr val="FFFFFF"/>
                </a:solidFill>
                <a:latin typeface="Arial"/>
              </a:rPr>
              <a:t>CAR-T background: mechanism of action and approved products</a:t>
            </a:r>
          </a:p>
          <a:p>
            <a:pPr marL="342900" indent="-342900" algn="l">
              <a:spcBef>
                <a:spcPts val="2000"/>
              </a:spcBef>
              <a:buClr>
                <a:srgbClr val="FFFFFF"/>
              </a:buClr>
              <a:buFont typeface="Arial"/>
              <a:buChar char="•"/>
            </a:pPr>
            <a:r>
              <a:rPr sz="2000" b="0" i="0" dirty="0">
                <a:solidFill>
                  <a:srgbClr val="FFFFFF"/>
                </a:solidFill>
                <a:latin typeface="Arial"/>
              </a:rPr>
              <a:t>Clinical pharmacology framework for CAR-T therapies</a:t>
            </a:r>
          </a:p>
          <a:p>
            <a:pPr marL="857250" indent="-285750" algn="l">
              <a:spcBef>
                <a:spcPts val="1000"/>
              </a:spcBef>
              <a:buClr>
                <a:srgbClr val="FFFFFF"/>
              </a:buClr>
              <a:buFont typeface="Arial"/>
              <a:buChar char="•"/>
            </a:pPr>
            <a:r>
              <a:rPr sz="1800" b="0" i="0" dirty="0">
                <a:solidFill>
                  <a:srgbClr val="FFFFFF"/>
                </a:solidFill>
                <a:latin typeface="Arial"/>
              </a:rPr>
              <a:t>PK, exposure-response, and modeling approaches based on approved products in the clinic</a:t>
            </a:r>
          </a:p>
          <a:p>
            <a:pPr marL="342900" indent="-342900" algn="l">
              <a:spcBef>
                <a:spcPts val="2000"/>
              </a:spcBef>
              <a:buClr>
                <a:srgbClr val="FFFFFF"/>
              </a:buClr>
              <a:buFont typeface="Arial"/>
              <a:buChar char="•"/>
            </a:pPr>
            <a:r>
              <a:rPr sz="2000" b="0" i="0" dirty="0">
                <a:solidFill>
                  <a:srgbClr val="FFFFFF"/>
                </a:solidFill>
                <a:latin typeface="Arial"/>
              </a:rPr>
              <a:t>Case study: CARVYKTI® (CARTITUDE-1 phase 1b/2, CARTITUDE-4 phase 3)</a:t>
            </a:r>
          </a:p>
          <a:p>
            <a:pPr marL="857250" indent="-285750" algn="l">
              <a:spcBef>
                <a:spcPts val="1000"/>
              </a:spcBef>
              <a:buClr>
                <a:srgbClr val="FFFFFF"/>
              </a:buClr>
              <a:buFont typeface="Arial"/>
              <a:buChar char="•"/>
            </a:pPr>
            <a:r>
              <a:rPr sz="1800" b="0" i="0" dirty="0">
                <a:solidFill>
                  <a:srgbClr val="FFFFFF"/>
                </a:solidFill>
                <a:latin typeface="Arial"/>
              </a:rPr>
              <a:t>PK, exposure-response (efficacy and safety), and population PK modeling</a:t>
            </a:r>
          </a:p>
          <a:p>
            <a:pPr marL="857250" indent="-285750" algn="l">
              <a:spcBef>
                <a:spcPts val="1000"/>
              </a:spcBef>
              <a:buClr>
                <a:srgbClr val="FFFFFF"/>
              </a:buClr>
              <a:buFont typeface="Arial"/>
              <a:buChar char="•"/>
            </a:pPr>
            <a:r>
              <a:rPr sz="1800" b="0" i="0" dirty="0">
                <a:solidFill>
                  <a:srgbClr val="FFFFFF"/>
                </a:solidFill>
                <a:latin typeface="Arial"/>
              </a:rPr>
              <a:t>Immunogenicity (ADA) and a candidate PD biomarker (soluble BCMA)</a:t>
            </a:r>
          </a:p>
          <a:p>
            <a:pPr marL="342900" indent="-342900" algn="l">
              <a:spcBef>
                <a:spcPts val="2000"/>
              </a:spcBef>
              <a:buClr>
                <a:srgbClr val="FFFFFF"/>
              </a:buClr>
              <a:buFont typeface="Arial"/>
              <a:buChar char="•"/>
            </a:pPr>
            <a:r>
              <a:rPr sz="2000" b="0" i="0" dirty="0">
                <a:solidFill>
                  <a:srgbClr val="FFFFFF"/>
                </a:solidFill>
                <a:latin typeface="Arial"/>
              </a:rPr>
              <a:t>Challenges and opportunities in CAR T-cell therapy development</a:t>
            </a:r>
          </a:p>
          <a:p>
            <a:pPr marL="342900" indent="-342900" algn="l">
              <a:spcBef>
                <a:spcPts val="2000"/>
              </a:spcBef>
              <a:buClr>
                <a:srgbClr val="FFFFFF"/>
              </a:buClr>
              <a:buFont typeface="Arial"/>
              <a:buChar char="•"/>
            </a:pPr>
            <a:r>
              <a:rPr sz="2000" b="0" i="0" dirty="0">
                <a:solidFill>
                  <a:srgbClr val="FFFFFF"/>
                </a:solidFill>
                <a:latin typeface="Arial"/>
              </a:rPr>
              <a:t>Summary / Conclusion / Q &amp; A</a:t>
            </a:r>
          </a:p>
        </p:txBody>
      </p:sp>
      <p:sp>
        <p:nvSpPr>
          <p:cNvPr id="21" name="Page Number"/>
          <p:cNvSpPr txBox="1"/>
          <p:nvPr/>
        </p:nvSpPr>
        <p:spPr>
          <a:xfrm>
            <a:off x="11700000" y="6400800"/>
            <a:ext cx="320000" cy="26746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9795" y="1939006"/>
            <a:ext cx="4153825" cy="425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Arial"/>
              </a:rPr>
              <a:t>Antigen recognition and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9795" y="2524222"/>
            <a:ext cx="4490772" cy="425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Arial"/>
              </a:rPr>
              <a:t>Induction of signaling cascade in T-cells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9795" y="3108168"/>
            <a:ext cx="3658325" cy="425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Arial"/>
              </a:rPr>
              <a:t>T-cell activation and proliferation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795" y="3691859"/>
            <a:ext cx="5967553" cy="425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Arial"/>
              </a:rPr>
              <a:t>Perforin and granzyme release from activated T-cell;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795" y="4149059"/>
            <a:ext cx="2755813" cy="425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Arial"/>
              </a:rPr>
              <a:t>and cytokine production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795" y="4734657"/>
            <a:ext cx="5504498" cy="425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Arial"/>
              </a:rPr>
              <a:t>Tumor cell killing through perforin and granzyme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795" y="5191857"/>
            <a:ext cx="777013" cy="425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Arial"/>
              </a:rPr>
              <a:t>activity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040" y="153910"/>
            <a:ext cx="10212002" cy="84929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Arial"/>
              </a:rPr>
              <a:t>Background – Mechanism of Action (MoA)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1168" y="1463735"/>
            <a:ext cx="3867406" cy="2551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Mechanism of action for a 2</a:t>
            </a:r>
            <a:r>
              <a:rPr sz="800" b="0" i="0">
                <a:solidFill>
                  <a:srgbClr val="000000"/>
                </a:solidFill>
                <a:latin typeface="Arial"/>
              </a:rPr>
              <a:t>nd</a:t>
            </a:r>
            <a:r>
              <a:rPr sz="1200" b="0" i="0">
                <a:solidFill>
                  <a:srgbClr val="000000"/>
                </a:solidFill>
                <a:latin typeface="Arial"/>
              </a:rPr>
              <a:t>-generation CAR-T therapy</a:t>
            </a:r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7529" y="5906765"/>
            <a:ext cx="2444772" cy="2243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</a:t>
            </a:r>
            <a:r>
              <a:rPr sz="1060" b="0" i="0">
                <a:solidFill>
                  <a:srgbClr val="000000"/>
                </a:solidFill>
                <a:latin typeface="Arial"/>
              </a:rPr>
              <a:t> Larson, RC et al. Nat Rev Cancer. 2021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10643" y="6495897"/>
            <a:ext cx="90402" cy="26746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8239" y="1055877"/>
            <a:ext cx="9983669" cy="5097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0" i="0" dirty="0">
                <a:solidFill>
                  <a:srgbClr val="000000"/>
                </a:solidFill>
                <a:latin typeface="Arial"/>
              </a:rPr>
              <a:t>S</a:t>
            </a:r>
            <a:r>
              <a:rPr lang="en-US" sz="2400" b="0" i="0" dirty="0">
                <a:solidFill>
                  <a:srgbClr val="000000"/>
                </a:solidFill>
                <a:latin typeface="Arial"/>
              </a:rPr>
              <a:t>even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CAR-T oncology products (autologous) have been approved in the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239" y="1511934"/>
            <a:ext cx="8236304" cy="50977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Arial"/>
              </a:rPr>
              <a:t>Accelerated approval for cell and gene therapies is incoming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1040" y="153910"/>
            <a:ext cx="5554281" cy="84929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Arial"/>
              </a:rPr>
              <a:t>US Approved Products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5224" y="2087308"/>
            <a:ext cx="924458" cy="2548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Brand name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640" y="2270188"/>
            <a:ext cx="1084783" cy="2548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(generic name)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1786" y="2178748"/>
            <a:ext cx="1559814" cy="2548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Approved indications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63716" y="2178748"/>
            <a:ext cx="466496" cy="2548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9830" y="2087308"/>
            <a:ext cx="1563623" cy="2548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Year of first approval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9597" y="2270188"/>
            <a:ext cx="662177" cy="2548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in the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3345" y="2178748"/>
            <a:ext cx="1464409" cy="2548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Approved dose (US)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4610" y="2544508"/>
            <a:ext cx="805281" cy="2548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CARVYKTI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880" y="2727388"/>
            <a:ext cx="1817395" cy="2548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(ciltacabtagene autoleucel)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1767" y="2635948"/>
            <a:ext cx="1877110" cy="2548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Adult R/R multiple myeloma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5909" y="2635948"/>
            <a:ext cx="439826" cy="2548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5B9BD5"/>
                </a:solidFill>
                <a:latin typeface="Arial"/>
              </a:rPr>
              <a:t>BCMA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1142" y="2635948"/>
            <a:ext cx="340765" cy="2548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2022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369" y="2545775"/>
            <a:ext cx="1885746" cy="2551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0.5–1 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×</a:t>
            </a:r>
            <a:r>
              <a:rPr sz="1200" b="0" i="0">
                <a:solidFill>
                  <a:srgbClr val="000000"/>
                </a:solidFill>
                <a:latin typeface="Arial"/>
              </a:rPr>
              <a:t> 10</a:t>
            </a:r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  <a:r>
              <a:rPr sz="1200" b="0" i="0">
                <a:solidFill>
                  <a:srgbClr val="000000"/>
                </a:solidFill>
                <a:latin typeface="Arial"/>
              </a:rPr>
              <a:t>/kg, maximal of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706" y="2728655"/>
            <a:ext cx="1037945" cy="2551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100 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×</a:t>
            </a:r>
            <a:r>
              <a:rPr sz="1200" b="0" i="0">
                <a:solidFill>
                  <a:srgbClr val="000000"/>
                </a:solidFill>
                <a:latin typeface="Arial"/>
              </a:rPr>
              <a:t> 10</a:t>
            </a:r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cells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4046" y="3001708"/>
            <a:ext cx="686409" cy="2548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ABECMA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" y="3184588"/>
            <a:ext cx="1637563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(idecabtagene vicleucel)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61767" y="3093148"/>
            <a:ext cx="1877110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Adult R/R multiple myeloma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5909" y="3093148"/>
            <a:ext cx="439826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5B9BD5"/>
                </a:solidFill>
                <a:latin typeface="Arial"/>
              </a:rPr>
              <a:t>BCMA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1142" y="3093148"/>
            <a:ext cx="340765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2021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066" y="3094415"/>
            <a:ext cx="1374750" cy="2551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300–460 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×</a:t>
            </a:r>
            <a:r>
              <a:rPr sz="1200" b="0" i="0">
                <a:solidFill>
                  <a:srgbClr val="000000"/>
                </a:solidFill>
                <a:latin typeface="Arial"/>
              </a:rPr>
              <a:t> 10</a:t>
            </a:r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cells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6133" y="3458547"/>
            <a:ext cx="804296" cy="255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BREYANZI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308" y="3642042"/>
            <a:ext cx="1825015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(lisocabtagene maraleucel)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75126" y="3458547"/>
            <a:ext cx="1496805" cy="255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Adult R/R large B-cell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0030" y="3642042"/>
            <a:ext cx="704240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lymphoma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01816" y="3550602"/>
            <a:ext cx="389382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FF0000"/>
                </a:solidFill>
                <a:latin typeface="Arial"/>
              </a:rPr>
              <a:t>CD19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1142" y="3550602"/>
            <a:ext cx="340765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2021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8190" y="3460071"/>
            <a:ext cx="1676432" cy="255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3L+: 50–110 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×</a:t>
            </a:r>
            <a:r>
              <a:rPr sz="1200" b="0" i="0">
                <a:solidFill>
                  <a:srgbClr val="000000"/>
                </a:solidFill>
                <a:latin typeface="Arial"/>
              </a:rPr>
              <a:t> 10</a:t>
            </a:r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cells;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3721" y="3637063"/>
            <a:ext cx="1545438" cy="29390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2L: 90–110 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×</a:t>
            </a:r>
            <a:r>
              <a:rPr sz="1200" b="0" i="0">
                <a:solidFill>
                  <a:srgbClr val="000000"/>
                </a:solidFill>
                <a:latin typeface="Arial"/>
              </a:rPr>
              <a:t> 10</a:t>
            </a:r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cells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4130" y="4099242"/>
            <a:ext cx="866241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TECARTUS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4016" y="4282122"/>
            <a:ext cx="1927123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(brexucabtagene autoleucel)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91891" y="3916362"/>
            <a:ext cx="1461516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Adult R/R mantle cell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80054" y="4099242"/>
            <a:ext cx="1884731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lymphoma; adult R/R B-cell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71722" y="4282122"/>
            <a:ext cx="1100785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precursor acute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15691" y="4465002"/>
            <a:ext cx="1572768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lymphoblastic leukemia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01816" y="4190682"/>
            <a:ext cx="389382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FF0000"/>
                </a:solidFill>
                <a:latin typeface="Arial"/>
              </a:rPr>
              <a:t>CD19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21142" y="4190682"/>
            <a:ext cx="340765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2020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03638" y="3917629"/>
            <a:ext cx="1407820" cy="2551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r/r MCL: 2 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×</a:t>
            </a:r>
            <a:r>
              <a:rPr sz="1200" b="0" i="0">
                <a:solidFill>
                  <a:srgbClr val="000000"/>
                </a:solidFill>
                <a:latin typeface="Arial"/>
              </a:rPr>
              <a:t> 10</a:t>
            </a:r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  <a:r>
              <a:rPr sz="1200" b="0" i="0">
                <a:solidFill>
                  <a:srgbClr val="000000"/>
                </a:solidFill>
                <a:latin typeface="Arial"/>
              </a:rPr>
              <a:t>/kg,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506" y="4100509"/>
            <a:ext cx="1994407" cy="2551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maximum of 200 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×</a:t>
            </a:r>
            <a:r>
              <a:rPr sz="1200" b="0" i="0">
                <a:solidFill>
                  <a:srgbClr val="000000"/>
                </a:solidFill>
                <a:latin typeface="Arial"/>
              </a:rPr>
              <a:t> 10</a:t>
            </a:r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cells;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39045" y="4283389"/>
            <a:ext cx="1735480" cy="2551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r/r B-cell ALL:1 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×</a:t>
            </a:r>
            <a:r>
              <a:rPr sz="1200" b="0" i="0">
                <a:solidFill>
                  <a:srgbClr val="000000"/>
                </a:solidFill>
                <a:latin typeface="Arial"/>
              </a:rPr>
              <a:t> 10</a:t>
            </a:r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  <a:r>
              <a:rPr sz="1200" b="0" i="0">
                <a:solidFill>
                  <a:srgbClr val="000000"/>
                </a:solidFill>
                <a:latin typeface="Arial"/>
              </a:rPr>
              <a:t>/kg,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30842" y="4466268"/>
            <a:ext cx="1952041" cy="2551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maximum of 100 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×</a:t>
            </a:r>
            <a:r>
              <a:rPr sz="1200" b="0" i="0">
                <a:solidFill>
                  <a:srgbClr val="000000"/>
                </a:solidFill>
                <a:latin typeface="Arial"/>
              </a:rPr>
              <a:t> 10</a:t>
            </a:r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cells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95653" y="4830401"/>
            <a:ext cx="864920" cy="255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YESCARTA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508" y="5014023"/>
            <a:ext cx="1672615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(axicabtagene ciloleucel)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75126" y="4739322"/>
            <a:ext cx="1496110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Adult R/R large B-cell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91891" y="4921841"/>
            <a:ext cx="1461079" cy="255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lymphoma; adult R/R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49802" y="5105463"/>
            <a:ext cx="1302867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follicular lymphoma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01816" y="4921841"/>
            <a:ext cx="389397" cy="255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FF0000"/>
                </a:solidFill>
                <a:latin typeface="Arial"/>
              </a:rPr>
              <a:t>CD19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21142" y="4921841"/>
            <a:ext cx="340937" cy="255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2017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64954" y="4831925"/>
            <a:ext cx="1686183" cy="255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2 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×</a:t>
            </a:r>
            <a:r>
              <a:rPr sz="1200" b="0" i="0">
                <a:solidFill>
                  <a:srgbClr val="000000"/>
                </a:solidFill>
                <a:latin typeface="Arial"/>
              </a:rPr>
              <a:t> 10</a:t>
            </a:r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  <a:r>
              <a:rPr sz="1200" b="0" i="0">
                <a:solidFill>
                  <a:srgbClr val="000000"/>
                </a:solidFill>
                <a:latin typeface="Arial"/>
              </a:rPr>
              <a:t>/kg, maximum of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66706" y="5015290"/>
            <a:ext cx="1037945" cy="2551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200 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×</a:t>
            </a:r>
            <a:r>
              <a:rPr sz="1200" b="0" i="0">
                <a:solidFill>
                  <a:srgbClr val="000000"/>
                </a:solidFill>
                <a:latin typeface="Arial"/>
              </a:rPr>
              <a:t> 10</a:t>
            </a:r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cells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59661" y="5654078"/>
            <a:ext cx="735787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KYMRIAH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4348" y="5836958"/>
            <a:ext cx="1184554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(tisagenlecleucel)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75126" y="5379783"/>
            <a:ext cx="1496110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Adult R/R large B-cell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03498" y="5562638"/>
            <a:ext cx="1638452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lymphoma and follicular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20847" y="5745518"/>
            <a:ext cx="1403604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lymphoma; pediatric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71722" y="5928398"/>
            <a:ext cx="1102156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refractory acute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15691" y="6111278"/>
            <a:ext cx="1572768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lymphoblastic leukemia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01816" y="5745518"/>
            <a:ext cx="389382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FF0000"/>
                </a:solidFill>
                <a:latin typeface="Arial"/>
              </a:rPr>
              <a:t>CD19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21142" y="5745518"/>
            <a:ext cx="340765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2017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7042" y="5471198"/>
            <a:ext cx="1798777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Pediatric and young adult: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81133" y="5655344"/>
            <a:ext cx="1851609" cy="2551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0.2–5.0 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×</a:t>
            </a:r>
            <a:r>
              <a:rPr sz="1200" b="0" i="0">
                <a:solidFill>
                  <a:srgbClr val="000000"/>
                </a:solidFill>
                <a:latin typeface="Arial"/>
              </a:rPr>
              <a:t> 10</a:t>
            </a:r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  <a:r>
              <a:rPr sz="1200" b="0" i="0">
                <a:solidFill>
                  <a:srgbClr val="000000"/>
                </a:solidFill>
                <a:latin typeface="Arial"/>
              </a:rPr>
              <a:t>/kg (≤ 50 kg);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15602" y="5838224"/>
            <a:ext cx="1983892" cy="2551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10–250 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×</a:t>
            </a:r>
            <a:r>
              <a:rPr sz="1200" b="0" i="0">
                <a:solidFill>
                  <a:srgbClr val="000000"/>
                </a:solidFill>
                <a:latin typeface="Arial"/>
              </a:rPr>
              <a:t> 10</a:t>
            </a:r>
            <a:r>
              <a:rPr sz="800" b="0" i="0">
                <a:solidFill>
                  <a:srgbClr val="000000"/>
                </a:solidFill>
                <a:latin typeface="Arial"/>
              </a:rPr>
              <a:t>6 </a:t>
            </a:r>
            <a:r>
              <a:rPr sz="1200" b="0" i="0">
                <a:solidFill>
                  <a:srgbClr val="000000"/>
                </a:solidFill>
                <a:latin typeface="Arial"/>
              </a:rPr>
              <a:t>cells (&gt; 50 kg);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25330" y="6021104"/>
            <a:ext cx="1722222" cy="2551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Adult: 60–600 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×</a:t>
            </a:r>
            <a:r>
              <a:rPr sz="1200" b="0" i="0">
                <a:solidFill>
                  <a:srgbClr val="000000"/>
                </a:solidFill>
                <a:latin typeface="Arial"/>
              </a:rPr>
              <a:t> 10</a:t>
            </a:r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cells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5754" y="6509042"/>
            <a:ext cx="7480220" cy="2548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Abbreviations: BCMA, B-cell maturation antigen; CD19, cluster of differentiation 19; R/R, relapsed or refractory.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010643" y="6515709"/>
            <a:ext cx="90402" cy="26746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6798" y="873567"/>
            <a:ext cx="4251709" cy="46644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Defined as “Cellular Kinetics (CK)”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6798" y="1308360"/>
            <a:ext cx="5523097" cy="36245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10" b="0" i="0">
                <a:solidFill>
                  <a:srgbClr val="000000"/>
                </a:solidFill>
                <a:latin typeface="Calibri"/>
              </a:rPr>
              <a:t>→</a:t>
            </a:r>
            <a:r>
              <a:rPr sz="1710" b="0" i="0">
                <a:solidFill>
                  <a:srgbClr val="000000"/>
                </a:solidFill>
                <a:latin typeface="Arial"/>
              </a:rPr>
              <a:t> Different mechanism but similar C-t curve (multiphasic)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106" y="1664685"/>
            <a:ext cx="89077" cy="425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1172" y="1709786"/>
            <a:ext cx="5274367" cy="36194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Arial"/>
              </a:rPr>
              <a:t>Margination/distribution</a:t>
            </a:r>
            <a:r>
              <a:rPr sz="1700" b="0" i="0">
                <a:solidFill>
                  <a:srgbClr val="000000"/>
                </a:solidFill>
                <a:latin typeface="Arial"/>
              </a:rPr>
              <a:t>: T-cell clones/phenotypes in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1172" y="2046591"/>
            <a:ext cx="1034646" cy="36194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Arial"/>
              </a:rPr>
              <a:t>circulation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106" y="2400778"/>
            <a:ext cx="89077" cy="425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1172" y="2445879"/>
            <a:ext cx="5807953" cy="36194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Arial"/>
              </a:rPr>
              <a:t>Expansion:</a:t>
            </a:r>
            <a:r>
              <a:rPr sz="1700" b="0" i="0">
                <a:solidFill>
                  <a:srgbClr val="000000"/>
                </a:solidFill>
                <a:latin typeface="Arial"/>
              </a:rPr>
              <a:t> in response to target and homeostatic cytokines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472" y="2803556"/>
            <a:ext cx="80009" cy="38233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8373" y="2848657"/>
            <a:ext cx="2416684" cy="31861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Arial"/>
              </a:rPr>
              <a:t>Maybe driven by clonotypes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5472" y="3163220"/>
            <a:ext cx="80009" cy="38233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8373" y="3208321"/>
            <a:ext cx="5428300" cy="31861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Arial"/>
              </a:rPr>
              <a:t>Unlike TMDD for mABs, target engagement generally increases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8373" y="3505501"/>
            <a:ext cx="1843658" cy="31861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Arial"/>
              </a:rPr>
              <a:t>circulating cell levels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6106" y="3819876"/>
            <a:ext cx="89077" cy="425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1172" y="3864976"/>
            <a:ext cx="2737993" cy="36194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Arial"/>
              </a:rPr>
              <a:t>Contraction/Redistribution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5472" y="4222040"/>
            <a:ext cx="80116" cy="38284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8373" y="4267140"/>
            <a:ext cx="4140866" cy="3191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Arial"/>
              </a:rPr>
              <a:t>Some effector T-cells become exhausted and die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6106" y="4582257"/>
            <a:ext cx="89077" cy="425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1172" y="4627357"/>
            <a:ext cx="1274210" cy="36194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Arial"/>
              </a:rPr>
              <a:t>Persistence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5472" y="4983257"/>
            <a:ext cx="80009" cy="38233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8373" y="5028358"/>
            <a:ext cx="4785553" cy="31861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Arial"/>
              </a:rPr>
              <a:t>Other T- cells differentiate to memory T cells and persist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5472" y="5344420"/>
            <a:ext cx="80009" cy="38233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8373" y="5389520"/>
            <a:ext cx="3458339" cy="31861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Arial"/>
              </a:rPr>
              <a:t>May provide longer-term disease control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040" y="-90203"/>
            <a:ext cx="10412547" cy="8487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Arial"/>
              </a:rPr>
              <a:t>Pharmacokinetics (PK) of CAR-T Therapies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051" y="6006130"/>
            <a:ext cx="2831460" cy="2243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60" b="0" i="0">
                <a:solidFill>
                  <a:srgbClr val="000000"/>
                </a:solidFill>
                <a:latin typeface="Arial"/>
              </a:rPr>
              <a:t>Qi et al, Adv Drug Deliv Rev (2022) 188:114421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644" y="6182913"/>
            <a:ext cx="2444593" cy="2243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60" b="0" i="0">
                <a:solidFill>
                  <a:srgbClr val="000000"/>
                </a:solidFill>
                <a:latin typeface="Arial"/>
              </a:rPr>
              <a:t>TMDD:  Target mediated drug disposition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20728" y="6558076"/>
            <a:ext cx="180317" cy="26746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7B3AEF-85D7-FB66-BC3D-424427692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9" y="0"/>
            <a:ext cx="12101182" cy="678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040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5274" y="72707"/>
            <a:ext cx="10720678" cy="76466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Arial"/>
              </a:rPr>
              <a:t>Dose-Response Relationship of CAR-T Therapies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262" y="722239"/>
            <a:ext cx="890570" cy="4261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10" b="0" i="0">
                <a:solidFill>
                  <a:srgbClr val="000000"/>
                </a:solidFill>
                <a:latin typeface="Arial"/>
              </a:rPr>
              <a:t>Efficacy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262" y="1172811"/>
            <a:ext cx="5158339" cy="3390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alibri"/>
              </a:rPr>
              <a:t>→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Outcome: ORR, DOR, PFS, OS, and minimal residual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9262" y="1538571"/>
            <a:ext cx="3337525" cy="3390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disease (MRD, for multiple myeloma)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9262" y="1904331"/>
            <a:ext cx="5450001" cy="3390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alibri"/>
              </a:rPr>
              <a:t>→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Generally, consistent exposure-efficacy relationship seen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9262" y="2270345"/>
            <a:ext cx="2809898" cy="3390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responders vs. non-responders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9262" y="2627433"/>
            <a:ext cx="5311880" cy="39103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I. </a:t>
            </a:r>
            <a:r>
              <a:rPr sz="1600" b="0" i="0">
                <a:solidFill>
                  <a:srgbClr val="4472C4"/>
                </a:solidFill>
                <a:latin typeface="Arial"/>
              </a:rPr>
              <a:t>Higher exposure (higher C</a:t>
            </a:r>
            <a:r>
              <a:rPr sz="1070" b="0" i="0">
                <a:solidFill>
                  <a:srgbClr val="4472C4"/>
                </a:solidFill>
                <a:latin typeface="Arial"/>
              </a:rPr>
              <a:t>max</a:t>
            </a:r>
            <a:r>
              <a:rPr sz="1600" b="0" i="0">
                <a:solidFill>
                  <a:srgbClr val="4472C4"/>
                </a:solidFill>
                <a:latin typeface="Arial"/>
              </a:rPr>
              <a:t>, AUC</a:t>
            </a:r>
            <a:r>
              <a:rPr sz="1070" b="0" i="0">
                <a:solidFill>
                  <a:srgbClr val="4472C4"/>
                </a:solidFill>
                <a:latin typeface="Arial"/>
              </a:rPr>
              <a:t>0-28d</a:t>
            </a:r>
            <a:r>
              <a:rPr sz="1600" b="0" i="0">
                <a:solidFill>
                  <a:srgbClr val="4472C4"/>
                </a:solidFill>
                <a:latin typeface="Arial"/>
              </a:rPr>
              <a:t>)/short expansion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262" y="2993193"/>
            <a:ext cx="5559077" cy="39103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4472C4"/>
                </a:solidFill>
                <a:latin typeface="Arial"/>
              </a:rPr>
              <a:t>time (lower T</a:t>
            </a:r>
            <a:r>
              <a:rPr sz="1070" b="0" i="0">
                <a:solidFill>
                  <a:srgbClr val="4472C4"/>
                </a:solidFill>
                <a:latin typeface="Arial"/>
              </a:rPr>
              <a:t>max</a:t>
            </a:r>
            <a:r>
              <a:rPr sz="1600" b="0" i="0">
                <a:solidFill>
                  <a:srgbClr val="4472C4"/>
                </a:solidFill>
                <a:latin typeface="Arial"/>
              </a:rPr>
              <a:t>)/longer persistence time (higher  t</a:t>
            </a:r>
            <a:r>
              <a:rPr sz="1070" b="0" i="0">
                <a:solidFill>
                  <a:srgbClr val="4472C4"/>
                </a:solidFill>
                <a:latin typeface="Arial"/>
              </a:rPr>
              <a:t>1/2</a:t>
            </a:r>
            <a:r>
              <a:rPr sz="1600" b="0" i="0">
                <a:solidFill>
                  <a:srgbClr val="4472C4"/>
                </a:solidFill>
                <a:latin typeface="Arial"/>
              </a:rPr>
              <a:t> and T</a:t>
            </a:r>
            <a:r>
              <a:rPr sz="1070" b="0" i="0">
                <a:solidFill>
                  <a:srgbClr val="4472C4"/>
                </a:solidFill>
                <a:latin typeface="Arial"/>
              </a:rPr>
              <a:t>last</a:t>
            </a:r>
            <a:r>
              <a:rPr sz="1600" b="0" i="0">
                <a:solidFill>
                  <a:srgbClr val="4472C4"/>
                </a:solidFill>
                <a:latin typeface="Arial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" y="3367625"/>
            <a:ext cx="5215264" cy="339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II. PFS, as well as depth (MRD negative) and durability of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" y="3733766"/>
            <a:ext cx="4851027" cy="339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responses also shown to be associated with exposure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1980" y="722239"/>
            <a:ext cx="720355" cy="4261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10" b="0" i="0">
                <a:solidFill>
                  <a:srgbClr val="000000"/>
                </a:solidFill>
                <a:latin typeface="Arial"/>
              </a:rPr>
              <a:t>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1980" y="1172811"/>
            <a:ext cx="5040375" cy="3390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alibri"/>
              </a:rPr>
              <a:t>→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TEAE: cytokine release syndrome (CRS), neurologic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1980" y="1538571"/>
            <a:ext cx="5512617" cy="3390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events (NE) and hematologic toxic effects (e.g., neutropenia,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980" y="1904331"/>
            <a:ext cx="5212027" cy="3390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anemia, thrombocytopenia, leukopenia, and lymphopenia)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1980" y="2270345"/>
            <a:ext cx="5304081" cy="3390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alibri"/>
              </a:rPr>
              <a:t>→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A trend that patients with more serious AE (CRS or NE)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1980" y="2627433"/>
            <a:ext cx="3973340" cy="39103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have </a:t>
            </a:r>
            <a:r>
              <a:rPr sz="1600" b="0" i="0">
                <a:solidFill>
                  <a:srgbClr val="2E75B6"/>
                </a:solidFill>
                <a:latin typeface="Arial"/>
              </a:rPr>
              <a:t>higher exposure (median C</a:t>
            </a:r>
            <a:r>
              <a:rPr sz="1070" b="0" i="0">
                <a:solidFill>
                  <a:srgbClr val="2E75B6"/>
                </a:solidFill>
                <a:latin typeface="Arial"/>
              </a:rPr>
              <a:t>max </a:t>
            </a:r>
            <a:r>
              <a:rPr sz="1600" b="0" i="0">
                <a:solidFill>
                  <a:srgbClr val="2E75B6"/>
                </a:solidFill>
                <a:latin typeface="Arial"/>
              </a:rPr>
              <a:t>or AUC)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8727" y="4151250"/>
            <a:ext cx="3099106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TECARTUS in lymphoblastic leukemia</a:t>
            </a:r>
            <a:r>
              <a:rPr sz="94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738" y="6162063"/>
            <a:ext cx="352089" cy="3435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C</a:t>
            </a:r>
            <a:r>
              <a:rPr sz="940" b="0" i="0">
                <a:solidFill>
                  <a:srgbClr val="000000"/>
                </a:solidFill>
                <a:latin typeface="Arial"/>
              </a:rPr>
              <a:t>max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4184" y="4128030"/>
            <a:ext cx="2081201" cy="29872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10" b="0" i="0">
                <a:solidFill>
                  <a:srgbClr val="000000"/>
                </a:solidFill>
                <a:latin typeface="Arial"/>
              </a:rPr>
              <a:t>YESCARTA in lymphoma</a:t>
            </a:r>
            <a:r>
              <a:rPr sz="94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9397" y="6279106"/>
            <a:ext cx="352090" cy="3435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C</a:t>
            </a:r>
            <a:r>
              <a:rPr sz="940" b="0" i="0">
                <a:solidFill>
                  <a:srgbClr val="000000"/>
                </a:solidFill>
                <a:latin typeface="Arial"/>
              </a:rPr>
              <a:t>max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14761" y="6286422"/>
            <a:ext cx="677216" cy="3435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AUC</a:t>
            </a:r>
            <a:r>
              <a:rPr sz="940" b="0" i="0">
                <a:solidFill>
                  <a:srgbClr val="000000"/>
                </a:solidFill>
                <a:latin typeface="Arial"/>
              </a:rPr>
              <a:t>0-28d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3208" y="3171318"/>
            <a:ext cx="4231122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ICANS: immune effector cell-associated neurotoxicity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3208" y="3384932"/>
            <a:ext cx="3419054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MNT: movement and neurocognitive TEAE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3208" y="3598292"/>
            <a:ext cx="4028734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         (Parkinsonism and Guillain-Barré syndrome)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9479" y="6564316"/>
            <a:ext cx="1812512" cy="234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30" b="0" i="0">
                <a:solidFill>
                  <a:srgbClr val="000000"/>
                </a:solidFill>
                <a:latin typeface="Arial"/>
              </a:rPr>
              <a:t>1</a:t>
            </a:r>
            <a:r>
              <a:rPr sz="1100" b="0" i="0">
                <a:solidFill>
                  <a:srgbClr val="000000"/>
                </a:solidFill>
                <a:latin typeface="Arial"/>
              </a:rPr>
              <a:t> Shah, BD et al. Blood. 2021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0150" y="6565437"/>
            <a:ext cx="2369890" cy="2243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</a:t>
            </a:r>
            <a:r>
              <a:rPr sz="1060" b="0" i="0">
                <a:solidFill>
                  <a:srgbClr val="000000"/>
                </a:solidFill>
                <a:latin typeface="Arial"/>
              </a:rPr>
              <a:t> Neelapu, SS et al. N Engl J Med. 2017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945111" y="6552590"/>
            <a:ext cx="15499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69870" y="-19748"/>
            <a:ext cx="7189953" cy="76466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Arial"/>
              </a:rPr>
              <a:t>Modeling Approaches for CAR-T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395" y="1196849"/>
            <a:ext cx="733024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Empirical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6395" y="1410209"/>
            <a:ext cx="592874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E vs.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395" y="1623569"/>
            <a:ext cx="743187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No tissue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1338" y="1148081"/>
            <a:ext cx="900604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Semi-mech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1338" y="1361441"/>
            <a:ext cx="2349028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E vs. M and cytokine included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1338" y="1574441"/>
            <a:ext cx="1251540" cy="29873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10" b="0" i="0">
                <a:solidFill>
                  <a:srgbClr val="000000"/>
                </a:solidFill>
                <a:latin typeface="Arial"/>
              </a:rPr>
              <a:t>Lumped tissue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3790" y="1110581"/>
            <a:ext cx="1139128" cy="3390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QSP/PBPK: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3790" y="1345749"/>
            <a:ext cx="2050120" cy="39103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More cell subsets (T</a:t>
            </a:r>
            <a:r>
              <a:rPr sz="1070" b="0" i="0">
                <a:solidFill>
                  <a:srgbClr val="000000"/>
                </a:solidFill>
                <a:latin typeface="Arial"/>
              </a:rPr>
              <a:t>N</a:t>
            </a:r>
            <a:r>
              <a:rPr sz="1600" b="0" i="0">
                <a:solidFill>
                  <a:srgbClr val="000000"/>
                </a:solidFill>
                <a:latin typeface="Arial"/>
              </a:rPr>
              <a:t>)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3790" y="1598261"/>
            <a:ext cx="1545325" cy="3390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Tissue of interest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3790" y="1842101"/>
            <a:ext cx="3130377" cy="3390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Biomarker (target related: BCMA)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146" y="2126421"/>
            <a:ext cx="1090018" cy="2551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Modified model</a:t>
            </a:r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029" y="5584680"/>
            <a:ext cx="1824445" cy="17077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530" b="0" i="0">
                <a:solidFill>
                  <a:srgbClr val="000000"/>
                </a:solidFill>
                <a:latin typeface="Arial"/>
              </a:rPr>
              <a:t>1</a:t>
            </a:r>
            <a:r>
              <a:rPr sz="800" b="0" i="0">
                <a:solidFill>
                  <a:srgbClr val="000000"/>
                </a:solidFill>
                <a:latin typeface="Arial"/>
              </a:rPr>
              <a:t> Liu, C et al. Clin Pharmacol Ther. 2021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4925" y="6137986"/>
            <a:ext cx="2055955" cy="19202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Arial"/>
              </a:rPr>
              <a:t>3</a:t>
            </a:r>
            <a:r>
              <a:rPr sz="900" b="0" i="0">
                <a:solidFill>
                  <a:srgbClr val="000000"/>
                </a:solidFill>
                <a:latin typeface="Arial"/>
              </a:rPr>
              <a:t> Mueller-Schoell, A et al. Cancers. 2021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4925" y="6275146"/>
            <a:ext cx="2946998" cy="19202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Arial"/>
              </a:rPr>
              <a:t>4</a:t>
            </a:r>
            <a:r>
              <a:rPr sz="900" b="0" i="0">
                <a:solidFill>
                  <a:srgbClr val="000000"/>
                </a:solidFill>
                <a:latin typeface="Arial"/>
              </a:rPr>
              <a:t> Singh, AP. CPT Pharmacometrics Syst Pharmacol. 2021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9457" y="6553640"/>
            <a:ext cx="1987269" cy="17077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530" b="0" i="0">
                <a:solidFill>
                  <a:srgbClr val="000000"/>
                </a:solidFill>
                <a:latin typeface="Arial"/>
              </a:rPr>
              <a:t>2</a:t>
            </a:r>
            <a:r>
              <a:rPr sz="800" b="0" i="0">
                <a:solidFill>
                  <a:srgbClr val="000000"/>
                </a:solidFill>
                <a:latin typeface="Arial"/>
              </a:rPr>
              <a:t> Hardiansyah, D et al. Clin Transl Sci. 2019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600" y="710215"/>
            <a:ext cx="1558366" cy="38233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Arial"/>
              </a:rPr>
              <a:t>More empirical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4925" y="711739"/>
            <a:ext cx="1917954" cy="38233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Arial"/>
              </a:rPr>
              <a:t>More mechanistic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71557" y="1775060"/>
            <a:ext cx="2058553" cy="2752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rial"/>
              </a:rPr>
              <a:t>Why Mechanistic Models?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1997" y="2074928"/>
            <a:ext cx="1632377" cy="2757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• Integrates rich data.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1997" y="2375898"/>
            <a:ext cx="2201260" cy="2752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• Test hypotheses in silico to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2685" y="2574017"/>
            <a:ext cx="1661062" cy="2752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reduce clinical studies.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997" y="2872722"/>
            <a:ext cx="1637038" cy="2752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• Reverse translation.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1997" y="3172950"/>
            <a:ext cx="2280920" cy="2752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• Prioritize candidates in early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2685" y="3370709"/>
            <a:ext cx="986579" cy="27579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development.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997" y="3671552"/>
            <a:ext cx="2037490" cy="2752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• Inform dose/schedule for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2685" y="3869672"/>
            <a:ext cx="1015367" cy="2752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combinations.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30754" y="4151439"/>
            <a:ext cx="1302867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The model(s) could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30754" y="4463669"/>
            <a:ext cx="149199" cy="2523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87954" y="4462335"/>
            <a:ext cx="2532379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Capture clinical multi-phasic PK (CK)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87954" y="4736655"/>
            <a:ext cx="416661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profile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30754" y="5048885"/>
            <a:ext cx="149199" cy="2523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87954" y="5047551"/>
            <a:ext cx="2544165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Potentially test the impact of extrinsic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87954" y="5321510"/>
            <a:ext cx="2563150" cy="255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and intrinsic factors and the impact of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87954" y="5596471"/>
            <a:ext cx="1548688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CRS-treating therapies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30754" y="5908700"/>
            <a:ext cx="149199" cy="2523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87954" y="5907367"/>
            <a:ext cx="2282748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Explore dose-exposure-response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87954" y="6181687"/>
            <a:ext cx="854506" cy="254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relationships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7133" y="697134"/>
            <a:ext cx="1640356" cy="38233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Fit-for-purpose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01220" y="6443776"/>
            <a:ext cx="180623" cy="26746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8239" y="1179439"/>
            <a:ext cx="9044694" cy="4261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10" b="0" i="0">
                <a:solidFill>
                  <a:srgbClr val="000000"/>
                </a:solidFill>
                <a:latin typeface="Arial"/>
              </a:rPr>
              <a:t>Different mechanisms and profile of PK (CK) from small or large-molecule drugs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1040" y="1637254"/>
            <a:ext cx="5395354" cy="425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Arial"/>
              </a:rPr>
              <a:t>       (in vivo cell proliferation and differentiation)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239" y="2220946"/>
            <a:ext cx="9749851" cy="425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Arial"/>
              </a:rPr>
              <a:t>Lack of consistent Dose-Exposure (Dose-Response) relationships partially due to high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239" y="2677785"/>
            <a:ext cx="1060021" cy="4261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10" b="0" i="0">
                <a:solidFill>
                  <a:srgbClr val="000000"/>
                </a:solidFill>
                <a:latin typeface="Arial"/>
              </a:rPr>
              <a:t>variability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239" y="3263616"/>
            <a:ext cx="8368472" cy="425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Arial"/>
              </a:rPr>
              <a:t>Clinical response (efficacy and safety) generally associated with exposure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40" y="3709675"/>
            <a:ext cx="4067316" cy="4925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Arial"/>
              </a:rPr>
              <a:t>       (expansion: C</a:t>
            </a:r>
            <a:r>
              <a:rPr sz="1330" b="0" i="0">
                <a:solidFill>
                  <a:srgbClr val="000000"/>
                </a:solidFill>
                <a:latin typeface="Arial"/>
              </a:rPr>
              <a:t>max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and AUC</a:t>
            </a:r>
            <a:r>
              <a:rPr sz="1330" b="0" i="0">
                <a:solidFill>
                  <a:srgbClr val="000000"/>
                </a:solidFill>
                <a:latin typeface="Arial"/>
              </a:rPr>
              <a:t>0-28d</a:t>
            </a:r>
            <a:r>
              <a:rPr sz="2000" b="0" i="0">
                <a:solidFill>
                  <a:srgbClr val="000000"/>
                </a:solidFill>
                <a:latin typeface="Arial"/>
              </a:rPr>
              <a:t>)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239" y="4304147"/>
            <a:ext cx="9440136" cy="4261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10" b="0" i="0">
                <a:solidFill>
                  <a:srgbClr val="000000"/>
                </a:solidFill>
                <a:latin typeface="Arial"/>
              </a:rPr>
              <a:t>Potential future directions of clinical pharmacology and pharmacometrics for CAR-T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239" y="4762089"/>
            <a:ext cx="1047300" cy="425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Arial"/>
              </a:rPr>
              <a:t>therapies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239" y="5212046"/>
            <a:ext cx="8041289" cy="339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alibri"/>
              </a:rPr>
              <a:t>→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Mechanism-based modeling of PK (CK) and PD of CAR-T therapies (e.g., QSP model)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8239" y="5577781"/>
            <a:ext cx="7764451" cy="339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alibri"/>
              </a:rPr>
              <a:t>→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Deeply quantitative dose-exposure-response characterization and factors impacting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8239" y="5943845"/>
            <a:ext cx="3754141" cy="339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alibri"/>
              </a:rPr>
              <a:t>→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Further preclinical to clinical translation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40" y="-48684"/>
            <a:ext cx="10160921" cy="7651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Arial"/>
              </a:rPr>
              <a:t>Summary of CAR T-cell (Autologous Platform)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40" y="445706"/>
            <a:ext cx="3431286" cy="76466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Arial"/>
              </a:rPr>
              <a:t>Characteristics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20728" y="6495897"/>
            <a:ext cx="180317" cy="26746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/>
          <p:cNvSpPr txBox="1"/>
          <p:nvPr/>
        </p:nvSpPr>
        <p:spPr>
          <a:xfrm>
            <a:off x="457200" y="228600"/>
            <a:ext cx="11277600" cy="9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000" b="1" i="0" dirty="0">
                <a:solidFill>
                  <a:srgbClr val="000000"/>
                </a:solidFill>
                <a:latin typeface="Arial"/>
              </a:rPr>
              <a:t>FDA Guidance: FIH Dose Selection &amp; Preclinical PK/PD Translation</a:t>
            </a:r>
          </a:p>
        </p:txBody>
      </p:sp>
      <p:sp>
        <p:nvSpPr>
          <p:cNvPr id="4" name="Content Text"/>
          <p:cNvSpPr txBox="1"/>
          <p:nvPr/>
        </p:nvSpPr>
        <p:spPr>
          <a:xfrm>
            <a:off x="457200" y="1200150"/>
            <a:ext cx="11277600" cy="5029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1" i="0" dirty="0">
                <a:solidFill>
                  <a:srgbClr val="1F1F1F"/>
                </a:solidFill>
                <a:latin typeface="Arial"/>
              </a:rPr>
              <a:t>Role of Nonclinical/Preclinical Data (Guidance Section V):</a:t>
            </a:r>
          </a:p>
          <a:p>
            <a:pPr marL="285750" indent="-285750" algn="l">
              <a:spcBef>
                <a:spcPts val="300"/>
              </a:spcBef>
              <a:buClr>
                <a:srgbClr val="2E75B6"/>
              </a:buClr>
              <a:buFont typeface="Arial"/>
              <a:buChar char="•"/>
            </a:pPr>
            <a:r>
              <a:rPr sz="1500" b="0" i="0" dirty="0">
                <a:solidFill>
                  <a:srgbClr val="1F1F1F"/>
                </a:solidFill>
                <a:latin typeface="Arial"/>
              </a:rPr>
              <a:t>Because CAR T-cells expand in vivo to a variable, patient-specific degree, FDA notes starting dose is often not determined from animal studies alone</a:t>
            </a:r>
          </a:p>
          <a:p>
            <a:pPr marL="285750" indent="-285750" algn="l">
              <a:spcBef>
                <a:spcPts val="300"/>
              </a:spcBef>
              <a:buClr>
                <a:srgbClr val="2E75B6"/>
              </a:buClr>
              <a:buFont typeface="Arial"/>
              <a:buChar char="•"/>
            </a:pPr>
            <a:r>
              <a:rPr sz="1500" b="0" i="0" dirty="0">
                <a:solidFill>
                  <a:srgbClr val="1F1F1F"/>
                </a:solidFill>
                <a:latin typeface="Arial"/>
              </a:rPr>
              <a:t>In vitro/in vivo effector:target ratio, expansion kinetics, and PK/PD anti-tumor response data are informative but supportive — prior clinical experience with similar constructs typically carries more weight for starting-dose justification</a:t>
            </a:r>
          </a:p>
          <a:p>
            <a:pPr algn="l">
              <a:spcBef>
                <a:spcPts val="1200"/>
              </a:spcBef>
              <a:spcAft>
                <a:spcPts val="500"/>
              </a:spcAft>
            </a:pPr>
            <a:r>
              <a:rPr sz="1800" b="1" i="0" dirty="0">
                <a:solidFill>
                  <a:srgbClr val="1F1F1F"/>
                </a:solidFill>
                <a:latin typeface="Arial"/>
              </a:rPr>
              <a:t>Dose Selection &amp; Escalation (Guidance Section VI.B.1):</a:t>
            </a:r>
          </a:p>
          <a:p>
            <a:pPr marL="285750" indent="-285750" algn="l">
              <a:spcBef>
                <a:spcPts val="300"/>
              </a:spcBef>
              <a:buClr>
                <a:srgbClr val="2E75B6"/>
              </a:buClr>
              <a:buFont typeface="Arial"/>
              <a:buChar char="•"/>
            </a:pPr>
            <a:r>
              <a:rPr sz="1500" b="0" i="0" dirty="0">
                <a:solidFill>
                  <a:srgbClr val="1F1F1F"/>
                </a:solidFill>
                <a:latin typeface="Arial"/>
              </a:rPr>
              <a:t>Dose based on viable transduced CAR+ T-cells, not total cell number (transduction efficiency varies lot-to-lot); flat or weight/BSA-based dosing acceptable with justification</a:t>
            </a:r>
          </a:p>
          <a:p>
            <a:pPr marL="285750" indent="-285750" algn="l">
              <a:spcBef>
                <a:spcPts val="300"/>
              </a:spcBef>
              <a:buClr>
                <a:srgbClr val="2E75B6"/>
              </a:buClr>
              <a:buFont typeface="Arial"/>
              <a:buChar char="•"/>
            </a:pPr>
            <a:r>
              <a:rPr sz="1500" b="0" i="0" dirty="0">
                <a:solidFill>
                  <a:srgbClr val="1F1F1F"/>
                </a:solidFill>
                <a:latin typeface="Arial"/>
              </a:rPr>
              <a:t>Escalation historically in half-log (~3-fold) increments; single-patient cohorts and intra-patient dose escalation not considered suitable for FIH CAR-T given tumor-burden-dependent CRS risk; staggered enrollment required within and between cohorts</a:t>
            </a:r>
          </a:p>
          <a:p>
            <a:pPr algn="l">
              <a:spcBef>
                <a:spcPts val="1200"/>
              </a:spcBef>
              <a:spcAft>
                <a:spcPts val="500"/>
              </a:spcAft>
            </a:pPr>
            <a:r>
              <a:rPr sz="1800" b="1" i="0" dirty="0">
                <a:solidFill>
                  <a:srgbClr val="1F1F1F"/>
                </a:solidFill>
                <a:latin typeface="Arial"/>
              </a:rPr>
              <a:t>Clinical Pharmacology Considerations (Guidance Section VI.C):</a:t>
            </a:r>
          </a:p>
          <a:p>
            <a:pPr marL="285750" indent="-285750" algn="l">
              <a:spcBef>
                <a:spcPts val="300"/>
              </a:spcBef>
              <a:buClr>
                <a:srgbClr val="2E75B6"/>
              </a:buClr>
              <a:buFont typeface="Arial"/>
              <a:buChar char="•"/>
            </a:pPr>
            <a:r>
              <a:rPr sz="1500" b="0" i="0" dirty="0">
                <a:solidFill>
                  <a:srgbClr val="1F1F1F"/>
                </a:solidFill>
                <a:latin typeface="Arial"/>
              </a:rPr>
              <a:t>PK (“cellular kinetics”): no classical ADME framework applies; recommended metrics are Cmax, Tmax, partial AUC, and Clast</a:t>
            </a:r>
          </a:p>
          <a:p>
            <a:pPr marL="285750" indent="-285750" algn="l">
              <a:spcBef>
                <a:spcPts val="300"/>
              </a:spcBef>
              <a:buClr>
                <a:srgbClr val="2E75B6"/>
              </a:buClr>
              <a:buFont typeface="Arial"/>
              <a:buChar char="•"/>
            </a:pPr>
            <a:r>
              <a:rPr sz="1500" b="0" i="0" dirty="0">
                <a:solidFill>
                  <a:srgbClr val="1F1F1F"/>
                </a:solidFill>
                <a:latin typeface="Arial"/>
              </a:rPr>
              <a:t>PD biomarkers selected per mechanism of action; immunogenicity assessed via humoral/cellular assays against the CAR construct, weighing patient- and product-related risk factors</a:t>
            </a:r>
          </a:p>
          <a:p>
            <a:pPr algn="l">
              <a:spcBef>
                <a:spcPts val="1600"/>
              </a:spcBef>
            </a:pPr>
            <a:r>
              <a:rPr sz="1300" b="0" i="1" dirty="0">
                <a:solidFill>
                  <a:srgbClr val="595959"/>
                </a:solidFill>
                <a:latin typeface="Arial"/>
              </a:rPr>
              <a:t>Source: FDA/CBER, Considerations for the Development of Chimeric Antigen Receptor (CAR) T Cell Products — Guidance for Industry (final, January 2024)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6570" y="37548"/>
            <a:ext cx="9502283" cy="7651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Arial"/>
              </a:rPr>
              <a:t>CARTITUDE Studies: CART-1 and CART-4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91273" y="732121"/>
            <a:ext cx="2946056" cy="3390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CART-1 (BLA) Proof of Concept: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91273" y="975961"/>
            <a:ext cx="3306457" cy="3390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Phase1b-2, Open-Label Study (BLA)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91273" y="1463895"/>
            <a:ext cx="4724868" cy="3390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Populations: R/R MM at least 3 PL of **PI and IMiD,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91273" y="1707735"/>
            <a:ext cx="546863" cy="3390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N=97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91273" y="1951575"/>
            <a:ext cx="70942" cy="3390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7785" y="1951575"/>
            <a:ext cx="2718304" cy="3390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ORR = 93.8% (87.0%, 97.7%)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1273" y="2195415"/>
            <a:ext cx="70942" cy="3390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7785" y="2195415"/>
            <a:ext cx="4375012" cy="3390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CR or better (sCR + CR) =  76% (68.8%, 86.1%)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1273" y="2439255"/>
            <a:ext cx="70942" cy="3390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7785" y="2439255"/>
            <a:ext cx="4722142" cy="3390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The 30-month OS survival rate was 68.0% (95% CI: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7785" y="2683349"/>
            <a:ext cx="924024" cy="3390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57.7-76.3)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570" y="744410"/>
            <a:ext cx="5160797" cy="40576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alibri"/>
              </a:rPr>
              <a:t>CARVYKTI®: </a:t>
            </a:r>
            <a:r>
              <a:rPr sz="1800" b="0" i="0">
                <a:solidFill>
                  <a:srgbClr val="000000"/>
                </a:solidFill>
                <a:latin typeface="Arial"/>
              </a:rPr>
              <a:t>CAR-T therapy directed against B-cell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570" y="1037875"/>
            <a:ext cx="2834868" cy="38233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Arial"/>
              </a:rPr>
              <a:t>maturation antigen (BCMA)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570" y="1566088"/>
            <a:ext cx="5363469" cy="38284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Arial"/>
              </a:rPr>
              <a:t>Indication: Relapsed or Refractory Multiple Myeloma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570" y="2062827"/>
            <a:ext cx="1672209" cy="3390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Dose: single dose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570" y="2306324"/>
            <a:ext cx="5745541" cy="3394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Total targeted dose of 0.75 x 10</a:t>
            </a:r>
            <a:r>
              <a:rPr sz="1070" b="0" i="0">
                <a:solidFill>
                  <a:srgbClr val="000000"/>
                </a:solidFill>
                <a:latin typeface="Arial"/>
              </a:rPr>
              <a:t>6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CAR-positive viable T cells/kg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570" y="2549756"/>
            <a:ext cx="4660679" cy="3402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(range: 0.5-1.0 x 10</a:t>
            </a:r>
            <a:r>
              <a:rPr sz="1070" b="0" i="0">
                <a:solidFill>
                  <a:srgbClr val="000000"/>
                </a:solidFill>
                <a:latin typeface="Arial"/>
              </a:rPr>
              <a:t>6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CAR-positive viable T cells/kg)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1273" y="3150328"/>
            <a:ext cx="2736964" cy="3390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CART-4 (sBLA) Confirmatory: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1273" y="3394168"/>
            <a:ext cx="3307695" cy="339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Phase 3 Randomized Study (sBLA):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1273" y="3637647"/>
            <a:ext cx="71049" cy="33951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7785" y="3637647"/>
            <a:ext cx="2578899" cy="33951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Arm A: </a:t>
            </a:r>
            <a:r>
              <a:rPr sz="1070" b="0" i="0">
                <a:solidFill>
                  <a:srgbClr val="000000"/>
                </a:solidFill>
                <a:latin typeface="Arial"/>
              </a:rPr>
              <a:t>*</a:t>
            </a:r>
            <a:r>
              <a:rPr sz="1600" b="0" i="0">
                <a:solidFill>
                  <a:srgbClr val="000000"/>
                </a:solidFill>
                <a:latin typeface="Arial"/>
              </a:rPr>
              <a:t>PVd or DPd, N=211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91273" y="3882229"/>
            <a:ext cx="70942" cy="339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7785" y="3882229"/>
            <a:ext cx="4907122" cy="339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Arm B: Cilta-cel, N=208 (N=176 for study treatment)  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1273" y="4369909"/>
            <a:ext cx="4998235" cy="339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Populations: Relapsed and lenalidomide-refractory MM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1273" y="4613406"/>
            <a:ext cx="2952008" cy="3394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Received 1-3 PL of </a:t>
            </a:r>
            <a:r>
              <a:rPr sz="1070" b="0" i="0">
                <a:solidFill>
                  <a:srgbClr val="000000"/>
                </a:solidFill>
                <a:latin typeface="Arial"/>
              </a:rPr>
              <a:t>**</a:t>
            </a:r>
            <a:r>
              <a:rPr sz="1600" b="0" i="0">
                <a:solidFill>
                  <a:srgbClr val="000000"/>
                </a:solidFill>
                <a:latin typeface="Arial"/>
              </a:rPr>
              <a:t>PI and IMiD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1273" y="5101068"/>
            <a:ext cx="71049" cy="33951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7785" y="5101068"/>
            <a:ext cx="2887830" cy="33951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ORR =  99.4% (96.9%, 100.0%)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1273" y="5345523"/>
            <a:ext cx="70942" cy="339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7785" y="5345523"/>
            <a:ext cx="4544260" cy="339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CR or better (sCR + CR) =  86.4% (80.4%, 91.1%)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0893" y="5926588"/>
            <a:ext cx="3628400" cy="241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10" b="0" i="0">
                <a:solidFill>
                  <a:srgbClr val="000000"/>
                </a:solidFill>
                <a:latin typeface="Calibri"/>
              </a:rPr>
              <a:t>*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Pomalidomide, Bortezomib and Dexamethasone (PVd) or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90893" y="6120079"/>
            <a:ext cx="3666768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Daratumumab, Pomalidomide and Dexamethasone (DPd) ,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90893" y="6325914"/>
            <a:ext cx="1549285" cy="22116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30" b="0" i="0">
                <a:solidFill>
                  <a:srgbClr val="000000"/>
                </a:solidFill>
                <a:latin typeface="Calibri"/>
              </a:rPr>
              <a:t>**</a:t>
            </a:r>
            <a:r>
              <a:rPr sz="1100" b="0" i="0">
                <a:solidFill>
                  <a:srgbClr val="000000"/>
                </a:solidFill>
                <a:latin typeface="Calibri"/>
              </a:rPr>
              <a:t>proteasome inhibitor (PI)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90893" y="6501078"/>
            <a:ext cx="1867954" cy="26746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immunomodulatory drug (IMiD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)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6570" y="2929637"/>
            <a:ext cx="4466009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Schematic Overview of GRATITUDE -1/CARTITUDE-4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920728" y="6585814"/>
            <a:ext cx="180473" cy="2679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10" b="0" i="0">
                <a:solidFill>
                  <a:srgbClr val="66666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3803" y="774191"/>
            <a:ext cx="1054455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Calibri"/>
              </a:rPr>
              <a:t>Blood transgene conc showed high intersubjective variability (%CV= 125.2%  for AUC)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4255" y="-45910"/>
            <a:ext cx="10543997" cy="76466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Arial"/>
              </a:rPr>
              <a:t>CAR Transgene Concentration Profile in CART-1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19321" y="1404113"/>
            <a:ext cx="1810539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Phase 1b and 2 (n=97)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4794" y="4469223"/>
            <a:ext cx="169428" cy="339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7948" y="4469223"/>
            <a:ext cx="947382" cy="339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Expansion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4794" y="4713317"/>
            <a:ext cx="169428" cy="339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7948" y="4713317"/>
            <a:ext cx="1093930" cy="339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Contraction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4794" y="4957157"/>
            <a:ext cx="169428" cy="339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7948" y="4957157"/>
            <a:ext cx="1172775" cy="339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Persistence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122" y="4264118"/>
            <a:ext cx="112696" cy="339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7232" y="4261959"/>
            <a:ext cx="112696" cy="339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3392" y="4252561"/>
            <a:ext cx="112696" cy="339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2786" y="5129552"/>
            <a:ext cx="99308" cy="29872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1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84145" y="5161281"/>
            <a:ext cx="198199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2786" y="5434469"/>
            <a:ext cx="6065340" cy="33951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The median time to onset of CRS was 7 days (range: 1 to 12 days).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2786" y="5678974"/>
            <a:ext cx="6256293" cy="339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The median time to onset of ICANS was 8 days (range: 1 to 28 days).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2786" y="5922814"/>
            <a:ext cx="9457014" cy="339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NE: The median onset of parkinsonism in the 5 patients in CARTITUDE-1 was 43 days (range: 15 to 108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2786" y="6166654"/>
            <a:ext cx="7914314" cy="339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rial"/>
              </a:rPr>
              <a:t>days)/Median time to onset of cranial nerve palsies was 26 days (range: 21 to 101 days)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535" y="5607254"/>
            <a:ext cx="553646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Safety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35" y="5820615"/>
            <a:ext cx="1087500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management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35" y="6033974"/>
            <a:ext cx="1135287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(CRS and NE)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29033" y="6572097"/>
            <a:ext cx="180317" cy="26746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8239" y="5022850"/>
            <a:ext cx="1026266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Calibri"/>
              </a:rPr>
              <a:t>Higher median PK parameters in responders (sCR+CR+VGPR+PR) compared to non-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239" y="5315407"/>
            <a:ext cx="5564429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Calibri"/>
              </a:rPr>
              <a:t>responders but the ranges were overlapping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239" y="5735726"/>
            <a:ext cx="7803692" cy="45765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Calibri"/>
              </a:rPr>
              <a:t>Limited sample size in non-responders (n=6); data was skewed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040" y="26245"/>
            <a:ext cx="5717853" cy="7651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Arial"/>
              </a:rPr>
              <a:t>ER for Efficacy in CART-1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06902" y="1163250"/>
            <a:ext cx="416762" cy="39103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C</a:t>
            </a:r>
            <a:r>
              <a:rPr sz="1070" b="1" i="0">
                <a:solidFill>
                  <a:srgbClr val="000000"/>
                </a:solidFill>
                <a:latin typeface="Arial"/>
              </a:rPr>
              <a:t>max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20430" y="1132389"/>
            <a:ext cx="785437" cy="39103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AUC</a:t>
            </a:r>
            <a:r>
              <a:rPr sz="1070" b="1" i="0">
                <a:solidFill>
                  <a:srgbClr val="000000"/>
                </a:solidFill>
                <a:latin typeface="Arial"/>
              </a:rPr>
              <a:t>0-28d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0450" y="715761"/>
            <a:ext cx="9440591" cy="44759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1" i="0">
                <a:solidFill>
                  <a:srgbClr val="333333"/>
                </a:solidFill>
                <a:latin typeface="Calibri"/>
              </a:rPr>
              <a:t>Scatter-Boxplot of Blood PK transgene (C</a:t>
            </a:r>
            <a:r>
              <a:rPr sz="1070" b="1" i="0">
                <a:solidFill>
                  <a:srgbClr val="333333"/>
                </a:solidFill>
                <a:latin typeface="Calibri"/>
              </a:rPr>
              <a:t>max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 and AUC</a:t>
            </a:r>
            <a:r>
              <a:rPr sz="1070" b="1" i="0">
                <a:solidFill>
                  <a:srgbClr val="333333"/>
                </a:solidFill>
                <a:latin typeface="Calibri"/>
              </a:rPr>
              <a:t>0-28d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) by Non-responders vs. Responders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96135" y="4340480"/>
            <a:ext cx="1323472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Non-responders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2854" y="4553840"/>
            <a:ext cx="420628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(n=6)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1546" y="4340480"/>
            <a:ext cx="1009579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Responders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526" y="4553840"/>
            <a:ext cx="519768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(n=91)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5550" y="4299967"/>
            <a:ext cx="1323470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Non-responders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2269" y="4512967"/>
            <a:ext cx="420989" cy="29872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10" b="0" i="0">
                <a:solidFill>
                  <a:srgbClr val="000000"/>
                </a:solidFill>
                <a:latin typeface="Arial"/>
              </a:rPr>
              <a:t>(n=6)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9851" y="4299967"/>
            <a:ext cx="1009578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Responders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50831" y="4512967"/>
            <a:ext cx="520298" cy="29872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10" b="0" i="0">
                <a:solidFill>
                  <a:srgbClr val="000000"/>
                </a:solidFill>
                <a:latin typeface="Arial"/>
              </a:rPr>
              <a:t>(n=91)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20728" y="6485228"/>
            <a:ext cx="180317" cy="26746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8239" y="4735068"/>
            <a:ext cx="5278067" cy="38176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alibri"/>
              </a:rPr>
              <a:t>All-grade CRS was observed for 92 subjects (94.8%)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239" y="5137099"/>
            <a:ext cx="9306274" cy="38221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10" b="0" i="0">
                <a:solidFill>
                  <a:srgbClr val="000000"/>
                </a:solidFill>
                <a:latin typeface="Calibri"/>
              </a:rPr>
              <a:t>Apparent trend of higher exposure during the expansion phase: higher medium PK during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239" y="5412028"/>
            <a:ext cx="4529987" cy="38176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alibri"/>
              </a:rPr>
              <a:t>expansion but the ranges were overlapping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239" y="5802553"/>
            <a:ext cx="7509444" cy="443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alibri"/>
              </a:rPr>
              <a:t>Higher median C</a:t>
            </a:r>
            <a:r>
              <a:rPr sz="1330" b="0" i="0">
                <a:solidFill>
                  <a:srgbClr val="000000"/>
                </a:solidFill>
                <a:latin typeface="Calibri"/>
              </a:rPr>
              <a:t>max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and AUC</a:t>
            </a:r>
            <a:r>
              <a:rPr sz="1330" b="0" i="0">
                <a:solidFill>
                  <a:srgbClr val="000000"/>
                </a:solidFill>
                <a:latin typeface="Calibri"/>
              </a:rPr>
              <a:t>0-28d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among subjects who were treated with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239" y="6087160"/>
            <a:ext cx="9778101" cy="38176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alibri"/>
              </a:rPr>
              <a:t>tocilizumab/corticosteroids-confounding concurrence of CRS and overlapping exposure range.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40" y="4635"/>
            <a:ext cx="5336768" cy="76466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Arial"/>
              </a:rPr>
              <a:t>ER for Safety in CART-1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040" y="549275"/>
            <a:ext cx="4824069" cy="5097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CRS: cytokine release syndrome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6902" y="1163250"/>
            <a:ext cx="416762" cy="39103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C</a:t>
            </a:r>
            <a:r>
              <a:rPr sz="1070" b="1" i="0">
                <a:solidFill>
                  <a:srgbClr val="000000"/>
                </a:solidFill>
                <a:latin typeface="Arial"/>
              </a:rPr>
              <a:t>max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0430" y="1132389"/>
            <a:ext cx="785437" cy="39103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AUC</a:t>
            </a:r>
            <a:r>
              <a:rPr sz="1070" b="1" i="0">
                <a:solidFill>
                  <a:srgbClr val="000000"/>
                </a:solidFill>
                <a:latin typeface="Arial"/>
              </a:rPr>
              <a:t>0-28d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00331" y="6458101"/>
            <a:ext cx="180317" cy="26746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2231" y="10828"/>
            <a:ext cx="4854293" cy="68055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200" b="1" i="0" dirty="0">
                <a:solidFill>
                  <a:srgbClr val="000000"/>
                </a:solidFill>
                <a:latin typeface="Arial"/>
              </a:rPr>
              <a:t>ER for Safety in CAR-T1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1421" y="846583"/>
            <a:ext cx="4212348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 dirty="0">
                <a:solidFill>
                  <a:srgbClr val="000000"/>
                </a:solidFill>
                <a:latin typeface="Arial"/>
              </a:rPr>
              <a:t>ICANS (n=16, including 2 subjects with Grade 3 or 4 )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1421" y="1273303"/>
            <a:ext cx="11751460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Other neurotoxicity: ONTX (n=13, including movement and neurocognitive treatment-emergent adverse events: MNTs (n=6): 3 subjects with Grade 2,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" y="1486663"/>
            <a:ext cx="4520642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9 subjects with Grade 3 or 4, and 1 subject with Grade 5)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231" y="1691353"/>
            <a:ext cx="5328959" cy="39271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Scatter-Boxplot of Blood PK transgene (C</a:t>
            </a:r>
            <a:r>
              <a:rPr sz="940" b="1" i="0">
                <a:solidFill>
                  <a:srgbClr val="333333"/>
                </a:solidFill>
                <a:latin typeface="Calibri"/>
              </a:rPr>
              <a:t>max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 and AUC</a:t>
            </a:r>
            <a:r>
              <a:rPr sz="940" b="1" i="0">
                <a:solidFill>
                  <a:srgbClr val="333333"/>
                </a:solidFill>
                <a:latin typeface="Calibri"/>
              </a:rPr>
              <a:t>0-28d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) by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231" y="1911815"/>
            <a:ext cx="628357" cy="350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ICANS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8361" y="1691607"/>
            <a:ext cx="5328959" cy="39271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Scatter-Boxplot of Blood PK transgene (C</a:t>
            </a:r>
            <a:r>
              <a:rPr sz="940" b="1" i="0">
                <a:solidFill>
                  <a:srgbClr val="333333"/>
                </a:solidFill>
                <a:latin typeface="Calibri"/>
              </a:rPr>
              <a:t>max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 and AUC</a:t>
            </a:r>
            <a:r>
              <a:rPr sz="940" b="1" i="0">
                <a:solidFill>
                  <a:srgbClr val="333333"/>
                </a:solidFill>
                <a:latin typeface="Calibri"/>
              </a:rPr>
              <a:t>0-28d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) by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8361" y="1911643"/>
            <a:ext cx="509046" cy="35070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10" b="1" i="0">
                <a:solidFill>
                  <a:srgbClr val="333333"/>
                </a:solidFill>
                <a:latin typeface="Calibri"/>
              </a:rPr>
              <a:t>ONTX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56596" y="5065050"/>
            <a:ext cx="59314" cy="1256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500" b="1" i="0">
                <a:solidFill>
                  <a:srgbClr val="333333"/>
                </a:solidFill>
                <a:latin typeface="Calibri"/>
              </a:rPr>
              <a:t>B</a:t>
            </a:r>
            <a:r>
              <a:rPr sz="500" b="0" i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2681" y="5072416"/>
            <a:ext cx="60838" cy="1256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500" b="1" i="0">
                <a:solidFill>
                  <a:srgbClr val="333333"/>
                </a:solidFill>
                <a:latin typeface="Calibri"/>
              </a:rPr>
              <a:t>A</a:t>
            </a:r>
            <a:r>
              <a:rPr sz="500" b="0" i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8910" y="5072416"/>
            <a:ext cx="59314" cy="1256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500" b="1" i="0">
                <a:solidFill>
                  <a:srgbClr val="333333"/>
                </a:solidFill>
                <a:latin typeface="Calibri"/>
              </a:rPr>
              <a:t>B</a:t>
            </a:r>
            <a:r>
              <a:rPr sz="500" b="0" i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7506" y="241301"/>
            <a:ext cx="4593248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*: Immune effector cell-associated neurotoxicity syndrome: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7506" y="454662"/>
            <a:ext cx="1729229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**: Other neurotoxicity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6537083"/>
            <a:ext cx="2307029" cy="2548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Chang., et al., ACCP poster 2023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" y="5677126"/>
            <a:ext cx="10987111" cy="34350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• Subjects with CAR-T cell neurotoxicity had apparent </a:t>
            </a:r>
            <a:r>
              <a:rPr sz="1400" b="0" i="0">
                <a:solidFill>
                  <a:srgbClr val="5B9BD5"/>
                </a:solidFill>
                <a:latin typeface="Arial"/>
              </a:rPr>
              <a:t>higher median </a:t>
            </a:r>
            <a:r>
              <a:rPr sz="1400" b="0" i="0">
                <a:solidFill>
                  <a:srgbClr val="000000"/>
                </a:solidFill>
                <a:latin typeface="Arial"/>
              </a:rPr>
              <a:t>CAR transgene PK metrics (C</a:t>
            </a:r>
            <a:r>
              <a:rPr sz="940" b="0" i="0">
                <a:solidFill>
                  <a:srgbClr val="000000"/>
                </a:solidFill>
                <a:latin typeface="Arial"/>
              </a:rPr>
              <a:t>max</a:t>
            </a:r>
            <a:r>
              <a:rPr sz="1400" b="0" i="0">
                <a:solidFill>
                  <a:srgbClr val="000000"/>
                </a:solidFill>
                <a:latin typeface="Arial"/>
              </a:rPr>
              <a:t> and AUC</a:t>
            </a:r>
            <a:r>
              <a:rPr sz="940" b="0" i="0">
                <a:solidFill>
                  <a:srgbClr val="000000"/>
                </a:solidFill>
                <a:latin typeface="Arial"/>
              </a:rPr>
              <a:t>0-28d</a:t>
            </a:r>
            <a:r>
              <a:rPr sz="1400" b="0" i="0">
                <a:solidFill>
                  <a:srgbClr val="000000"/>
                </a:solidFill>
                <a:latin typeface="Arial"/>
              </a:rPr>
              <a:t>) compared to subjects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808" y="5898034"/>
            <a:ext cx="2031285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without neurotoxicity AEs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" y="6111033"/>
            <a:ext cx="10887038" cy="29872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10" b="0" i="0">
                <a:solidFill>
                  <a:srgbClr val="000000"/>
                </a:solidFill>
                <a:latin typeface="Arial"/>
              </a:rPr>
              <a:t>• The association between exposure and neurotoxicity AEs was not clear due to wide overlapping ranges of PK transgene levels and high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808" y="6325058"/>
            <a:ext cx="1875087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interindividual variability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3204" y="444216"/>
            <a:ext cx="2796789" cy="425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Nes: neurologic events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92660" y="6558076"/>
            <a:ext cx="180317" cy="26746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9171" y="123781"/>
            <a:ext cx="9347925" cy="7651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Arial"/>
              </a:rPr>
              <a:t>PopPK Model Based on Transgene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827309"/>
            <a:ext cx="5368772" cy="38233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Arial"/>
              </a:rPr>
              <a:t>Empirical 2-compartment model (not mass-balance):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101629"/>
            <a:ext cx="5268264" cy="38233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Arial"/>
              </a:rPr>
              <a:t>Dose: number of CAR-positive viable T cells infused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" y="1375588"/>
            <a:ext cx="5958840" cy="38284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Arial"/>
              </a:rPr>
              <a:t>Fitted in: </a:t>
            </a:r>
            <a:r>
              <a:rPr sz="1800" b="0" i="0">
                <a:solidFill>
                  <a:srgbClr val="0070C0"/>
                </a:solidFill>
                <a:latin typeface="Arial"/>
              </a:rPr>
              <a:t>Observed CAR transgene level (copies/µg gDNA)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" y="4685696"/>
            <a:ext cx="2769285" cy="38233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Arial"/>
              </a:rPr>
              <a:t>Parameters: lag time (Tlag)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" y="4959655"/>
            <a:ext cx="3839431" cy="38284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Arial"/>
              </a:rPr>
              <a:t>                    mean transit time (MTT),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" y="5234717"/>
            <a:ext cx="11269904" cy="38233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Arial"/>
              </a:rPr>
              <a:t>                    apparent rapid decline rate (α, apparent transition rate from fast eliminated to sustained CAR-T (ra)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" y="5440250"/>
            <a:ext cx="4990744" cy="6371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Arial"/>
              </a:rPr>
              <a:t>                    apparent gradual decline rate (</a:t>
            </a:r>
            <a:r>
              <a:rPr sz="2400" b="0" i="0">
                <a:solidFill>
                  <a:srgbClr val="000000"/>
                </a:solidFill>
                <a:latin typeface="Times New Roman"/>
              </a:rPr>
              <a:t>(</a:t>
            </a:r>
            <a:r>
              <a:rPr sz="2400" b="0" i="0">
                <a:solidFill>
                  <a:srgbClr val="000000"/>
                </a:solidFill>
                <a:latin typeface="Calibri"/>
              </a:rPr>
              <a:t>d</a:t>
            </a:r>
            <a:r>
              <a:rPr sz="1600" b="0" i="0">
                <a:solidFill>
                  <a:srgbClr val="000000"/>
                </a:solidFill>
                <a:latin typeface="Times New Roman"/>
              </a:rPr>
              <a:t>m</a:t>
            </a:r>
            <a:r>
              <a:rPr sz="1800" b="0" i="0">
                <a:solidFill>
                  <a:srgbClr val="000000"/>
                </a:solidFill>
                <a:latin typeface="Arial"/>
              </a:rPr>
              <a:t>).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" y="5874772"/>
            <a:ext cx="8810700" cy="38233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Arial"/>
              </a:rPr>
              <a:t>initial margination (distribution), expansion, differentiation, contraction, and persistence.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6629" y="3988182"/>
            <a:ext cx="2596371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10</a:t>
            </a:r>
            <a:r>
              <a:rPr sz="940" b="0" i="0">
                <a:solidFill>
                  <a:srgbClr val="000000"/>
                </a:solidFill>
                <a:latin typeface="Arial"/>
              </a:rPr>
              <a:t>th</a:t>
            </a:r>
            <a:r>
              <a:rPr sz="1400" b="0" i="0">
                <a:solidFill>
                  <a:srgbClr val="000000"/>
                </a:solidFill>
                <a:latin typeface="Arial"/>
              </a:rPr>
              <a:t> percentiles of the simulation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64497" y="2232808"/>
            <a:ext cx="2644537" cy="29873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10" b="0" i="0">
                <a:solidFill>
                  <a:srgbClr val="000000"/>
                </a:solidFill>
                <a:latin typeface="Arial"/>
              </a:rPr>
              <a:t>90th percentiles of the simulation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7088" y="3427221"/>
            <a:ext cx="69883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median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640" y="6468361"/>
            <a:ext cx="4196957" cy="3089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Wu LS et al., </a:t>
            </a:r>
            <a:r>
              <a:rPr sz="1400" b="0" i="0">
                <a:solidFill>
                  <a:srgbClr val="212121"/>
                </a:solidFill>
                <a:latin typeface="Calibri"/>
              </a:rPr>
              <a:t>Clin Transl Sci. 2022 Dec;15(12):3000-3011</a:t>
            </a:r>
            <a:r>
              <a:rPr sz="1400" b="0" i="0">
                <a:solidFill>
                  <a:srgbClr val="000000"/>
                </a:solidFill>
                <a:latin typeface="Arial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26493" y="6457187"/>
            <a:ext cx="180317" cy="26746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5A9DB0-ED84-AEFE-C40C-9AA24EE7F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90" y="41736"/>
            <a:ext cx="11666820" cy="677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584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6771" y="5547975"/>
            <a:ext cx="11362633" cy="4925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4472C4"/>
                </a:solidFill>
                <a:latin typeface="Arial"/>
              </a:rPr>
              <a:t>No apparent difference </a:t>
            </a:r>
            <a:r>
              <a:rPr sz="2000" b="0" i="0">
                <a:solidFill>
                  <a:srgbClr val="000000"/>
                </a:solidFill>
                <a:latin typeface="Arial"/>
              </a:rPr>
              <a:t>of CAR transgene exposure (i.e., predicted C</a:t>
            </a:r>
            <a:r>
              <a:rPr sz="1330" b="0" i="0">
                <a:solidFill>
                  <a:srgbClr val="000000"/>
                </a:solidFill>
                <a:latin typeface="Arial"/>
              </a:rPr>
              <a:t>max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and AUC</a:t>
            </a:r>
            <a:r>
              <a:rPr sz="1330" b="0" i="0">
                <a:solidFill>
                  <a:srgbClr val="000000"/>
                </a:solidFill>
                <a:latin typeface="Arial"/>
              </a:rPr>
              <a:t>0-28d</a:t>
            </a:r>
            <a:r>
              <a:rPr sz="2000" b="0" i="0">
                <a:solidFill>
                  <a:srgbClr val="000000"/>
                </a:solidFill>
                <a:latin typeface="Arial"/>
              </a:rPr>
              <a:t>) was observed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6771" y="5833435"/>
            <a:ext cx="6617541" cy="425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Arial"/>
              </a:rPr>
              <a:t>between ADA+ and ADA- subjects in CART-1 and CART-4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796" y="1292226"/>
            <a:ext cx="1679728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CART-1 (MMY2001)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5081" y="1279399"/>
            <a:ext cx="1680108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CART-4 (MMY3002)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3555" y="1865323"/>
            <a:ext cx="5383491" cy="34350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Scatter-Boxplot of Blood PK transgene (C</a:t>
            </a:r>
            <a:r>
              <a:rPr sz="940" b="0" i="0">
                <a:solidFill>
                  <a:srgbClr val="000000"/>
                </a:solidFill>
                <a:latin typeface="Arial"/>
              </a:rPr>
              <a:t>max</a:t>
            </a:r>
            <a:r>
              <a:rPr sz="1400" b="0" i="0">
                <a:solidFill>
                  <a:srgbClr val="000000"/>
                </a:solidFill>
                <a:latin typeface="Arial"/>
              </a:rPr>
              <a:t> and AUC</a:t>
            </a:r>
            <a:r>
              <a:rPr sz="940" b="0" i="0">
                <a:solidFill>
                  <a:srgbClr val="000000"/>
                </a:solidFill>
                <a:latin typeface="Arial"/>
              </a:rPr>
              <a:t>0-28d</a:t>
            </a:r>
            <a:r>
              <a:rPr sz="1400" b="0" i="0">
                <a:solidFill>
                  <a:srgbClr val="000000"/>
                </a:solidFill>
                <a:latin typeface="Arial"/>
              </a:rPr>
              <a:t>) by ADA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6553" y="1865323"/>
            <a:ext cx="5383823" cy="34350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Scatter-Boxplot of Blood PK transgene (C</a:t>
            </a:r>
            <a:r>
              <a:rPr sz="940" b="0" i="0">
                <a:solidFill>
                  <a:srgbClr val="000000"/>
                </a:solidFill>
                <a:latin typeface="Arial"/>
              </a:rPr>
              <a:t>max</a:t>
            </a:r>
            <a:r>
              <a:rPr sz="1400" b="0" i="0">
                <a:solidFill>
                  <a:srgbClr val="000000"/>
                </a:solidFill>
                <a:latin typeface="Arial"/>
              </a:rPr>
              <a:t> and AUC</a:t>
            </a:r>
            <a:r>
              <a:rPr sz="940" b="0" i="0">
                <a:solidFill>
                  <a:srgbClr val="000000"/>
                </a:solidFill>
                <a:latin typeface="Arial"/>
              </a:rPr>
              <a:t>0-28d</a:t>
            </a:r>
            <a:r>
              <a:rPr sz="1400" b="0" i="0">
                <a:solidFill>
                  <a:srgbClr val="000000"/>
                </a:solidFill>
                <a:latin typeface="Arial"/>
              </a:rPr>
              <a:t>) by ADA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34165" y="6382512"/>
            <a:ext cx="180473" cy="26791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10" b="0" i="0">
                <a:solidFill>
                  <a:srgbClr val="000000"/>
                </a:solidFill>
                <a:latin typeface="Calibri"/>
              </a:rPr>
              <a:t>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131" y="309816"/>
            <a:ext cx="6629857" cy="76466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Arial"/>
              </a:rPr>
              <a:t>Immunogenicity (ADA) and PK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2315" y="103441"/>
            <a:ext cx="11179911" cy="76466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Arial"/>
              </a:rPr>
              <a:t>Pharmacodynamic Marker: Soluble BCMA (sBCMA)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4372" y="5764739"/>
            <a:ext cx="8720530" cy="38233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Arial"/>
              </a:rPr>
              <a:t>Mean conc was below LLOQ (bql = 0) on Day 56, suggesting sBCMA reached to nadir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372" y="6039059"/>
            <a:ext cx="11250674" cy="38233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Arial"/>
              </a:rPr>
              <a:t>After Day 56, some subjects had higher sBCMA conc during disease progression (sBCMA reversal vs. disease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4372" y="6313379"/>
            <a:ext cx="1266901" cy="382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Arial"/>
              </a:rPr>
              <a:t>progression)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906" y="2504799"/>
            <a:ext cx="1147234" cy="42820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Best Response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9906" y="2718159"/>
            <a:ext cx="1553419" cy="42820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Disease Progression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02168" y="6429489"/>
            <a:ext cx="2092755" cy="2548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CF de Larrea., et al., IMS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525" y="2246371"/>
            <a:ext cx="285471" cy="27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Mean sBCMA level, µg/L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3282" y="5176879"/>
            <a:ext cx="1820346" cy="42820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Time from infusion,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1391" y="1527990"/>
            <a:ext cx="4488796" cy="4867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alibri"/>
              </a:rPr>
              <a:t>Mean sBCMA levels over time in CART-4 (MMY3002)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8351" y="4424976"/>
            <a:ext cx="328373" cy="2483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41454F"/>
                </a:solidFill>
                <a:latin typeface="Calibri"/>
              </a:rPr>
              <a:t>LLOQ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638" y="2048888"/>
            <a:ext cx="287413" cy="24896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41454F"/>
                </a:solidFill>
                <a:latin typeface="Calibri"/>
              </a:rPr>
              <a:t>1000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341" y="2713778"/>
            <a:ext cx="215609" cy="2483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41454F"/>
                </a:solidFill>
                <a:latin typeface="Calibri"/>
              </a:rP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4445" y="3378242"/>
            <a:ext cx="143981" cy="2483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41454F"/>
                </a:solidFill>
                <a:latin typeface="Calibri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9121" y="4042452"/>
            <a:ext cx="72353" cy="2483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41454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9756" y="4706916"/>
            <a:ext cx="177594" cy="2483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41454F"/>
                </a:solidFill>
                <a:latin typeface="Calibri"/>
              </a:rPr>
              <a:t>0.1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4252" y="4942501"/>
            <a:ext cx="72353" cy="2483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41454F"/>
                </a:solidFill>
                <a:latin typeface="Calibr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5101" y="4942501"/>
            <a:ext cx="143981" cy="2483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41454F"/>
                </a:solidFill>
                <a:latin typeface="Calibri"/>
              </a:rPr>
              <a:t>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57348" y="4942501"/>
            <a:ext cx="215609" cy="2483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41454F"/>
                </a:solidFill>
                <a:latin typeface="Calibri"/>
              </a:rPr>
              <a:t>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45029" y="4942501"/>
            <a:ext cx="215609" cy="2483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41454F"/>
                </a:solidFill>
                <a:latin typeface="Calibri"/>
              </a:rPr>
              <a:t>150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32454" y="4942501"/>
            <a:ext cx="215609" cy="2483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41454F"/>
                </a:solidFill>
                <a:latin typeface="Calibri"/>
              </a:rPr>
              <a:t>200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9753" y="4942501"/>
            <a:ext cx="215609" cy="2483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41454F"/>
                </a:solidFill>
                <a:latin typeface="Calibri"/>
              </a:rPr>
              <a:t>250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07434" y="4942501"/>
            <a:ext cx="215609" cy="2483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41454F"/>
                </a:solidFill>
                <a:latin typeface="Calibri"/>
              </a:rPr>
              <a:t>300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4859" y="4942501"/>
            <a:ext cx="215609" cy="2483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41454F"/>
                </a:solidFill>
                <a:latin typeface="Calibri"/>
              </a:rPr>
              <a:t>350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2540" y="4942501"/>
            <a:ext cx="215609" cy="2483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41454F"/>
                </a:solidFill>
                <a:latin typeface="Calibri"/>
              </a:rPr>
              <a:t>400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9519" y="2262483"/>
            <a:ext cx="3097857" cy="42820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Median time to undetectability was D56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749" y="972363"/>
            <a:ext cx="80116" cy="38284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E03C6B"/>
                </a:solidFill>
                <a:latin typeface="Arial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261" y="972363"/>
            <a:ext cx="7097869" cy="38284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3C3E3C"/>
                </a:solidFill>
                <a:latin typeface="Arial"/>
              </a:rPr>
              <a:t>The value of sBCMA as biomarker for disease progression in the clinic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19639" y="5251492"/>
            <a:ext cx="1145802" cy="4289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10" b="0" i="0">
                <a:solidFill>
                  <a:srgbClr val="000000"/>
                </a:solidFill>
                <a:latin typeface="Calibri"/>
              </a:rPr>
              <a:t>Best Response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19639" y="5465575"/>
            <a:ext cx="1551100" cy="42820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Disease Progression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6972" y="1298668"/>
            <a:ext cx="877048" cy="3390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Myeloma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05265" y="866141"/>
            <a:ext cx="535459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BCMA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74275" y="699009"/>
            <a:ext cx="1412376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gamma secretase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5009" y="1321437"/>
            <a:ext cx="634598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sBCMA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908535" y="6506260"/>
            <a:ext cx="180317" cy="26746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1903" y="1213358"/>
            <a:ext cx="10812473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Calibri"/>
              </a:rPr>
              <a:t>CMC issue (QC issue, limited manufacturing capacity, lentivirus manufacturing process,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903" y="1542541"/>
            <a:ext cx="342229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Calibri"/>
              </a:rPr>
              <a:t>OOS comparability studies)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1903" y="2336927"/>
            <a:ext cx="60905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Calibri"/>
              </a:rPr>
              <a:t> The mechanism of NE is unclear (biodistribution)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903" y="2631439"/>
            <a:ext cx="10824246" cy="50977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Arial"/>
              </a:rPr>
              <a:t>•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Radiolabel (half-life is too short) or reporter gene transfected- CAR+ cells to figure out bio-distribution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500" y="68486"/>
            <a:ext cx="9584716" cy="68055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Arial"/>
              </a:rPr>
              <a:t>Challenges and Opportunities in CAR T Products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500" y="507398"/>
            <a:ext cx="4737223" cy="68055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Arial"/>
              </a:rPr>
              <a:t>(Personalized Medicine)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3591" y="5972044"/>
            <a:ext cx="841623" cy="29872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10" b="0" i="0">
                <a:solidFill>
                  <a:srgbClr val="000000"/>
                </a:solidFill>
                <a:latin typeface="Arial"/>
              </a:rPr>
              <a:t>Apheresis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5785" y="3933953"/>
            <a:ext cx="602502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Quality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35785" y="4147313"/>
            <a:ext cx="951451" cy="298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4052" y="6511530"/>
            <a:ext cx="2985971" cy="2350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10" b="0" i="0">
                <a:solidFill>
                  <a:srgbClr val="000000"/>
                </a:solidFill>
                <a:latin typeface="Arial"/>
              </a:rPr>
              <a:t>Blache, U. et al., Nat Commun 13, 5225 (2022).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172" y="3639724"/>
            <a:ext cx="5201109" cy="38233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Arial"/>
              </a:rPr>
              <a:t>Q: How to optimize the manufacturing process and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172" y="3914044"/>
            <a:ext cx="4680357" cy="38233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Arial"/>
              </a:rPr>
              <a:t>accelerate the development of cell therapy? 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172" y="4844573"/>
            <a:ext cx="4863716" cy="38233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Arial"/>
              </a:rPr>
              <a:t>A: Translational research (T-cell population and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172" y="5118893"/>
            <a:ext cx="4112005" cy="38233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Arial"/>
              </a:rPr>
              <a:t>phenotyping over time), cross-functional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172" y="5392827"/>
            <a:ext cx="4803578" cy="38284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Arial"/>
              </a:rPr>
              <a:t>collaboration, and industry and health authority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172" y="5667813"/>
            <a:ext cx="1356739" cy="38233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Arial"/>
              </a:rPr>
              <a:t>collaboration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20728" y="6508698"/>
            <a:ext cx="180317" cy="26746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7331" y="1858009"/>
            <a:ext cx="1001115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Calibri"/>
              </a:rPr>
              <a:t>The PK profiles of cilta-cel, characterized by significant interindividual variability,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7331" y="2186889"/>
            <a:ext cx="8480083" cy="45765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Calibri"/>
              </a:rPr>
              <a:t>displayed distinct phases of expansion, contraction, and persistence.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7331" y="2656871"/>
            <a:ext cx="10026369" cy="53092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Calibri"/>
              </a:rPr>
              <a:t>Exposure-response analysis (efficacy/safety): a trend of higher C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max</a:t>
            </a:r>
            <a:r>
              <a:rPr sz="2400" b="0" i="0">
                <a:solidFill>
                  <a:srgbClr val="000000"/>
                </a:solidFill>
                <a:latin typeface="Calibri"/>
              </a:rPr>
              <a:t>/AUC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0-28d</a:t>
            </a:r>
            <a:r>
              <a:rPr sz="2400" b="0" i="0">
                <a:solidFill>
                  <a:srgbClr val="000000"/>
                </a:solidFill>
                <a:latin typeface="Calibri"/>
              </a:rPr>
              <a:t> was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7331" y="2998342"/>
            <a:ext cx="10569191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Calibri"/>
              </a:rPr>
              <a:t>observed but wide overlapping ranges. The dose-exposure relationship was not clear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7331" y="3479622"/>
            <a:ext cx="10131311" cy="45765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Calibri"/>
              </a:rPr>
              <a:t>Immunogenicity (ADA) doesn’t have an apparent impact on exposure, safety, and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7331" y="3809365"/>
            <a:ext cx="10430558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Calibri"/>
              </a:rPr>
              <a:t>efficacy (provides a rationale for not performing neutralizing antibody assessments)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7331" y="4290948"/>
            <a:ext cx="10098075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Calibri"/>
              </a:rPr>
              <a:t>sBCMA appears to be a promising pharmacodynamic (PD) biomarker, particularly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7331" y="4620132"/>
            <a:ext cx="988009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Calibri"/>
              </a:rPr>
              <a:t>when combined with M-protein, for potential clinical applications in the future.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331" y="5004201"/>
            <a:ext cx="8306492" cy="5102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Arial"/>
              </a:rPr>
              <a:t>•</a:t>
            </a:r>
            <a:r>
              <a:rPr sz="2010" b="0" i="0">
                <a:solidFill>
                  <a:srgbClr val="000000"/>
                </a:solidFill>
                <a:latin typeface="Calibri"/>
              </a:rPr>
              <a:t> Further exploratory PD modeling is warranted to investigate its full potential.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040" y="112047"/>
            <a:ext cx="4814164" cy="68055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Arial"/>
              </a:rPr>
              <a:t>Case Study: CARVYKTI</a:t>
            </a:r>
            <a:r>
              <a:rPr sz="2140" b="1" i="0">
                <a:solidFill>
                  <a:srgbClr val="000000"/>
                </a:solidFill>
                <a:latin typeface="Arial"/>
              </a:rPr>
              <a:t>®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40" y="550598"/>
            <a:ext cx="7103129" cy="68106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210" b="1" i="0">
                <a:solidFill>
                  <a:srgbClr val="000000"/>
                </a:solidFill>
                <a:latin typeface="Arial"/>
              </a:rPr>
              <a:t>(ciltacabtagene Autoleucel;Cilta-cel)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40" y="1136112"/>
            <a:ext cx="9963308" cy="425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Arial"/>
              </a:rPr>
              <a:t>CARTITUDE-1 (MMY2001: phase1b/2) and CARTITUDE-4 (MMY3002: Phase3) for BLA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79326" y="6558076"/>
            <a:ext cx="180317" cy="26746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2676</Words>
  <Application>Microsoft Office PowerPoint</Application>
  <PresentationFormat>Widescreen</PresentationFormat>
  <Paragraphs>415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Tairan Yang</cp:lastModifiedBy>
  <cp:revision>6</cp:revision>
  <dcterms:created xsi:type="dcterms:W3CDTF">2013-01-27T09:14:16Z</dcterms:created>
  <dcterms:modified xsi:type="dcterms:W3CDTF">2026-09-28T22:30:33Z</dcterms:modified>
  <cp:category/>
</cp:coreProperties>
</file>