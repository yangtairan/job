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8"/>
  </p:notesMasterIdLst>
  <p:sldIdLst>
    <p:sldId id="288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5" d="100"/>
          <a:sy n="115" d="100"/>
        </p:scale>
        <p:origin x="7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8B39A8-21CA-498F-9762-6115A44D0AF3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19FDA0-B3FC-4B5D-8BE1-405AF53E7B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75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1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5" Type="http://schemas.openxmlformats.org/officeDocument/2006/relationships/image" Target="../media/image2.emf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8988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8441DAC-80ED-DDC6-8DFD-93869F84BF0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95313" y="5213746"/>
            <a:ext cx="10999788" cy="492443"/>
          </a:xfrm>
        </p:spPr>
        <p:txBody>
          <a:bodyPr wrap="square" lIns="0" tIns="0" rIns="0" bIns="0" rtlCol="0" anchor="t">
            <a:noAutofit/>
          </a:bodyPr>
          <a:lstStyle>
            <a:lvl1pPr>
              <a:defRPr lang="de-DE" dirty="0" smtClean="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Click to </a:t>
            </a:r>
            <a:r>
              <a:rPr lang="de-DE" err="1"/>
              <a:t>edit</a:t>
            </a:r>
            <a:r>
              <a:rPr lang="de-DE"/>
              <a:t> Subtitle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413338"/>
            <a:ext cx="10999788" cy="2031325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br>
              <a:rPr lang="en-US"/>
            </a:br>
            <a:r>
              <a:rPr lang="en-US"/>
              <a:t>three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4662488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sp>
        <p:nvSpPr>
          <p:cNvPr id="27" name="Datumsplatzhalter 3">
            <a:extLst>
              <a:ext uri="{FF2B5EF4-FFF2-40B4-BE49-F238E27FC236}">
                <a16:creationId xmlns:a16="http://schemas.microsoft.com/office/drawing/2014/main" id="{44E313EC-B126-DEDC-EDF4-9647A1A023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95313" y="5706189"/>
            <a:ext cx="10999788" cy="215444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>
            <a:lvl1pPr>
              <a:defRPr lang="de-DE" sz="1400" smtClean="0"/>
            </a:lvl1pPr>
          </a:lstStyle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737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2088040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/>
            </a:lvl1pPr>
          </a:lstStyle>
          <a:p>
            <a:r>
              <a:rPr lang="en-US"/>
              <a:t>Agenda,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abellenplatzhalter 9">
            <a:extLst>
              <a:ext uri="{FF2B5EF4-FFF2-40B4-BE49-F238E27FC236}">
                <a16:creationId xmlns:a16="http://schemas.microsoft.com/office/drawing/2014/main" id="{B835D5A0-AFAB-1FC7-AC6A-99FD71803CA4}"/>
              </a:ext>
            </a:extLst>
          </p:cNvPr>
          <p:cNvSpPr>
            <a:spLocks noGrp="1"/>
          </p:cNvSpPr>
          <p:nvPr>
            <p:ph type="tbl" sz="quarter" idx="17" hasCustomPrompt="1"/>
          </p:nvPr>
        </p:nvSpPr>
        <p:spPr>
          <a:xfrm>
            <a:off x="595313" y="1636713"/>
            <a:ext cx="10999787" cy="439193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Table</a:t>
            </a:r>
          </a:p>
        </p:txBody>
      </p:sp>
    </p:spTree>
    <p:extLst>
      <p:ext uri="{BB962C8B-B14F-4D97-AF65-F5344CB8AC3E}">
        <p14:creationId xmlns:p14="http://schemas.microsoft.com/office/powerpoint/2010/main" val="1864929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198713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2751892"/>
            <a:ext cx="10999787" cy="1354217"/>
          </a:xfrm>
        </p:spPr>
        <p:txBody>
          <a:bodyPr vert="horz" wrap="square" lIns="0" tIns="0" rIns="0" bIns="0" rtlCol="0" anchor="b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01. 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651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212285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333500" y="2751892"/>
            <a:ext cx="10261600" cy="1354217"/>
          </a:xfrm>
        </p:spPr>
        <p:txBody>
          <a:bodyPr vert="horz" wrap="square" lIns="0" tIns="0" rIns="0" bIns="0" rtlCol="0" anchor="t">
            <a:noAutofit/>
          </a:bodyPr>
          <a:lstStyle>
            <a:lvl1pPr>
              <a:spcAft>
                <a:spcPts val="0"/>
              </a:spcAft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Click to edit Master title style</a:t>
            </a:r>
            <a:br>
              <a:rPr lang="en-US"/>
            </a:br>
            <a:r>
              <a:rPr lang="en-US"/>
              <a:t>two lines</a:t>
            </a:r>
            <a:endParaRPr lang="de-DE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71483C46-1547-B398-3836-563FA9795586}"/>
              </a:ext>
            </a:extLst>
          </p:cNvPr>
          <p:cNvGrpSpPr/>
          <p:nvPr/>
        </p:nvGrpSpPr>
        <p:grpSpPr>
          <a:xfrm rot="10800000">
            <a:off x="576263" y="2875755"/>
            <a:ext cx="561727" cy="533913"/>
            <a:chOff x="1166586" y="1920424"/>
            <a:chExt cx="392256" cy="372834"/>
          </a:xfrm>
          <a:solidFill>
            <a:schemeClr val="accent3"/>
          </a:solidFill>
        </p:grpSpPr>
        <p:sp>
          <p:nvSpPr>
            <p:cNvPr id="4" name="Grafik 12">
              <a:extLst>
                <a:ext uri="{FF2B5EF4-FFF2-40B4-BE49-F238E27FC236}">
                  <a16:creationId xmlns:a16="http://schemas.microsoft.com/office/drawing/2014/main" id="{F8E36A08-5933-C631-3863-A306AC2CBCB6}"/>
                </a:ext>
              </a:extLst>
            </p:cNvPr>
            <p:cNvSpPr/>
            <p:nvPr/>
          </p:nvSpPr>
          <p:spPr>
            <a:xfrm>
              <a:off x="1166586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Grafik 12">
              <a:extLst>
                <a:ext uri="{FF2B5EF4-FFF2-40B4-BE49-F238E27FC236}">
                  <a16:creationId xmlns:a16="http://schemas.microsoft.com/office/drawing/2014/main" id="{ED344319-70F3-C5FE-FCA4-BD7C598C1CC8}"/>
                </a:ext>
              </a:extLst>
            </p:cNvPr>
            <p:cNvSpPr/>
            <p:nvPr/>
          </p:nvSpPr>
          <p:spPr>
            <a:xfrm>
              <a:off x="1382123" y="1920424"/>
              <a:ext cx="176719" cy="372834"/>
            </a:xfrm>
            <a:custGeom>
              <a:avLst/>
              <a:gdLst>
                <a:gd name="connsiteX0" fmla="*/ 340700 w 340700"/>
                <a:gd name="connsiteY0" fmla="*/ 427353 h 718795"/>
                <a:gd name="connsiteX1" fmla="*/ 340700 w 340700"/>
                <a:gd name="connsiteY1" fmla="*/ 673643 h 718795"/>
                <a:gd name="connsiteX2" fmla="*/ 295547 w 340700"/>
                <a:gd name="connsiteY2" fmla="*/ 718796 h 718795"/>
                <a:gd name="connsiteX3" fmla="*/ 49258 w 340700"/>
                <a:gd name="connsiteY3" fmla="*/ 718796 h 718795"/>
                <a:gd name="connsiteX4" fmla="*/ 0 w 340700"/>
                <a:gd name="connsiteY4" fmla="*/ 673643 h 718795"/>
                <a:gd name="connsiteX5" fmla="*/ 0 w 340700"/>
                <a:gd name="connsiteY5" fmla="*/ 423248 h 718795"/>
                <a:gd name="connsiteX6" fmla="*/ 24629 w 340700"/>
                <a:gd name="connsiteY6" fmla="*/ 189273 h 718795"/>
                <a:gd name="connsiteX7" fmla="*/ 123145 w 340700"/>
                <a:gd name="connsiteY7" fmla="*/ 53814 h 718795"/>
                <a:gd name="connsiteX8" fmla="*/ 287338 w 340700"/>
                <a:gd name="connsiteY8" fmla="*/ 451 h 718795"/>
                <a:gd name="connsiteX9" fmla="*/ 340700 w 340700"/>
                <a:gd name="connsiteY9" fmla="*/ 45604 h 718795"/>
                <a:gd name="connsiteX10" fmla="*/ 340700 w 340700"/>
                <a:gd name="connsiteY10" fmla="*/ 103072 h 718795"/>
                <a:gd name="connsiteX11" fmla="*/ 307862 w 340700"/>
                <a:gd name="connsiteY11" fmla="*/ 148225 h 718795"/>
                <a:gd name="connsiteX12" fmla="*/ 197032 w 340700"/>
                <a:gd name="connsiteY12" fmla="*/ 205692 h 718795"/>
                <a:gd name="connsiteX13" fmla="*/ 172403 w 340700"/>
                <a:gd name="connsiteY13" fmla="*/ 345256 h 718795"/>
                <a:gd name="connsiteX14" fmla="*/ 172403 w 340700"/>
                <a:gd name="connsiteY14" fmla="*/ 378095 h 718795"/>
                <a:gd name="connsiteX15" fmla="*/ 291443 w 340700"/>
                <a:gd name="connsiteY15" fmla="*/ 378095 h 718795"/>
                <a:gd name="connsiteX16" fmla="*/ 340700 w 340700"/>
                <a:gd name="connsiteY16" fmla="*/ 427353 h 7187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40700" h="718795">
                  <a:moveTo>
                    <a:pt x="340700" y="427353"/>
                  </a:moveTo>
                  <a:lnTo>
                    <a:pt x="340700" y="673643"/>
                  </a:lnTo>
                  <a:cubicBezTo>
                    <a:pt x="340700" y="698272"/>
                    <a:pt x="320176" y="718796"/>
                    <a:pt x="295547" y="718796"/>
                  </a:cubicBezTo>
                  <a:lnTo>
                    <a:pt x="49258" y="718796"/>
                  </a:lnTo>
                  <a:cubicBezTo>
                    <a:pt x="20524" y="718796"/>
                    <a:pt x="0" y="698272"/>
                    <a:pt x="0" y="673643"/>
                  </a:cubicBezTo>
                  <a:lnTo>
                    <a:pt x="0" y="423248"/>
                  </a:lnTo>
                  <a:cubicBezTo>
                    <a:pt x="0" y="324732"/>
                    <a:pt x="8210" y="246741"/>
                    <a:pt x="24629" y="189273"/>
                  </a:cubicBezTo>
                  <a:cubicBezTo>
                    <a:pt x="41048" y="131805"/>
                    <a:pt x="69782" y="90757"/>
                    <a:pt x="123145" y="53814"/>
                  </a:cubicBezTo>
                  <a:cubicBezTo>
                    <a:pt x="164193" y="25080"/>
                    <a:pt x="217556" y="8661"/>
                    <a:pt x="287338" y="451"/>
                  </a:cubicBezTo>
                  <a:cubicBezTo>
                    <a:pt x="316072" y="-3654"/>
                    <a:pt x="340700" y="20975"/>
                    <a:pt x="340700" y="45604"/>
                  </a:cubicBezTo>
                  <a:lnTo>
                    <a:pt x="340700" y="103072"/>
                  </a:lnTo>
                  <a:cubicBezTo>
                    <a:pt x="340700" y="123596"/>
                    <a:pt x="328386" y="144120"/>
                    <a:pt x="307862" y="148225"/>
                  </a:cubicBezTo>
                  <a:cubicBezTo>
                    <a:pt x="262709" y="160539"/>
                    <a:pt x="221661" y="172854"/>
                    <a:pt x="197032" y="205692"/>
                  </a:cubicBezTo>
                  <a:cubicBezTo>
                    <a:pt x="172403" y="238531"/>
                    <a:pt x="172403" y="291894"/>
                    <a:pt x="172403" y="345256"/>
                  </a:cubicBezTo>
                  <a:cubicBezTo>
                    <a:pt x="172403" y="353466"/>
                    <a:pt x="172403" y="361676"/>
                    <a:pt x="172403" y="378095"/>
                  </a:cubicBezTo>
                  <a:lnTo>
                    <a:pt x="291443" y="378095"/>
                  </a:lnTo>
                  <a:cubicBezTo>
                    <a:pt x="320176" y="382200"/>
                    <a:pt x="340700" y="402724"/>
                    <a:pt x="340700" y="427353"/>
                  </a:cubicBezTo>
                  <a:close/>
                </a:path>
              </a:pathLst>
            </a:custGeom>
            <a:grpFill/>
            <a:ln w="3810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45" name="Textplatzhalter 6">
            <a:extLst>
              <a:ext uri="{FF2B5EF4-FFF2-40B4-BE49-F238E27FC236}">
                <a16:creationId xmlns:a16="http://schemas.microsoft.com/office/drawing/2014/main" id="{83B17192-C909-8F6F-4D24-6D9FD1BA63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333500" y="4485639"/>
            <a:ext cx="10261600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- Name</a:t>
            </a:r>
            <a:endParaRPr lang="en-US"/>
          </a:p>
        </p:txBody>
      </p:sp>
      <p:sp>
        <p:nvSpPr>
          <p:cNvPr id="46" name="Rechteck 45">
            <a:extLst>
              <a:ext uri="{FF2B5EF4-FFF2-40B4-BE49-F238E27FC236}">
                <a16:creationId xmlns:a16="http://schemas.microsoft.com/office/drawing/2014/main" id="{97D3E5DE-0DDD-6454-EBF7-EA6FEA785404}"/>
              </a:ext>
            </a:extLst>
          </p:cNvPr>
          <p:cNvSpPr/>
          <p:nvPr/>
        </p:nvSpPr>
        <p:spPr bwMode="gray">
          <a:xfrm>
            <a:off x="1333500" y="4323934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2086778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8546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0964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Content with 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2"/>
            <a:ext cx="10999787" cy="3468688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DAE944D5-BCB8-13CF-3F58-A36E7A418CC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383092FC-59F3-7242-24B7-F886C083A53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5260777"/>
            <a:ext cx="11596687" cy="767866"/>
          </a:xfrm>
          <a:solidFill>
            <a:schemeClr val="accent1"/>
          </a:solidFill>
          <a:ln>
            <a:noFill/>
          </a:ln>
        </p:spPr>
        <p:txBody>
          <a:bodyPr lIns="144000" tIns="144000" rIns="144000" bIns="144000" anchor="ctr"/>
          <a:lstStyle>
            <a:lvl1pPr>
              <a:spcAft>
                <a:spcPts val="0"/>
              </a:spcAft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054640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6345006" y="1636713"/>
            <a:ext cx="5250093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095207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5" name="Textplatzhalter 13">
            <a:extLst>
              <a:ext uri="{FF2B5EF4-FFF2-40B4-BE49-F238E27FC236}">
                <a16:creationId xmlns:a16="http://schemas.microsoft.com/office/drawing/2014/main" id="{6F94AB66-0C94-9946-8B4C-021BEA3286A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10D4684-46D4-C9B5-91B6-2603B9FD476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9829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E21D5F98-887E-B0BF-B837-36690537CEB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1791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 with Highligh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bg2"/>
          </a:solidFill>
        </p:spPr>
        <p:txBody>
          <a:bodyPr lIns="144000" tIns="144000" rIns="144000" bIns="144000"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669EBCA0-047E-97AA-379B-3E161C7B355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996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ntents with Highlight jung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4391930"/>
          </a:xfrm>
          <a:solidFill>
            <a:schemeClr val="accent1"/>
          </a:solidFill>
        </p:spPr>
        <p:txBody>
          <a:bodyPr lIns="144000" tIns="144000" rIns="144000" bIns="144000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509A8F75-B606-E31A-A801-A1045F5BE8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9792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2" name="Inhaltsplatzhalter 2">
            <a:extLst>
              <a:ext uri="{FF2B5EF4-FFF2-40B4-BE49-F238E27FC236}">
                <a16:creationId xmlns:a16="http://schemas.microsoft.com/office/drawing/2014/main" id="{E5E3DD5C-11DB-BDE3-1B1F-BF836BA73792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445222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6" name="Inhaltsplatzhalter 2">
            <a:extLst>
              <a:ext uri="{FF2B5EF4-FFF2-40B4-BE49-F238E27FC236}">
                <a16:creationId xmlns:a16="http://schemas.microsoft.com/office/drawing/2014/main" id="{AFC61CE3-6996-17AC-263F-8E5A880E476C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8309133" y="1636713"/>
            <a:ext cx="3285966" cy="2539157"/>
          </a:xfrm>
        </p:spPr>
        <p:txBody>
          <a:bodyPr/>
          <a:lstStyle>
            <a:lvl9pPr marL="1079500" indent="0">
              <a:buNone/>
              <a:defRPr/>
            </a:lvl9pPr>
          </a:lstStyle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17" name="Textplatzhalter 12">
            <a:extLst>
              <a:ext uri="{FF2B5EF4-FFF2-40B4-BE49-F238E27FC236}">
                <a16:creationId xmlns:a16="http://schemas.microsoft.com/office/drawing/2014/main" id="{30113175-1D06-B70D-4CF0-AF57938D4B7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3"/>
            <a:ext cx="0" cy="2539157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D3BD1B71-92E2-2D9C-3BB5-062B38BE830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95312" y="4495800"/>
            <a:ext cx="11596687" cy="1532843"/>
          </a:xfrm>
          <a:solidFill>
            <a:schemeClr val="bg2"/>
          </a:solidFill>
          <a:ln>
            <a:noFill/>
          </a:ln>
        </p:spPr>
        <p:txBody>
          <a:bodyPr lIns="1584000" tIns="144000" rIns="504000" bIns="144000"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5" name="Bildplatzhalter 23">
            <a:extLst>
              <a:ext uri="{FF2B5EF4-FFF2-40B4-BE49-F238E27FC236}">
                <a16:creationId xmlns:a16="http://schemas.microsoft.com/office/drawing/2014/main" id="{7FBDB3CA-EABD-6CD5-9BC8-44955058F6A5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702747" y="4641073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9A96C06A-456E-FD84-6846-AAF111BFB690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30897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ntent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03503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15" name="Textplatzhalter 14">
            <a:extLst>
              <a:ext uri="{FF2B5EF4-FFF2-40B4-BE49-F238E27FC236}">
                <a16:creationId xmlns:a16="http://schemas.microsoft.com/office/drawing/2014/main" id="{75C04DAD-A279-2640-AFDB-8FF9BFE3C3A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531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platzhalter 10">
            <a:extLst>
              <a:ext uri="{FF2B5EF4-FFF2-40B4-BE49-F238E27FC236}">
                <a16:creationId xmlns:a16="http://schemas.microsoft.com/office/drawing/2014/main" id="{7FE5DB61-0D8E-20C7-C9BF-9119BBAB241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7" name="Textplatzhalter 14">
            <a:extLst>
              <a:ext uri="{FF2B5EF4-FFF2-40B4-BE49-F238E27FC236}">
                <a16:creationId xmlns:a16="http://schemas.microsoft.com/office/drawing/2014/main" id="{B73D07D2-EC36-1732-A679-8906AB65B2C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5222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2BE6BAB3-6EBC-3183-8538-2927C18C8C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16675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19" name="Textplatzhalter 14">
            <a:extLst>
              <a:ext uri="{FF2B5EF4-FFF2-40B4-BE49-F238E27FC236}">
                <a16:creationId xmlns:a16="http://schemas.microsoft.com/office/drawing/2014/main" id="{63776B5E-308A-90FD-70E5-944E9099E05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309133" y="3149600"/>
            <a:ext cx="3285966" cy="2246769"/>
          </a:xfrm>
        </p:spPr>
        <p:txBody>
          <a:bodyPr/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8" name="Textplatzhalter 13">
            <a:extLst>
              <a:ext uri="{FF2B5EF4-FFF2-40B4-BE49-F238E27FC236}">
                <a16:creationId xmlns:a16="http://schemas.microsoft.com/office/drawing/2014/main" id="{7B2281CC-B3B7-6B4B-452F-1011D877ABC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12">
            <a:extLst>
              <a:ext uri="{FF2B5EF4-FFF2-40B4-BE49-F238E27FC236}">
                <a16:creationId xmlns:a16="http://schemas.microsoft.com/office/drawing/2014/main" id="{9766368E-0C1A-3BF3-0407-A7A18E2CD7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023661" y="1636712"/>
            <a:ext cx="0" cy="4391930"/>
          </a:xfrm>
          <a:ln>
            <a:solidFill>
              <a:schemeClr val="accent6">
                <a:lumMod val="75000"/>
              </a:schemeClr>
            </a:solidFill>
          </a:ln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de-DE"/>
              <a:t>.</a:t>
            </a:r>
            <a:endParaRPr lang="en-US"/>
          </a:p>
        </p:txBody>
      </p:sp>
      <p:sp>
        <p:nvSpPr>
          <p:cNvPr id="20" name="Textplatzhalter 14">
            <a:extLst>
              <a:ext uri="{FF2B5EF4-FFF2-40B4-BE49-F238E27FC236}">
                <a16:creationId xmlns:a16="http://schemas.microsoft.com/office/drawing/2014/main" id="{4F63356E-40CF-884F-15BD-89CE3363C72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9531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platzhalter 14">
            <a:extLst>
              <a:ext uri="{FF2B5EF4-FFF2-40B4-BE49-F238E27FC236}">
                <a16:creationId xmlns:a16="http://schemas.microsoft.com/office/drawing/2014/main" id="{34C50B7C-AE5D-07C3-15B1-778B1BBB655F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445222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platzhalter 14">
            <a:extLst>
              <a:ext uri="{FF2B5EF4-FFF2-40B4-BE49-F238E27FC236}">
                <a16:creationId xmlns:a16="http://schemas.microsoft.com/office/drawing/2014/main" id="{CAE41D33-AB15-0196-CAB7-5AE34F50B6B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309133" y="5522386"/>
            <a:ext cx="3285966" cy="506256"/>
          </a:xfrm>
          <a:solidFill>
            <a:schemeClr val="bg2"/>
          </a:solidFill>
        </p:spPr>
        <p:txBody>
          <a:bodyPr lIns="144000" tIns="144000" rIns="144000" bIns="144000">
            <a:noAutofit/>
          </a:bodyPr>
          <a:lstStyle>
            <a:lvl1pPr algn="ctr">
              <a:defRPr/>
            </a:lvl1pPr>
            <a:lvl2pPr algn="ctr"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Bildplatzhalter 23">
            <a:extLst>
              <a:ext uri="{FF2B5EF4-FFF2-40B4-BE49-F238E27FC236}">
                <a16:creationId xmlns:a16="http://schemas.microsoft.com/office/drawing/2014/main" id="{37F482C8-4A11-3467-FFA8-66A7AE60D6E3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1617147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Bildplatzhalter 23">
            <a:extLst>
              <a:ext uri="{FF2B5EF4-FFF2-40B4-BE49-F238E27FC236}">
                <a16:creationId xmlns:a16="http://schemas.microsoft.com/office/drawing/2014/main" id="{496643ED-4164-D815-1460-1322A5C119D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5474056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Bildplatzhalter 23">
            <a:extLst>
              <a:ext uri="{FF2B5EF4-FFF2-40B4-BE49-F238E27FC236}">
                <a16:creationId xmlns:a16="http://schemas.microsoft.com/office/drawing/2014/main" id="{93CBE5D5-3968-FEFC-63FD-CB1A4498E2C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330968" y="1636712"/>
            <a:ext cx="1242298" cy="124229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platzhalter 6">
            <a:extLst>
              <a:ext uri="{FF2B5EF4-FFF2-40B4-BE49-F238E27FC236}">
                <a16:creationId xmlns:a16="http://schemas.microsoft.com/office/drawing/2014/main" id="{1BA1BEB0-6612-E281-4242-3FE2479977F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6022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49250" y="1636713"/>
            <a:ext cx="6942751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053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31293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95314" y="1636713"/>
            <a:ext cx="1159668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F3359509-D04A-A5F0-33A6-231EF22C3A5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1035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774019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Bildplatzhalter 12">
            <a:extLst>
              <a:ext uri="{FF2B5EF4-FFF2-40B4-BE49-F238E27FC236}">
                <a16:creationId xmlns:a16="http://schemas.microsoft.com/office/drawing/2014/main" id="{4B0F0DB0-4730-589E-1922-752241A4854F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0" y="1"/>
            <a:ext cx="12192000" cy="6524625"/>
          </a:xfrm>
          <a:custGeom>
            <a:avLst/>
            <a:gdLst>
              <a:gd name="connsiteX0" fmla="*/ 0 w 12192000"/>
              <a:gd name="connsiteY0" fmla="*/ 0 h 6524625"/>
              <a:gd name="connsiteX1" fmla="*/ 12192000 w 12192000"/>
              <a:gd name="connsiteY1" fmla="*/ 0 h 6524625"/>
              <a:gd name="connsiteX2" fmla="*/ 12192000 w 12192000"/>
              <a:gd name="connsiteY2" fmla="*/ 6524625 h 6524625"/>
              <a:gd name="connsiteX3" fmla="*/ 0 w 12192000"/>
              <a:gd name="connsiteY3" fmla="*/ 6524625 h 6524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524625">
                <a:moveTo>
                  <a:pt x="0" y="0"/>
                </a:moveTo>
                <a:lnTo>
                  <a:pt x="12192000" y="0"/>
                </a:lnTo>
                <a:lnTo>
                  <a:pt x="12192000" y="6524625"/>
                </a:lnTo>
                <a:lnTo>
                  <a:pt x="0" y="6524625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Datumsplatzhalter 3">
            <a:extLst>
              <a:ext uri="{FF2B5EF4-FFF2-40B4-BE49-F238E27FC236}">
                <a16:creationId xmlns:a16="http://schemas.microsoft.com/office/drawing/2014/main" id="{919828EA-3FAA-849A-6279-B0C347A9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439" y="6622062"/>
            <a:ext cx="581025" cy="138499"/>
          </a:xfrm>
        </p:spPr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3" name="Fußzeilenplatzhalter 4">
            <a:extLst>
              <a:ext uri="{FF2B5EF4-FFF2-40B4-BE49-F238E27FC236}">
                <a16:creationId xmlns:a16="http://schemas.microsoft.com/office/drawing/2014/main" id="{7B6BFA94-E65D-A5C2-0D7C-BD3DA07FDA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24000" y="6622062"/>
            <a:ext cx="7286625" cy="138499"/>
          </a:xfrm>
        </p:spPr>
        <p:txBody>
          <a:bodyPr/>
          <a:lstStyle/>
          <a:p>
            <a:endParaRPr lang="en-US"/>
          </a:p>
        </p:txBody>
      </p:sp>
      <p:sp>
        <p:nvSpPr>
          <p:cNvPr id="4" name="Foliennummernplatzhalter 5">
            <a:extLst>
              <a:ext uri="{FF2B5EF4-FFF2-40B4-BE49-F238E27FC236}">
                <a16:creationId xmlns:a16="http://schemas.microsoft.com/office/drawing/2014/main" id="{BD69ECE7-3D60-4F90-0A6B-EB4409595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5313" y="6622062"/>
            <a:ext cx="243126" cy="138499"/>
          </a:xfrm>
        </p:spPr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170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&amp; 3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9F5F65CC-AF6B-235B-C65C-3D2688F5F3F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416963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9F5F65CC-AF6B-235B-C65C-3D2688F5F3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Bildplatzhalter 11">
            <a:extLst>
              <a:ext uri="{FF2B5EF4-FFF2-40B4-BE49-F238E27FC236}">
                <a16:creationId xmlns:a16="http://schemas.microsoft.com/office/drawing/2014/main" id="{487F9CFD-F38C-0F96-0E38-11E952A60A8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5249250" y="1636713"/>
            <a:ext cx="3196249" cy="213187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2" name="Bildplatzhalter 11">
            <a:extLst>
              <a:ext uri="{FF2B5EF4-FFF2-40B4-BE49-F238E27FC236}">
                <a16:creationId xmlns:a16="http://schemas.microsoft.com/office/drawing/2014/main" id="{25802C8F-D026-4063-2C7B-27472F0CD234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578524" y="1636713"/>
            <a:ext cx="3613478" cy="4391930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16" name="Bildplatzhalter 11">
            <a:extLst>
              <a:ext uri="{FF2B5EF4-FFF2-40B4-BE49-F238E27FC236}">
                <a16:creationId xmlns:a16="http://schemas.microsoft.com/office/drawing/2014/main" id="{7EC2C853-C399-A450-35D0-8881D3C9F3B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49250" y="3895210"/>
            <a:ext cx="3196249" cy="2133433"/>
          </a:xfrm>
          <a:solidFill>
            <a:schemeClr val="bg2"/>
          </a:solidFill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icon to add picture</a:t>
            </a:r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5A4D08F-A95E-65AE-8F48-F1E5A5D9B02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868DF96-4335-75D0-8219-98C52353860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95313" y="1636713"/>
            <a:ext cx="4433887" cy="4391930"/>
          </a:xfrm>
        </p:spPr>
        <p:txBody>
          <a:bodyPr/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8DFB3C9-2FDE-F95B-686E-E6BEA183D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30EF65C-54B6-8F20-62DA-D2341CC32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A9EA1E-AF43-8336-4BAC-1394EC736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platzhalter 10">
            <a:extLst>
              <a:ext uri="{FF2B5EF4-FFF2-40B4-BE49-F238E27FC236}">
                <a16:creationId xmlns:a16="http://schemas.microsoft.com/office/drawing/2014/main" id="{2853974F-1C2E-DCCD-3E2E-AAC228CBD7D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5313" y="6167142"/>
            <a:ext cx="10999787" cy="276999"/>
          </a:xfrm>
        </p:spPr>
        <p:txBody>
          <a:bodyPr vert="horz" lIns="0" tIns="0" rIns="0" bIns="0" rtlCol="0" anchor="b">
            <a:noAutofit/>
          </a:bodyPr>
          <a:lstStyle>
            <a:lvl1pPr>
              <a:defRPr lang="de-DE" sz="600" dirty="0" smtClean="0">
                <a:solidFill>
                  <a:schemeClr val="accent4"/>
                </a:solidFill>
              </a:defRPr>
            </a:lvl1pPr>
          </a:lstStyle>
          <a:p>
            <a:pPr lvl="0">
              <a:spcAft>
                <a:spcPts val="0"/>
              </a:spcAft>
            </a:pPr>
            <a:r>
              <a:rPr lang="de-DE"/>
              <a:t>Source, Arial 6 pt. </a:t>
            </a:r>
          </a:p>
        </p:txBody>
      </p:sp>
      <p:sp>
        <p:nvSpPr>
          <p:cNvPr id="11" name="Textplatzhalter 13">
            <a:extLst>
              <a:ext uri="{FF2B5EF4-FFF2-40B4-BE49-F238E27FC236}">
                <a16:creationId xmlns:a16="http://schemas.microsoft.com/office/drawing/2014/main" id="{A9037845-3AC6-0257-AB04-F71A9CB2D6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95313" y="195962"/>
            <a:ext cx="10999787" cy="138499"/>
          </a:xfrm>
        </p:spPr>
        <p:txBody>
          <a:bodyPr vert="horz" lIns="0" tIns="0" rIns="0" bIns="0" rtlCol="0">
            <a:noAutofit/>
          </a:bodyPr>
          <a:lstStyle>
            <a:lvl1pPr>
              <a:spcAft>
                <a:spcPts val="0"/>
              </a:spcAft>
              <a:defRPr lang="de-DE" sz="900" b="0" smtClean="0">
                <a:solidFill>
                  <a:schemeClr val="accent1"/>
                </a:solidFill>
              </a:defRPr>
            </a:lvl1pPr>
            <a:lvl2pPr>
              <a:defRPr lang="de-DE" smtClean="0"/>
            </a:lvl2pPr>
            <a:lvl3pPr>
              <a:defRPr lang="de-DE" smtClean="0"/>
            </a:lvl3pPr>
            <a:lvl4pPr>
              <a:defRPr lang="de-DE" smtClean="0"/>
            </a:lvl4pPr>
            <a:lvl5pPr>
              <a:defRPr lang="en-US"/>
            </a:lvl5pPr>
          </a:lstStyle>
          <a:p>
            <a:pPr lvl="0">
              <a:buFont typeface="Arial" panose="020B0604020202020204" pitchFamily="34" charset="0"/>
            </a:pPr>
            <a:r>
              <a:rPr lang="de-DE"/>
              <a:t>Header, </a:t>
            </a:r>
            <a:r>
              <a:rPr lang="de-DE" err="1"/>
              <a:t>Jungle</a:t>
            </a:r>
            <a:r>
              <a:rPr lang="de-DE"/>
              <a:t> Green, 9pt.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27488AC8-8AF7-A746-B6E9-E921FF74DD6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95313" y="1193800"/>
            <a:ext cx="10999787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sz="1400">
                <a:solidFill>
                  <a:schemeClr val="accent1"/>
                </a:solidFill>
              </a:defRPr>
            </a:lvl1pPr>
          </a:lstStyle>
          <a:p>
            <a:pPr lvl="0"/>
            <a:r>
              <a:rPr lang="de-DE"/>
              <a:t>Subheadline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63530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kt 8" hidden="1">
            <a:extLst>
              <a:ext uri="{FF2B5EF4-FFF2-40B4-BE49-F238E27FC236}">
                <a16:creationId xmlns:a16="http://schemas.microsoft.com/office/drawing/2014/main" id="{185C9CE2-E2AD-1DFF-38D9-BC5B0DB721A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19567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592" imgH="591" progId="TCLayout.ActiveDocument.1">
                  <p:embed/>
                </p:oleObj>
              </mc:Choice>
              <mc:Fallback>
                <p:oleObj name="think-cell Slide" r:id="rId3" imgW="592" imgH="591" progId="TCLayout.ActiveDocument.1">
                  <p:embed/>
                  <p:pic>
                    <p:nvPicPr>
                      <p:cNvPr id="9" name="Objekt 8" hidden="1">
                        <a:extLst>
                          <a:ext uri="{FF2B5EF4-FFF2-40B4-BE49-F238E27FC236}">
                            <a16:creationId xmlns:a16="http://schemas.microsoft.com/office/drawing/2014/main" id="{185C9CE2-E2AD-1DFF-38D9-BC5B0DB721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Rechteck 14">
            <a:extLst>
              <a:ext uri="{FF2B5EF4-FFF2-40B4-BE49-F238E27FC236}">
                <a16:creationId xmlns:a16="http://schemas.microsoft.com/office/drawing/2014/main" id="{686D5034-C9AB-04BE-59EC-989D8B6233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FB3B340-B8DD-45A2-67B2-E100C4E1D3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5313" y="1876904"/>
            <a:ext cx="10999788" cy="677108"/>
          </a:xfrm>
        </p:spPr>
        <p:txBody>
          <a:bodyPr vert="horz" wrap="square" lIns="0" tIns="0" rIns="0" bIns="0" rtlCol="0" anchor="b">
            <a:noAutofit/>
          </a:bodyPr>
          <a:lstStyle>
            <a:lvl1pPr>
              <a:defRPr lang="de-DE" sz="440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/>
              <a:t>Thank you</a:t>
            </a:r>
            <a:endParaRPr lang="de-DE"/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461006A0-BB2B-877A-D5DA-707391424C8D}"/>
              </a:ext>
            </a:extLst>
          </p:cNvPr>
          <p:cNvSpPr/>
          <p:nvPr/>
        </p:nvSpPr>
        <p:spPr bwMode="gray">
          <a:xfrm>
            <a:off x="595313" y="2771837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  <p:pic>
        <p:nvPicPr>
          <p:cNvPr id="28" name="Immagine 4" descr="logo.eps">
            <a:extLst>
              <a:ext uri="{FF2B5EF4-FFF2-40B4-BE49-F238E27FC236}">
                <a16:creationId xmlns:a16="http://schemas.microsoft.com/office/drawing/2014/main" id="{3594AFB9-855D-68B6-9464-168D81D3111A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9282052" y="6195060"/>
            <a:ext cx="2313049" cy="257761"/>
          </a:xfrm>
          <a:prstGeom prst="rect">
            <a:avLst/>
          </a:prstGeom>
        </p:spPr>
      </p:pic>
      <p:sp>
        <p:nvSpPr>
          <p:cNvPr id="14" name="Textplatzhalter 18">
            <a:extLst>
              <a:ext uri="{FF2B5EF4-FFF2-40B4-BE49-F238E27FC236}">
                <a16:creationId xmlns:a16="http://schemas.microsoft.com/office/drawing/2014/main" id="{33A2F9E0-2501-3FFA-4B61-0E9BC4F5C9B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95313" y="3628444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An der Goldgrube 12</a:t>
            </a:r>
            <a:br>
              <a:rPr lang="de-DE"/>
            </a:br>
            <a:r>
              <a:rPr lang="de-DE"/>
              <a:t>55131 Mainz</a:t>
            </a:r>
            <a:br>
              <a:rPr lang="de-DE"/>
            </a:br>
            <a:r>
              <a:rPr lang="de-DE"/>
              <a:t>Germany</a:t>
            </a:r>
          </a:p>
        </p:txBody>
      </p:sp>
      <p:sp>
        <p:nvSpPr>
          <p:cNvPr id="16" name="Textplatzhalter 18">
            <a:extLst>
              <a:ext uri="{FF2B5EF4-FFF2-40B4-BE49-F238E27FC236}">
                <a16:creationId xmlns:a16="http://schemas.microsoft.com/office/drawing/2014/main" id="{1F205135-FEF9-D5BC-41FF-398FCEB3AC2D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95313" y="4430916"/>
            <a:ext cx="6037716" cy="646331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T: +49 6131 9084-0</a:t>
            </a:r>
            <a:br>
              <a:rPr lang="de-DE"/>
            </a:br>
            <a:r>
              <a:rPr lang="de-DE"/>
              <a:t>F: +49 6131 9084-2121</a:t>
            </a:r>
            <a:br>
              <a:rPr lang="de-DE"/>
            </a:br>
            <a:r>
              <a:rPr lang="de-DE"/>
              <a:t>M: service@biontech.de</a:t>
            </a:r>
          </a:p>
        </p:txBody>
      </p:sp>
      <p:sp>
        <p:nvSpPr>
          <p:cNvPr id="17" name="Textplatzhalter 18">
            <a:extLst>
              <a:ext uri="{FF2B5EF4-FFF2-40B4-BE49-F238E27FC236}">
                <a16:creationId xmlns:a16="http://schemas.microsoft.com/office/drawing/2014/main" id="{51BBA694-B1B9-241E-8B26-F3DCAF23C24C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95313" y="3256858"/>
            <a:ext cx="6037716" cy="215444"/>
          </a:xfrm>
        </p:spPr>
        <p:txBody>
          <a:bodyPr>
            <a:noAutofit/>
          </a:bodyPr>
          <a:lstStyle>
            <a:lvl1pPr>
              <a:spcAft>
                <a:spcPts val="0"/>
              </a:spcAft>
              <a:defRPr b="0">
                <a:solidFill>
                  <a:schemeClr val="bg1"/>
                </a:solidFill>
              </a:defRPr>
            </a:lvl1pPr>
            <a:lvl5pPr>
              <a:defRPr/>
            </a:lvl5pPr>
          </a:lstStyle>
          <a:p>
            <a:pPr lvl="0"/>
            <a:r>
              <a:rPr lang="de-DE"/>
              <a:t>BioNTech</a:t>
            </a:r>
          </a:p>
        </p:txBody>
      </p:sp>
    </p:spTree>
    <p:extLst>
      <p:ext uri="{BB962C8B-B14F-4D97-AF65-F5344CB8AC3E}">
        <p14:creationId xmlns:p14="http://schemas.microsoft.com/office/powerpoint/2010/main" val="2062960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1964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1.emf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kt 7" hidden="1">
            <a:extLst>
              <a:ext uri="{FF2B5EF4-FFF2-40B4-BE49-F238E27FC236}">
                <a16:creationId xmlns:a16="http://schemas.microsoft.com/office/drawing/2014/main" id="{B607E3DE-F279-5E1F-0A87-D72F4FCDC533}"/>
              </a:ext>
            </a:extLst>
          </p:cNvPr>
          <p:cNvGraphicFramePr>
            <a:graphicFrameLocks noChangeAspect="1"/>
          </p:cNvGraphicFramePr>
          <p:nvPr>
            <p:custDataLst>
              <p:tags r:id="rId21"/>
            </p:custDataLst>
            <p:extLst>
              <p:ext uri="{D42A27DB-BD31-4B8C-83A1-F6EECF244321}">
                <p14:modId xmlns:p14="http://schemas.microsoft.com/office/powerpoint/2010/main" val="33931499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2" imgW="592" imgH="591" progId="TCLayout.ActiveDocument.1">
                  <p:embed/>
                </p:oleObj>
              </mc:Choice>
              <mc:Fallback>
                <p:oleObj name="think-cell Slide" r:id="rId22" imgW="592" imgH="591" progId="TCLayout.ActiveDocument.1">
                  <p:embed/>
                  <p:pic>
                    <p:nvPicPr>
                      <p:cNvPr id="8" name="Objekt 7" hidden="1">
                        <a:extLst>
                          <a:ext uri="{FF2B5EF4-FFF2-40B4-BE49-F238E27FC236}">
                            <a16:creationId xmlns:a16="http://schemas.microsoft.com/office/drawing/2014/main" id="{B607E3DE-F279-5E1F-0A87-D72F4FCDC53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" name="Rechteck 25">
            <a:extLst>
              <a:ext uri="{FF2B5EF4-FFF2-40B4-BE49-F238E27FC236}">
                <a16:creationId xmlns:a16="http://schemas.microsoft.com/office/drawing/2014/main" id="{F2BF5E5C-CAF5-B791-7FC8-985A8E772BCC}"/>
              </a:ext>
            </a:extLst>
          </p:cNvPr>
          <p:cNvSpPr/>
          <p:nvPr/>
        </p:nvSpPr>
        <p:spPr>
          <a:xfrm>
            <a:off x="0" y="6524625"/>
            <a:ext cx="12192000" cy="3333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lIns="72000" tIns="72000" rIns="72000" bIns="72000" rtlCol="0" anchor="ctr">
            <a:noAutofit/>
          </a:bodyPr>
          <a:lstStyle/>
          <a:p>
            <a:pPr algn="ctr">
              <a:spcBef>
                <a:spcPts val="600"/>
              </a:spcBef>
            </a:pPr>
            <a:endParaRPr lang="de-DE" sz="1200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3AF492F-E891-1FC2-3F25-D55F98B689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313" y="1636713"/>
            <a:ext cx="10999787" cy="439193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Topic section, Arial 14 pt.</a:t>
            </a:r>
          </a:p>
          <a:p>
            <a:pPr lvl="1"/>
            <a:r>
              <a:rPr lang="en-US"/>
              <a:t>Copy standard, Arial 12 pt. 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</p:txBody>
      </p:sp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0A3AE47-140F-0A51-8397-148CDC97B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313" y="385732"/>
            <a:ext cx="10999787" cy="615553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Click to edit title style</a:t>
            </a:r>
            <a:br>
              <a:rPr lang="en-US"/>
            </a:br>
            <a:r>
              <a:rPr lang="en-US"/>
              <a:t>two lines, Arial 20 pt.</a:t>
            </a:r>
            <a:endParaRPr lang="de-DE"/>
          </a:p>
        </p:txBody>
      </p:sp>
      <p:pic>
        <p:nvPicPr>
          <p:cNvPr id="27" name="Immagine 4" descr="logo.eps">
            <a:extLst>
              <a:ext uri="{FF2B5EF4-FFF2-40B4-BE49-F238E27FC236}">
                <a16:creationId xmlns:a16="http://schemas.microsoft.com/office/drawing/2014/main" id="{6B6BE0B4-FB6D-3DC9-553F-1D1818D7C807}"/>
              </a:ext>
            </a:extLst>
          </p:cNvPr>
          <p:cNvPicPr>
            <a:picLocks noChangeAspect="1"/>
          </p:cNvPicPr>
          <p:nvPr/>
        </p:nvPicPr>
        <p:blipFill>
          <a:blip r:embed="rId2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gray">
          <a:xfrm>
            <a:off x="10336650" y="6621192"/>
            <a:ext cx="1258451" cy="140239"/>
          </a:xfrm>
          <a:prstGeom prst="rect">
            <a:avLst/>
          </a:prstGeom>
        </p:spPr>
      </p:pic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712155-57E8-1650-D851-E4D4DE300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5313" y="6622062"/>
            <a:ext cx="243126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30E702FE-2A16-41E7-B99A-1B4C89ED4BFF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2D2DAC-3B88-7BD0-FB0B-680D7021E1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439" y="6622062"/>
            <a:ext cx="5810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lang="de-DE" sz="800" smtClean="0">
                <a:solidFill>
                  <a:schemeClr val="bg1"/>
                </a:solidFill>
              </a:defRPr>
            </a:lvl1pPr>
          </a:lstStyle>
          <a:p>
            <a:fld id="{C8C48F5D-6E45-4344-BA2D-EEAED6CC687E}" type="datetimeFigureOut">
              <a:rPr lang="en-US" smtClean="0"/>
              <a:t>6/16/2026</a:t>
            </a:fld>
            <a:endParaRPr lang="en-US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E764F0B-A60B-07FE-9B87-E4FB38134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24000" y="6622062"/>
            <a:ext cx="7286625" cy="13849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de-DE" sz="800" smtClean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B88BB994-4005-C00E-02D1-D61881B240D6}"/>
              </a:ext>
            </a:extLst>
          </p:cNvPr>
          <p:cNvSpPr txBox="1"/>
          <p:nvPr/>
        </p:nvSpPr>
        <p:spPr>
          <a:xfrm>
            <a:off x="8951912" y="6637451"/>
            <a:ext cx="928687" cy="107722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de-DE"/>
            </a:defPPr>
            <a:lvl1pPr>
              <a:defRPr sz="900">
                <a:solidFill>
                  <a:schemeClr val="accent5"/>
                </a:solidFill>
              </a:defRPr>
            </a:lvl1pPr>
          </a:lstStyle>
          <a:p>
            <a:pPr lvl="0" algn="r"/>
            <a:r>
              <a:rPr lang="en-US" sz="600" i="1">
                <a:solidFill>
                  <a:schemeClr val="bg1"/>
                </a:solidFill>
                <a:latin typeface="+mn-lt"/>
              </a:rPr>
              <a:t>Confidential</a:t>
            </a:r>
          </a:p>
        </p:txBody>
      </p:sp>
      <p:sp>
        <p:nvSpPr>
          <p:cNvPr id="41" name="Rechteck 40">
            <a:extLst>
              <a:ext uri="{FF2B5EF4-FFF2-40B4-BE49-F238E27FC236}">
                <a16:creationId xmlns:a16="http://schemas.microsoft.com/office/drawing/2014/main" id="{723ABB91-AB05-CAB3-8323-6B89AD4D7691}"/>
              </a:ext>
            </a:extLst>
          </p:cNvPr>
          <p:cNvSpPr/>
          <p:nvPr/>
        </p:nvSpPr>
        <p:spPr bwMode="gray">
          <a:xfrm>
            <a:off x="595313" y="1095193"/>
            <a:ext cx="360000" cy="4571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000" tIns="72000" rIns="72000" bIns="72000" rtlCol="0" anchor="ctr"/>
          <a:lstStyle/>
          <a:p>
            <a:pPr algn="ctr"/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448037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</p:sldLayoutIdLst>
  <p:txStyles>
    <p:titleStyle>
      <a:lvl1pPr algn="l" defTabSz="914400" rtl="0" eaLnBrk="1" latinLnBrk="0" hangingPunct="1">
        <a:lnSpc>
          <a:spcPct val="100000"/>
        </a:lnSpc>
        <a:spcBef>
          <a:spcPts val="0"/>
        </a:spcBef>
        <a:buNone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Tx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1778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3556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5334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723900" indent="-1905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9017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0795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Symbol" panose="05050102010706020507" pitchFamily="18" charset="2"/>
        <a:buChar char="-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257300" indent="-1778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026">
          <p15:clr>
            <a:srgbClr val="F26B43"/>
          </p15:clr>
        </p15:guide>
        <p15:guide id="2" pos="370">
          <p15:clr>
            <a:srgbClr val="F26B43"/>
          </p15:clr>
        </p15:guide>
        <p15:guide id="3" pos="7310">
          <p15:clr>
            <a:srgbClr val="F26B43"/>
          </p15:clr>
        </p15:guide>
        <p15:guide id="4" orient="horz" pos="3800">
          <p15:clr>
            <a:srgbClr val="F26B43"/>
          </p15:clr>
        </p15:guide>
        <p15:guide id="5" pos="3840">
          <p15:clr>
            <a:srgbClr val="C35EA4"/>
          </p15:clr>
        </p15:guide>
        <p15:guide id="6" orient="horz" pos="2414">
          <p15:clr>
            <a:srgbClr val="C35E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3AB43FB-145B-3950-FC52-CBDF630436B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>
              <a:buNone/>
            </a:pPr>
            <a:r>
              <a:rPr lang="en-US" sz="3200" b="1" dirty="0"/>
              <a:t>CD39 competitor PK &amp; RO: what can we leverage for BNT317?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FD05F56-3F2C-CDB1-51F6-EC1BD0EE348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>
              <a:buNone/>
            </a:pPr>
            <a:r>
              <a:rPr lang="en-US" sz="1800" dirty="0">
                <a:solidFill>
                  <a:srgbClr val="FFFFFF"/>
                </a:solidFill>
              </a:rPr>
              <a:t>Discussion starter for PMx • Clin Pharm</a:t>
            </a:r>
          </a:p>
        </p:txBody>
      </p:sp>
    </p:spTree>
    <p:extLst>
      <p:ext uri="{BB962C8B-B14F-4D97-AF65-F5344CB8AC3E}">
        <p14:creationId xmlns:p14="http://schemas.microsoft.com/office/powerpoint/2010/main" val="28553437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SUMMARY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Anti-CD39 competitors: PK/RO Data Summary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417320"/>
            <a:ext cx="11018520" cy="384048"/>
          </a:xfrm>
          <a:prstGeom prst="roundRect">
            <a:avLst>
              <a:gd name="adj" fmla="val 11905"/>
            </a:avLst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sz="1600">
              <a:latin typeface="+mj-lt"/>
            </a:endParaRPr>
          </a:p>
        </p:txBody>
      </p:sp>
      <p:sp>
        <p:nvSpPr>
          <p:cNvPr id="8" name="Text 6"/>
          <p:cNvSpPr/>
          <p:nvPr/>
        </p:nvSpPr>
        <p:spPr>
          <a:xfrm>
            <a:off x="576072" y="1517904"/>
            <a:ext cx="10881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Asset</a:t>
            </a:r>
            <a:endParaRPr lang="en-US" sz="1200" dirty="0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1810512" y="1517904"/>
            <a:ext cx="2825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Dose / PK</a:t>
            </a:r>
            <a:endParaRPr lang="en-US" sz="120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4782312" y="1517904"/>
            <a:ext cx="36027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Peripheral RO</a:t>
            </a:r>
            <a:endParaRPr lang="en-US" sz="1200" dirty="0">
              <a:latin typeface="+mj-lt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531352" y="1517904"/>
            <a:ext cx="291693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+mj-lt"/>
                <a:ea typeface="Aptos" pitchFamily="34" charset="-122"/>
                <a:cs typeface="Aptos" pitchFamily="34" charset="-120"/>
              </a:rPr>
              <a:t>Tumor RO / PD and read-through</a:t>
            </a:r>
            <a:endParaRPr lang="en-US" sz="1200" dirty="0">
              <a:latin typeface="+mj-lt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02920" y="1801368"/>
            <a:ext cx="11018520" cy="1115568"/>
          </a:xfrm>
          <a:prstGeom prst="rect">
            <a:avLst/>
          </a:prstGeom>
          <a:solidFill>
            <a:srgbClr val="F7FAFC"/>
          </a:solidFill>
          <a:ln w="762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94360" y="1892808"/>
            <a:ext cx="1069848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SRF617</a:t>
            </a:r>
            <a:endParaRPr lang="en-US" sz="160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737360" y="1801368"/>
            <a:ext cx="0" cy="1115568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1828800" y="1892808"/>
            <a:ext cx="2807208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IV Q2W; monotherapy RP2D 1400 mg Q2W.</a:t>
            </a:r>
            <a:endParaRPr lang="en-US" sz="1050" dirty="0">
              <a:latin typeface="+mj-lt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Linear PK; sustained full target occupancy through interval.</a:t>
            </a:r>
            <a:endParaRPr lang="en-US" sz="1050" dirty="0">
              <a:latin typeface="+mj-lt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709160" y="1801368"/>
            <a:ext cx="0" cy="1115568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800600" y="1892808"/>
            <a:ext cx="3584448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PK correlated strongly with PD target occupancy.</a:t>
            </a:r>
            <a:endParaRPr lang="en-US" sz="1050" dirty="0">
              <a:latin typeface="+mj-lt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Quantitative peripheral RO threshold not disclosed in abstract.</a:t>
            </a:r>
            <a:endParaRPr lang="en-US" sz="1050" dirty="0">
              <a:latin typeface="+mj-lt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458200" y="1801368"/>
            <a:ext cx="0" cy="1115568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8549640" y="1892808"/>
            <a:ext cx="2898648" cy="9509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Biopsies were collected to assess CD39 ATPase, but public abstract does not provide a robust tumor RO/PD threshold.</a:t>
            </a:r>
          </a:p>
          <a:p>
            <a:pPr marL="0" indent="0">
              <a:buNone/>
            </a:pPr>
            <a:endParaRPr lang="en-US" sz="1050" dirty="0">
              <a:solidFill>
                <a:srgbClr val="1C2733"/>
              </a:solidFill>
              <a:latin typeface="+mj-lt"/>
              <a:ea typeface="Aptos" pitchFamily="34" charset="-122"/>
              <a:cs typeface="Aptos" pitchFamily="34" charset="-12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02920" y="2916936"/>
            <a:ext cx="11018520" cy="1225296"/>
          </a:xfrm>
          <a:prstGeom prst="rect">
            <a:avLst/>
          </a:prstGeom>
          <a:solidFill>
            <a:srgbClr val="FFFFFF"/>
          </a:solidFill>
          <a:ln w="762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4360" y="3008376"/>
            <a:ext cx="10698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IPH5201</a:t>
            </a:r>
            <a:endParaRPr lang="en-US" sz="160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737360" y="2916936"/>
            <a:ext cx="0" cy="1225296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1828800" y="3008376"/>
            <a:ext cx="280720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100-3000 mg Q3W +/- durvalumab.</a:t>
            </a:r>
            <a:endParaRPr lang="en-US" sz="1050" dirty="0">
              <a:latin typeface="+mj-lt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Nonlinear at 100-300 mg; linear at &gt;=1000 mg; t1/2 8-9 d.</a:t>
            </a:r>
            <a:endParaRPr lang="en-US" sz="105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709160" y="2916936"/>
            <a:ext cx="0" cy="1225296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800600" y="3008376"/>
            <a:ext cx="35844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Soluble CD39 saturated at &gt;=300 mg; monocyte/B-cell membrane-bound CD39 saturated at 3000 mg.</a:t>
            </a:r>
            <a:endParaRPr lang="en-US" sz="1050" dirty="0">
              <a:latin typeface="+mj-lt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8458200" y="2916936"/>
            <a:ext cx="0" cy="1225296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8549640" y="3008376"/>
            <a:ext cx="28986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Tumor CD39 ATPase decreased in 5/7 patients; all evaluable 3000 mg patients had reduction.</a:t>
            </a:r>
          </a:p>
          <a:p>
            <a:pPr marL="0" indent="0">
              <a:buNone/>
            </a:pPr>
            <a:endParaRPr lang="en-US" sz="1050" dirty="0">
              <a:latin typeface="+mj-lt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02920" y="4142232"/>
            <a:ext cx="11018520" cy="1225296"/>
          </a:xfrm>
          <a:prstGeom prst="rect">
            <a:avLst/>
          </a:prstGeom>
          <a:solidFill>
            <a:srgbClr val="F7FAFC"/>
          </a:solidFill>
          <a:ln w="762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4360" y="4233672"/>
            <a:ext cx="10698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AB598</a:t>
            </a:r>
            <a:endParaRPr lang="en-US" sz="1600" dirty="0">
              <a:latin typeface="+mj-lt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1737360" y="4142232"/>
            <a:ext cx="0" cy="1225296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1828800" y="4233672"/>
            <a:ext cx="280720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900-3000 mg Q3W approximately dose-proportional; t1/2 6-8 d.</a:t>
            </a:r>
            <a:endParaRPr lang="en-US" sz="1050" dirty="0">
              <a:latin typeface="+mj-lt"/>
            </a:endParaRPr>
          </a:p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2000 mg Q2W selected for expansion.</a:t>
            </a:r>
            <a:endParaRPr lang="en-US" sz="1050" dirty="0">
              <a:latin typeface="+mj-lt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4709160" y="4142232"/>
            <a:ext cx="0" cy="1225296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800600" y="4233672"/>
            <a:ext cx="35844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Tumor-paired PK/PD model estimated 90% tumor CD39 RO at 107 ug/mL.</a:t>
            </a:r>
            <a:endParaRPr lang="en-US" sz="1050" dirty="0">
              <a:latin typeface="+mj-lt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458200" y="4142232"/>
            <a:ext cx="0" cy="1225296"/>
          </a:xfrm>
          <a:prstGeom prst="line">
            <a:avLst/>
          </a:prstGeom>
          <a:noFill/>
          <a:ln w="635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549640" y="4233672"/>
            <a:ext cx="2898648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90% tumor enzymatic inhibition at 176 ug/mL; 2000 mg Q2W achieved both targets.</a:t>
            </a:r>
          </a:p>
        </p:txBody>
      </p:sp>
      <p:sp>
        <p:nvSpPr>
          <p:cNvPr id="38" name="Text 36"/>
          <p:cNvSpPr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chemeClr val="tx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Patnaik et al., Ann Oncol 2021; Powderly et al., Cancer Res Commun 2025; Adeojo et al., ENA 2025 poster</a:t>
            </a:r>
            <a:r>
              <a:rPr lang="en-US" sz="68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11384280" y="6483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SRF617: full target occupancy was achieved, but tumor RO bridge remains thin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21208" y="859536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Useful benchmark for peripheral saturation; less useful for dose selection without quantitative tumor RO/enzymatic inhibition targets.</a:t>
            </a:r>
            <a:endParaRPr lang="en-US" sz="135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21792" y="1911096"/>
            <a:ext cx="3474720" cy="1828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9" name="Text 7"/>
          <p:cNvSpPr/>
          <p:nvPr/>
        </p:nvSpPr>
        <p:spPr>
          <a:xfrm>
            <a:off x="786384" y="2020824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Study and dose</a:t>
            </a:r>
            <a:endParaRPr lang="en-US" sz="1320" dirty="0">
              <a:latin typeface="+mj-lt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86384" y="2322576"/>
            <a:ext cx="320040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FIH phase 1 in advanced solid tumors; IV Q2W as monotherapy or in combination with pembrolizumab or gemcitabine + nab-paclitaxel.</a:t>
            </a:r>
            <a:endParaRPr lang="en-US" sz="1060" dirty="0">
              <a:latin typeface="+mj-lt"/>
            </a:endParaRPr>
          </a:p>
          <a:p>
            <a:pPr marL="0" indent="0">
              <a:buNone/>
            </a:pPr>
            <a:endParaRPr lang="en-US" sz="1060" dirty="0">
              <a:latin typeface="+mj-lt"/>
            </a:endParaRPr>
          </a:p>
          <a:p>
            <a:pPr marL="0" indent="0">
              <a:buNone/>
            </a:pPr>
            <a:r>
              <a:rPr lang="en-US" sz="106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As of Sept 2021: 55 patients; monotherapy RP2D 1400 mg Q2W; no DLTs reported.</a:t>
            </a:r>
            <a:endParaRPr lang="en-US" sz="106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21792" y="4041648"/>
            <a:ext cx="3474720" cy="16002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8952" y="4133088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PK/RO signal</a:t>
            </a:r>
            <a:endParaRPr lang="en-US" sz="1320" dirty="0">
              <a:latin typeface="+mj-lt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58952" y="4393692"/>
            <a:ext cx="3200400" cy="1097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PK described as linear and strongly correlated with PD target occupancy. Doses sustained full target occupancy throughout the dosing interval.</a:t>
            </a:r>
            <a:endParaRPr lang="en-US" sz="1060" dirty="0">
              <a:latin typeface="+mj-lt"/>
            </a:endParaRPr>
          </a:p>
          <a:p>
            <a:pPr marL="0" indent="0">
              <a:buNone/>
            </a:pPr>
            <a:endParaRPr lang="en-US" sz="1060" dirty="0">
              <a:latin typeface="+mj-lt"/>
            </a:endParaRPr>
          </a:p>
          <a:p>
            <a:pPr marL="0" indent="0">
              <a:buNone/>
            </a:pPr>
            <a:r>
              <a:rPr lang="en-US" sz="106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No numerical concentration-RO target or t1/2 was disclosed in the abstract.</a:t>
            </a:r>
            <a:endParaRPr lang="en-US" sz="106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498848" y="2354580"/>
            <a:ext cx="7095744" cy="2798064"/>
          </a:xfrm>
          <a:prstGeom prst="roundRect">
            <a:avLst>
              <a:gd name="adj" fmla="val 1307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20" name="Image 0" descr="/mnt/data/assets_pkro/srf617_abstract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8470" y="2382012"/>
            <a:ext cx="5796501" cy="2743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4526280" y="5161788"/>
            <a:ext cx="7040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Source excerpt: SRF617 phase 1 abstract</a:t>
            </a:r>
            <a:endParaRPr lang="en-US" sz="730" dirty="0">
              <a:latin typeface="+mj-lt"/>
            </a:endParaRPr>
          </a:p>
        </p:txBody>
      </p:sp>
      <p:sp>
        <p:nvSpPr>
          <p:cNvPr id="38" name="Text 35"/>
          <p:cNvSpPr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Patnaik et al. 135P, Annals of Oncology 2021; comparison comment also discussed in Powderly et al. 2025.</a:t>
            </a:r>
            <a:endParaRPr lang="en-US" sz="680" dirty="0"/>
          </a:p>
        </p:txBody>
      </p:sp>
      <p:sp>
        <p:nvSpPr>
          <p:cNvPr id="39" name="Text 36"/>
          <p:cNvSpPr/>
          <p:nvPr/>
        </p:nvSpPr>
        <p:spPr>
          <a:xfrm>
            <a:off x="11384280" y="6483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IPH5201: peripheral saturation at lower doses did not fully predict tumor enzymatic blockade</a:t>
            </a:r>
            <a:endParaRPr lang="en-US" sz="2600" dirty="0">
              <a:latin typeface="+mj-lt"/>
            </a:endParaRPr>
          </a:p>
        </p:txBody>
      </p:sp>
      <p:sp>
        <p:nvSpPr>
          <p:cNvPr id="6" name="Text 4"/>
          <p:cNvSpPr/>
          <p:nvPr/>
        </p:nvSpPr>
        <p:spPr>
          <a:xfrm>
            <a:off x="521208" y="859536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The most informative read-through is the dose transition from peripheral RO to on-treatment tumor ATPase activity.</a:t>
            </a:r>
            <a:endParaRPr lang="en-US" sz="135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46557" y="1764792"/>
            <a:ext cx="5678424" cy="2843784"/>
          </a:xfrm>
          <a:prstGeom prst="roundRect">
            <a:avLst>
              <a:gd name="adj" fmla="val 1286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8" name="Image 0" descr="/mnt/data/assets_pkro/iph5201_fig2_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1946" y="1792224"/>
            <a:ext cx="4787646" cy="2788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3989" y="4617720"/>
            <a:ext cx="5623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Mean serum concentration by dose and treatment</a:t>
            </a:r>
            <a:endParaRPr lang="en-US" sz="73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537960" y="1298448"/>
            <a:ext cx="4718304" cy="3758184"/>
          </a:xfrm>
          <a:prstGeom prst="roundRect">
            <a:avLst>
              <a:gd name="adj" fmla="val 973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1" name="Image 1" descr="/mnt/data/assets_pkro/iph5201_fig3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765" y="1325880"/>
            <a:ext cx="3892694" cy="3703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65392" y="5065776"/>
            <a:ext cx="4663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Tumor CD39 enzymatic activity before vs on-treatment</a:t>
            </a:r>
            <a:endParaRPr lang="en-US" sz="730" dirty="0">
              <a:latin typeface="+mj-lt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685800" y="5084064"/>
            <a:ext cx="530352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5" name="Text 11"/>
          <p:cNvSpPr/>
          <p:nvPr/>
        </p:nvSpPr>
        <p:spPr>
          <a:xfrm>
            <a:off x="850392" y="519379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PK and peripheral RO</a:t>
            </a:r>
            <a:endParaRPr lang="en-US" sz="1220" dirty="0">
              <a:latin typeface="+mj-lt"/>
            </a:endParaRPr>
          </a:p>
        </p:txBody>
      </p:sp>
      <p:sp>
        <p:nvSpPr>
          <p:cNvPr id="16" name="Text 12"/>
          <p:cNvSpPr/>
          <p:nvPr/>
        </p:nvSpPr>
        <p:spPr>
          <a:xfrm>
            <a:off x="850392" y="5495544"/>
            <a:ext cx="50292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Nonlinear PK at 100-300 mg, linear at &gt;=1000 mg; terminal t1/2 approximately 8-9 days at higher doses.</a:t>
            </a:r>
            <a:endParaRPr lang="en-US" sz="970" dirty="0">
              <a:latin typeface="+mj-lt"/>
            </a:endParaRPr>
          </a:p>
          <a:p>
            <a:pPr marL="0" indent="0">
              <a:buNone/>
            </a:pPr>
            <a:endParaRPr lang="en-US" sz="970" dirty="0">
              <a:latin typeface="+mj-lt"/>
            </a:endParaRPr>
          </a:p>
          <a:p>
            <a:pPr marL="0" indent="0">
              <a:buNone/>
            </a:pPr>
            <a:r>
              <a:rPr lang="en-US" sz="97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Soluble CD39 saturated at &gt;=300 mg, but membrane-bound CD39 on monocytes/B cells saturated at 3000 mg.</a:t>
            </a:r>
            <a:endParaRPr lang="en-US" sz="970" dirty="0">
              <a:latin typeface="+mj-lt"/>
            </a:endParaRPr>
          </a:p>
        </p:txBody>
      </p:sp>
      <p:sp>
        <p:nvSpPr>
          <p:cNvPr id="17" name="Shape 13"/>
          <p:cNvSpPr/>
          <p:nvPr/>
        </p:nvSpPr>
        <p:spPr>
          <a:xfrm>
            <a:off x="6217920" y="5230368"/>
            <a:ext cx="5303520" cy="96012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9" name="Text 15"/>
          <p:cNvSpPr/>
          <p:nvPr/>
        </p:nvSpPr>
        <p:spPr>
          <a:xfrm>
            <a:off x="6382512" y="5340096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b="1" dirty="0">
                <a:solidFill>
                  <a:srgbClr val="173A5E"/>
                </a:solidFill>
                <a:latin typeface="+mj-lt"/>
                <a:ea typeface="Aptos" pitchFamily="34" charset="-122"/>
                <a:cs typeface="Aptos" pitchFamily="34" charset="-120"/>
              </a:rPr>
              <a:t>Tumor PD</a:t>
            </a:r>
            <a:endParaRPr lang="en-US" sz="1220" dirty="0">
              <a:latin typeface="+mj-lt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382512" y="5641848"/>
            <a:ext cx="502920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Tumor CD39 ATPase activity decreased in 5/7 evaluable paired biopsies, including all evaluable 3000 mg Q3W patients.</a:t>
            </a:r>
            <a:endParaRPr lang="en-US" sz="970" dirty="0">
              <a:latin typeface="+mj-lt"/>
            </a:endParaRPr>
          </a:p>
          <a:p>
            <a:pPr marL="0" indent="0">
              <a:buNone/>
            </a:pPr>
            <a:endParaRPr lang="en-US" sz="970" dirty="0">
              <a:latin typeface="+mj-lt"/>
            </a:endParaRPr>
          </a:p>
          <a:p>
            <a:pPr marL="0" indent="0">
              <a:buNone/>
            </a:pPr>
            <a:r>
              <a:rPr lang="en-US" sz="97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Interpretation: the highest tested dose was needed to ensure tumor enzymatic blockade.</a:t>
            </a:r>
            <a:endParaRPr lang="en-US" sz="970" dirty="0">
              <a:latin typeface="+mj-lt"/>
            </a:endParaRPr>
          </a:p>
        </p:txBody>
      </p:sp>
      <p:sp>
        <p:nvSpPr>
          <p:cNvPr id="21" name="Text 17"/>
          <p:cNvSpPr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chemeClr val="tx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Powderly et al., IPH5201 anti-CD39 mAb phase 1 study, Cancer Research Communications 2025</a:t>
            </a:r>
            <a:r>
              <a:rPr lang="en-US" sz="68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80" dirty="0"/>
          </a:p>
        </p:txBody>
      </p:sp>
      <p:sp>
        <p:nvSpPr>
          <p:cNvPr id="22" name="Text 18"/>
          <p:cNvSpPr/>
          <p:nvPr/>
        </p:nvSpPr>
        <p:spPr>
          <a:xfrm>
            <a:off x="11384280" y="6483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AB598: paired PK-tumor PD modeling provides the clearest Cmin-driven dose bridge</a:t>
            </a:r>
            <a:endParaRPr lang="en-US" sz="26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10896" y="1257300"/>
            <a:ext cx="3602736" cy="2752344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8" name="Image 0" descr="/mnt/data/assets_pkro/ab598_fig2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29" y="1284732"/>
            <a:ext cx="2922270" cy="2697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38328" y="4018788"/>
            <a:ext cx="3547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PK: multiple-dose concentrations</a:t>
            </a:r>
            <a:endParaRPr lang="en-US" sz="730" dirty="0">
              <a:latin typeface="+mj-lt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078224" y="1257300"/>
            <a:ext cx="3666744" cy="2752344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1" name="Image 1" descr="/mnt/data/assets_pkro/ab598_fig5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743" y="1284732"/>
            <a:ext cx="2635706" cy="2697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105656" y="401878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PK/PD: tumor RO and enzymatic inhibition</a:t>
            </a:r>
            <a:endParaRPr lang="en-US" sz="730" dirty="0">
              <a:latin typeface="+mj-lt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7900416" y="1257300"/>
            <a:ext cx="3666744" cy="2752344"/>
          </a:xfrm>
          <a:prstGeom prst="roundRect">
            <a:avLst>
              <a:gd name="adj" fmla="val 1329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pic>
        <p:nvPicPr>
          <p:cNvPr id="14" name="Image 2" descr="/mnt/data/assets_pkro/ab598_fig6_fin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5048" y="1284732"/>
            <a:ext cx="2697480" cy="2697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927848" y="4018788"/>
            <a:ext cx="3611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30" dirty="0">
                <a:solidFill>
                  <a:srgbClr val="5E7185"/>
                </a:solidFill>
                <a:latin typeface="+mj-lt"/>
                <a:ea typeface="Aptos" pitchFamily="34" charset="-122"/>
                <a:cs typeface="Aptos" pitchFamily="34" charset="-120"/>
              </a:rPr>
              <a:t>Simulation: 2000 mg Q2W</a:t>
            </a:r>
            <a:endParaRPr lang="en-US" sz="730" dirty="0">
              <a:latin typeface="+mj-lt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658368" y="434797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176B6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6-8 d</a:t>
            </a:r>
            <a:endParaRPr lang="en-US" sz="2000" dirty="0">
              <a:latin typeface="+mj-lt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658368" y="4704588"/>
            <a:ext cx="201168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terminal t1/2 in linear 900-3000 mg Q3W range</a:t>
            </a:r>
            <a:endParaRPr lang="en-US" sz="950" dirty="0">
              <a:latin typeface="+mj-lt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3630168" y="43479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AE75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107 ug/mL</a:t>
            </a:r>
            <a:endParaRPr lang="en-US" sz="2000" dirty="0">
              <a:latin typeface="+mj-lt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3630168" y="4704588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model-estimated 90% tumor CD39 RO</a:t>
            </a:r>
            <a:endParaRPr lang="en-US" sz="950" dirty="0">
              <a:latin typeface="+mj-lt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6373368" y="4347972"/>
            <a:ext cx="2788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BAE75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176 ug/mL</a:t>
            </a:r>
            <a:endParaRPr lang="en-US" sz="2000" dirty="0">
              <a:latin typeface="+mj-lt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6373368" y="4704588"/>
            <a:ext cx="27889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model-estimated 90% tumor enzymatic inhibition</a:t>
            </a:r>
            <a:endParaRPr lang="en-US" sz="950" dirty="0">
              <a:latin typeface="+mj-lt"/>
            </a:endParaRPr>
          </a:p>
        </p:txBody>
      </p:sp>
      <p:sp>
        <p:nvSpPr>
          <p:cNvPr id="22" name="Text 17"/>
          <p:cNvSpPr/>
          <p:nvPr/>
        </p:nvSpPr>
        <p:spPr>
          <a:xfrm>
            <a:off x="9299448" y="434797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B4C9A"/>
                </a:solidFill>
                <a:latin typeface="+mj-lt"/>
                <a:ea typeface="Aptos Display" pitchFamily="34" charset="-122"/>
                <a:cs typeface="Aptos Display" pitchFamily="34" charset="-120"/>
              </a:rPr>
              <a:t>2000 mg Q2W</a:t>
            </a:r>
            <a:endParaRPr lang="en-US" sz="2000" dirty="0">
              <a:latin typeface="+mj-lt"/>
            </a:endParaRPr>
          </a:p>
        </p:txBody>
      </p:sp>
      <p:sp>
        <p:nvSpPr>
          <p:cNvPr id="23" name="Text 18"/>
          <p:cNvSpPr/>
          <p:nvPr/>
        </p:nvSpPr>
        <p:spPr>
          <a:xfrm>
            <a:off x="9299448" y="4704588"/>
            <a:ext cx="219456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C2733"/>
                </a:solidFill>
                <a:latin typeface="+mj-lt"/>
                <a:ea typeface="Aptos" pitchFamily="34" charset="-122"/>
                <a:cs typeface="Aptos" pitchFamily="34" charset="-120"/>
              </a:rPr>
              <a:t>selected expansion dose; achieves both tumor PD targets</a:t>
            </a:r>
            <a:endParaRPr lang="en-US" sz="950" dirty="0">
              <a:latin typeface="+mj-lt"/>
            </a:endParaRPr>
          </a:p>
        </p:txBody>
      </p:sp>
      <p:sp>
        <p:nvSpPr>
          <p:cNvPr id="26" name="Text 21"/>
          <p:cNvSpPr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chemeClr val="tx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Adeojo et al., Clinical PK/PD Relationship for AB598 anti-CD39 mAb, ENA 2025 poster</a:t>
            </a:r>
            <a:r>
              <a:rPr lang="en-US" sz="68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680" dirty="0"/>
          </a:p>
        </p:txBody>
      </p:sp>
      <p:sp>
        <p:nvSpPr>
          <p:cNvPr id="27" name="Text 22"/>
          <p:cNvSpPr/>
          <p:nvPr/>
        </p:nvSpPr>
        <p:spPr>
          <a:xfrm>
            <a:off x="11384280" y="6483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750" dirty="0"/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FE35E454-51A7-5F8A-6D36-8FA1F694DF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129" y="5193633"/>
            <a:ext cx="4540483" cy="1225613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90263551-928B-0055-F343-9946F77EBC1F}"/>
              </a:ext>
            </a:extLst>
          </p:cNvPr>
          <p:cNvSpPr txBox="1"/>
          <p:nvPr/>
        </p:nvSpPr>
        <p:spPr>
          <a:xfrm>
            <a:off x="5333735" y="5355253"/>
            <a:ext cx="61026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3000 mg Q3W and 2000 mg Q2W yield similar steady state exposure, therefore 2000 mg Q2W was selected as the expansion dose.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Expansion dose of 2000 mg Q2W achieves both 90% receptor occupancy and 90% enzymatic inhibition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775704"/>
            <a:ext cx="12191695" cy="82296"/>
          </a:xfrm>
          <a:prstGeom prst="rect">
            <a:avLst/>
          </a:prstGeom>
          <a:solidFill>
            <a:srgbClr val="173A5E"/>
          </a:solidFill>
          <a:ln w="12700">
            <a:solidFill>
              <a:srgbClr val="173A5E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146304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LEARNINGS FROM COMPETITORS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064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73A5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Take-aways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777239" y="1316736"/>
            <a:ext cx="10692517" cy="4718304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0160">
            <a:solidFill>
              <a:srgbClr val="DDE6EE"/>
            </a:solidFill>
            <a:prstDash val="solid"/>
          </a:ln>
        </p:spPr>
        <p:txBody>
          <a:bodyPr/>
          <a:lstStyle/>
          <a:p>
            <a:r>
              <a:rPr lang="en-US" b="1" dirty="0">
                <a:solidFill>
                  <a:srgbClr val="173A5E"/>
                </a:solidFill>
                <a:ea typeface="Aptos" pitchFamily="34" charset="-122"/>
                <a:cs typeface="Aptos" pitchFamily="34" charset="-120"/>
              </a:rPr>
              <a:t>IPH5201: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733"/>
                </a:solidFill>
                <a:ea typeface="Aptos" pitchFamily="34" charset="-122"/>
                <a:cs typeface="Aptos" pitchFamily="34" charset="-120"/>
              </a:rPr>
              <a:t>Peripheral RO saturated at different doses depending on analyte: soluble CD39 at &gt;=300 mg, but membrane-bound CD39 on monocytes/B cells at 3000 mg. Tumor ATPase reduction was most consistent at 3000 mg Q3W.</a:t>
            </a:r>
            <a:endParaRPr lang="en-US" sz="1400" dirty="0"/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733"/>
                </a:solidFill>
                <a:ea typeface="Aptos" pitchFamily="34" charset="-122"/>
                <a:cs typeface="Aptos" pitchFamily="34" charset="-120"/>
              </a:rPr>
              <a:t>Implication: peripheral saturation underestimates the dose needed for tumor enzymatic blockade.</a:t>
            </a: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>
                <a:solidFill>
                  <a:srgbClr val="173A5E"/>
                </a:solidFill>
                <a:ea typeface="Aptos" pitchFamily="34" charset="-122"/>
                <a:cs typeface="Aptos" pitchFamily="34" charset="-120"/>
              </a:rPr>
              <a:t>AB598: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733"/>
                </a:solidFill>
              </a:rPr>
              <a:t>Paired serum PK + tumor biopsy PD enabled quantitative thresholds: 90% tumor RO at 107 ug/mL and 90% enzymatic inhibition at 176 ug/</a:t>
            </a:r>
            <a:r>
              <a:rPr lang="en-US" sz="1400" dirty="0" err="1">
                <a:solidFill>
                  <a:srgbClr val="1C2733"/>
                </a:solidFill>
              </a:rPr>
              <a:t>mL.</a:t>
            </a:r>
            <a:endParaRPr lang="en-US" sz="1400" dirty="0">
              <a:solidFill>
                <a:srgbClr val="1C2733"/>
              </a:solidFill>
            </a:endParaRPr>
          </a:p>
          <a:p>
            <a:endParaRPr lang="en-US" sz="1400" dirty="0">
              <a:solidFill>
                <a:srgbClr val="1C27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rgbClr val="1C2733"/>
                </a:solidFill>
                <a:ea typeface="Aptos" pitchFamily="34" charset="-122"/>
                <a:cs typeface="Aptos" pitchFamily="34" charset="-120"/>
              </a:rPr>
              <a:t>Implication: the dose can be justified by simulated </a:t>
            </a:r>
            <a:r>
              <a:rPr lang="en-US" sz="1400" dirty="0" err="1">
                <a:solidFill>
                  <a:srgbClr val="1C2733"/>
                </a:solidFill>
                <a:ea typeface="Aptos" pitchFamily="34" charset="-122"/>
                <a:cs typeface="Aptos" pitchFamily="34" charset="-120"/>
              </a:rPr>
              <a:t>Cmin,ss</a:t>
            </a:r>
            <a:r>
              <a:rPr lang="en-US" sz="1400" dirty="0">
                <a:solidFill>
                  <a:srgbClr val="1C2733"/>
                </a:solidFill>
                <a:ea typeface="Aptos" pitchFamily="34" charset="-122"/>
                <a:cs typeface="Aptos" pitchFamily="34" charset="-120"/>
              </a:rPr>
              <a:t> coverage of the higher tumor PD threshold.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7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733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1C2733"/>
              </a:solidFill>
            </a:endParaRPr>
          </a:p>
          <a:p>
            <a:r>
              <a:rPr lang="en-US" sz="1400" b="1" dirty="0">
                <a:solidFill>
                  <a:schemeClr val="tx2"/>
                </a:solidFill>
                <a:ea typeface="Aptos" pitchFamily="34" charset="-122"/>
                <a:cs typeface="Aptos" pitchFamily="34" charset="-120"/>
              </a:rPr>
              <a:t>Key translational principle: do not equate peripheral RO with tumor pharmacology. Use peripheral RO to screen doses, then build a tumor PK/PD model to select the expansion dose.</a:t>
            </a:r>
            <a:endParaRPr lang="en-US" sz="1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endParaRPr lang="en-US" dirty="0">
              <a:latin typeface="+mj-lt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02920" y="6519672"/>
            <a:ext cx="10058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Powderly et al. 2025; Adeojo et al. 2025; Patnaik et al. 2021.</a:t>
            </a:r>
            <a:endParaRPr lang="en-US" sz="680" dirty="0"/>
          </a:p>
        </p:txBody>
      </p:sp>
      <p:sp>
        <p:nvSpPr>
          <p:cNvPr id="42" name="Text 40"/>
          <p:cNvSpPr/>
          <p:nvPr/>
        </p:nvSpPr>
        <p:spPr>
          <a:xfrm>
            <a:off x="11384280" y="6483096"/>
            <a:ext cx="320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dirty="0">
                <a:solidFill>
                  <a:srgbClr val="5E71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7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BNT1">
  <a:themeElements>
    <a:clrScheme name="BioNTech 2022">
      <a:dk1>
        <a:srgbClr val="3C4447"/>
      </a:dk1>
      <a:lt1>
        <a:sysClr val="window" lastClr="FFFFFF"/>
      </a:lt1>
      <a:dk2>
        <a:srgbClr val="181010"/>
      </a:dk2>
      <a:lt2>
        <a:srgbClr val="EEF0F2"/>
      </a:lt2>
      <a:accent1>
        <a:srgbClr val="005A64"/>
      </a:accent1>
      <a:accent2>
        <a:srgbClr val="3C9673"/>
      </a:accent2>
      <a:accent3>
        <a:srgbClr val="BECD32"/>
      </a:accent3>
      <a:accent4>
        <a:srgbClr val="656E72"/>
      </a:accent4>
      <a:accent5>
        <a:srgbClr val="8C959A"/>
      </a:accent5>
      <a:accent6>
        <a:srgbClr val="E2E5E7"/>
      </a:accent6>
      <a:hlink>
        <a:srgbClr val="BECD32"/>
      </a:hlink>
      <a:folHlink>
        <a:srgbClr val="8C959A"/>
      </a:folHlink>
    </a:clrScheme>
    <a:fontScheme name="BioNTech 2022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lIns="144000" tIns="144000" rIns="144000" bIns="144000" rtlCol="0" anchor="ctr"/>
      <a:lstStyle>
        <a:defPPr algn="ctr">
          <a:defRPr sz="14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6">
              <a:lumMod val="75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1400" dirty="0" err="1" smtClean="0"/>
        </a:defPPr>
      </a:lstStyle>
    </a:txDef>
  </a:objectDefaults>
  <a:extraClrSchemeLst/>
  <a:custClrLst>
    <a:custClr name="Custom Color 1">
      <a:srgbClr val="26948B"/>
    </a:custClr>
    <a:custClr name="Custom Color 2">
      <a:srgbClr val="107072"/>
    </a:custClr>
    <a:custClr name="Custom Color 3">
      <a:srgbClr val="294145"/>
    </a:custClr>
    <a:custClr name="Custom Color 4">
      <a:srgbClr val="9C9E21"/>
    </a:custClr>
    <a:custClr name="Custom Color 5">
      <a:srgbClr val="F2D92F"/>
    </a:custClr>
    <a:custClr name="Custom Color 6">
      <a:srgbClr val="C73F1E"/>
    </a:custClr>
    <a:custClr name="Custom Color 7">
      <a:srgbClr val="FFA62B"/>
    </a:custClr>
    <a:custClr name="Custom Color 8">
      <a:srgbClr val="7A306C"/>
    </a:custClr>
  </a:custClrLst>
  <a:extLst>
    <a:ext uri="{05A4C25C-085E-4340-85A3-A5531E510DB2}">
      <thm15:themeFamily xmlns:thm15="http://schemas.microsoft.com/office/thememl/2012/main" name="BNT1" id="{3E74A39D-2E9C-42FC-85C7-39C43D8F88CC}" vid="{32A54EE6-0A49-4361-A233-E4E0D42B54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74034C5-3B7B-4F66-88DE-D896FD16F0C5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68a43051-ea8f-4f23-a3de-c6137a4dce7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1425</TotalTime>
  <Words>837</Words>
  <Application>Microsoft Office PowerPoint</Application>
  <PresentationFormat>Widescreen</PresentationFormat>
  <Paragraphs>91</Paragraphs>
  <Slides>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Symbol</vt:lpstr>
      <vt:lpstr>BNT1</vt:lpstr>
      <vt:lpstr>think-cell Slide</vt:lpstr>
      <vt:lpstr>CD39 competitor PK &amp; RO: what can we leverage for BNT317?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Tairan Yang</dc:creator>
  <cp:lastModifiedBy>Tairan Yang</cp:lastModifiedBy>
  <cp:revision>3</cp:revision>
  <dcterms:created xsi:type="dcterms:W3CDTF">2026-06-12T10:25:01Z</dcterms:created>
  <dcterms:modified xsi:type="dcterms:W3CDTF">2026-06-17T14:40:15Z</dcterms:modified>
</cp:coreProperties>
</file>