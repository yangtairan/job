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8"/>
  </p:notesMasterIdLst>
  <p:sldIdLst>
    <p:sldId id="256" r:id="rId5"/>
    <p:sldId id="258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4C550D-D260-48D8-821B-5BBCF13A4E38}">
          <p14:sldIdLst>
            <p14:sldId id="256"/>
            <p14:sldId id="258"/>
            <p14:sldId id="261"/>
          </p14:sldIdLst>
        </p14:section>
        <p14:section name="basic concepts" id="{E2F41AC0-67AE-4635-ADFA-EBDD969AD92D}">
          <p14:sldIdLst/>
        </p14:section>
        <p14:section name="common analysis" id="{4CA7964B-A723-4A34-B3B1-4127B82C873A}">
          <p14:sldIdLst/>
        </p14:section>
        <p14:section name="Common Q&amp;A" id="{1272B0CA-677B-4E12-97B3-062E4AE03374}">
          <p14:sldIdLst/>
        </p14:section>
        <p14:section name="standard protocol and SAP text" id="{33FCC6F0-9815-4875-9346-95F4795B0AEF}">
          <p14:sldIdLst/>
        </p14:section>
        <p14:section name="backup" id="{8C23038E-4F34-481C-9048-D1726D1EE557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2D9427-5AC6-06A5-12EA-1AAC1B12F575}" name="Wenyu Liu" initials="WL" userId="S::wenyu.liu@biontech.com::a7724b3c-b47b-4366-9f31-37f444e8fea9" providerId="AD"/>
  <p188:author id="{90BF5373-19F3-BE94-C591-176A8F7DA60E}" name="Shu-Pei Wu" initials="SW" userId="S::Shu-Pei.Wu@biontech.us::58a5c5c8-a173-450d-92f5-79c6bc412f30" providerId="AD"/>
  <p188:author id="{BD079F99-2C89-8FF5-27CD-CE5E0C68ABC0}" name="Shuang Liang" initials="SL" userId="S::shuang.liang@biontech.us::927b8c0c-fa63-47f4-a124-6966443884cd" providerId="AD"/>
  <p188:author id="{DFC247A5-078D-A752-F793-DC4E3660D1AD}" name="Tairan Yang" initials="TY" userId="S::tairan.yang@biontech.us::d6e8c1b9-c517-4003-be27-cf86ff90e996" providerId="AD"/>
  <p188:author id="{E8281EC3-DBDF-784C-4824-A7D0A994C044}" name="Xiaohui (Michelle) Li" initials="XL" userId="S::xiaohui.li@biontech.com::100a2dbf-3f98-429c-956a-7b30a488c1bd" providerId="AD"/>
  <p188:author id="{5C81A8F4-32D9-B73F-6C50-7FE55BC752A4}" name="Tairan Yang" initials="TY" userId="S::tyang@praxismedicines.com::89f6e7c8-7764-49b9-8342-5e9ba41f0e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6FE640-5D2B-9853-1D33-F33264CE95FA}" v="45" dt="2026-06-02T14:00:28.087"/>
    <p1510:client id="{76F460B6-C33C-4E6F-B8AB-1528457AE9E7}" v="6" dt="2026-06-01T12:32:13.593"/>
    <p1510:client id="{A1C3C97C-6F2C-4216-AB56-D9C53D30136B}" v="1" dt="2026-06-02T17:47:13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B4A5B-6F6D-47F6-816E-5E602C675BF5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4899C-F23D-41C4-9B25-4B27D8EA0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44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988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41DAC-80ED-DDC6-8DFD-93869F84BF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313" y="5213746"/>
            <a:ext cx="10999788" cy="492443"/>
          </a:xfrm>
        </p:spPr>
        <p:txBody>
          <a:bodyPr wrap="square" lIns="0" tIns="0" rIns="0" bIns="0" rtlCol="0" anchor="t">
            <a:noAutofit/>
          </a:bodyPr>
          <a:lstStyle>
            <a:lvl1pPr>
              <a:defRPr lang="de-DE" dirty="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413338"/>
            <a:ext cx="10999788" cy="2031325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br>
              <a:rPr lang="en-US"/>
            </a:br>
            <a:r>
              <a:rPr lang="en-US"/>
              <a:t>three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662488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44E313EC-B126-DEDC-EDF4-9647A1A02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313" y="5706189"/>
            <a:ext cx="10999788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1400" smtClean="0"/>
            </a:lvl1pPr>
          </a:lstStyle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2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804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Agenda,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835D5A0-AFAB-1FC7-AC6A-99FD71803CA4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95313" y="1636713"/>
            <a:ext cx="10999787" cy="43919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07901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87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751892"/>
            <a:ext cx="10999787" cy="1354217"/>
          </a:xfrm>
        </p:spPr>
        <p:txBody>
          <a:bodyPr vert="horz" wrap="square" lIns="0" tIns="0" rIns="0" bIns="0" rtlCol="0" anchor="b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01. 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0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228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00" y="2751892"/>
            <a:ext cx="10261600" cy="1354217"/>
          </a:xfrm>
        </p:spPr>
        <p:txBody>
          <a:bodyPr vert="horz" wrap="square" lIns="0" tIns="0" rIns="0" bIns="0" rtlCol="0" anchor="t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1483C46-1547-B398-3836-563FA9795586}"/>
              </a:ext>
            </a:extLst>
          </p:cNvPr>
          <p:cNvGrpSpPr/>
          <p:nvPr/>
        </p:nvGrpSpPr>
        <p:grpSpPr>
          <a:xfrm rot="10800000">
            <a:off x="576263" y="2875755"/>
            <a:ext cx="561727" cy="533913"/>
            <a:chOff x="1166586" y="1920424"/>
            <a:chExt cx="392256" cy="372834"/>
          </a:xfrm>
          <a:solidFill>
            <a:schemeClr val="accent3"/>
          </a:solidFill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F8E36A08-5933-C631-3863-A306AC2CBCB6}"/>
                </a:ext>
              </a:extLst>
            </p:cNvPr>
            <p:cNvSpPr/>
            <p:nvPr/>
          </p:nvSpPr>
          <p:spPr>
            <a:xfrm>
              <a:off x="1166586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fik 12">
              <a:extLst>
                <a:ext uri="{FF2B5EF4-FFF2-40B4-BE49-F238E27FC236}">
                  <a16:creationId xmlns:a16="http://schemas.microsoft.com/office/drawing/2014/main" id="{ED344319-70F3-C5FE-FCA4-BD7C598C1CC8}"/>
                </a:ext>
              </a:extLst>
            </p:cNvPr>
            <p:cNvSpPr/>
            <p:nvPr/>
          </p:nvSpPr>
          <p:spPr>
            <a:xfrm>
              <a:off x="1382123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83B17192-C909-8F6F-4D24-6D9FD1BA63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3500" y="4485639"/>
            <a:ext cx="10261600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- Name</a:t>
            </a:r>
            <a:endParaRPr lang="en-US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7D3E5DE-0DDD-6454-EBF7-EA6FEA785404}"/>
              </a:ext>
            </a:extLst>
          </p:cNvPr>
          <p:cNvSpPr/>
          <p:nvPr/>
        </p:nvSpPr>
        <p:spPr bwMode="gray">
          <a:xfrm>
            <a:off x="1333500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5862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2"/>
            <a:ext cx="10999787" cy="3468688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383092FC-59F3-7242-24B7-F886C083A5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5260777"/>
            <a:ext cx="11596687" cy="767866"/>
          </a:xfrm>
          <a:solidFill>
            <a:schemeClr val="accent1"/>
          </a:solidFill>
          <a:ln>
            <a:noFill/>
          </a:ln>
        </p:spPr>
        <p:txBody>
          <a:bodyPr lIns="144000" tIns="144000" rIns="144000" bIns="144000" anchor="ctr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914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45006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07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F94AB66-0C94-9946-8B4C-021BEA3286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0D4684-46D4-C9B5-91B6-2603B9FD47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0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21D5F98-887E-B0BF-B837-36690537CE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3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bg2"/>
          </a:solidFill>
        </p:spPr>
        <p:txBody>
          <a:bodyPr lIns="144000" tIns="144000" rIns="144000" bIns="144000"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9EBCA0-047E-97AA-379B-3E161C7B35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4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jung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accent1"/>
          </a:solidFill>
        </p:spPr>
        <p:txBody>
          <a:bodyPr lIns="144000" tIns="144000" rIns="144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9A8F75-B606-E31A-A801-A1045F5BE8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4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BD1B71-92E2-2D9C-3BB5-062B38BE83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4495800"/>
            <a:ext cx="11596687" cy="1532843"/>
          </a:xfrm>
          <a:solidFill>
            <a:schemeClr val="bg2"/>
          </a:solidFill>
          <a:ln>
            <a:noFill/>
          </a:ln>
        </p:spPr>
        <p:txBody>
          <a:bodyPr lIns="1584000" tIns="144000" rIns="504000" bIns="144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7FBDB3CA-EABD-6CD5-9BC8-44955058F6A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2747" y="4641073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96C06A-456E-FD84-6846-AAF111BFB6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54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C04DAD-A279-2640-AFDB-8FF9BFE3C3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31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B73D07D2-EC36-1732-A679-8906AB65B2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5222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63776B5E-308A-90FD-70E5-944E9099E0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0913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9766368E-0C1A-3BF3-0407-A7A18E2CD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4F63356E-40CF-884F-15BD-89CE3363C7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531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34C50B7C-AE5D-07C3-15B1-778B1BBB65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222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CAE41D33-AB15-0196-CAB7-5AE34F50B6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913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37F482C8-4A11-3467-FFA8-66A7AE60D6E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617147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Bildplatzhalter 23">
            <a:extLst>
              <a:ext uri="{FF2B5EF4-FFF2-40B4-BE49-F238E27FC236}">
                <a16:creationId xmlns:a16="http://schemas.microsoft.com/office/drawing/2014/main" id="{496643ED-4164-D815-1460-1322A5C119D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474056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Bildplatzhalter 23">
            <a:extLst>
              <a:ext uri="{FF2B5EF4-FFF2-40B4-BE49-F238E27FC236}">
                <a16:creationId xmlns:a16="http://schemas.microsoft.com/office/drawing/2014/main" id="{93CBE5D5-3968-FEFC-63FD-CB1A4498E2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30968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1BA1BEB0-6612-E281-4242-3FE2479977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1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9250" y="1636713"/>
            <a:ext cx="6942751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79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5314" y="1636713"/>
            <a:ext cx="1159668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2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7740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B0F0DB0-4730-589E-1922-752241A485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524625"/>
          </a:xfrm>
          <a:custGeom>
            <a:avLst/>
            <a:gdLst>
              <a:gd name="connsiteX0" fmla="*/ 0 w 12192000"/>
              <a:gd name="connsiteY0" fmla="*/ 0 h 6524625"/>
              <a:gd name="connsiteX1" fmla="*/ 12192000 w 12192000"/>
              <a:gd name="connsiteY1" fmla="*/ 0 h 6524625"/>
              <a:gd name="connsiteX2" fmla="*/ 12192000 w 12192000"/>
              <a:gd name="connsiteY2" fmla="*/ 6524625 h 6524625"/>
              <a:gd name="connsiteX3" fmla="*/ 0 w 12192000"/>
              <a:gd name="connsiteY3" fmla="*/ 6524625 h 65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524625">
                <a:moveTo>
                  <a:pt x="0" y="0"/>
                </a:moveTo>
                <a:lnTo>
                  <a:pt x="12192000" y="0"/>
                </a:lnTo>
                <a:lnTo>
                  <a:pt x="12192000" y="6524625"/>
                </a:lnTo>
                <a:lnTo>
                  <a:pt x="0" y="652462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919828EA-3FAA-849A-6279-B0C347A9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439" y="6622062"/>
            <a:ext cx="581025" cy="138499"/>
          </a:xfrm>
        </p:spPr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7B6BFA94-E65D-A5C2-0D7C-BD3DA07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622062"/>
            <a:ext cx="7286625" cy="1384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D69ECE7-3D60-4F90-0A6B-EB440959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313" y="6622062"/>
            <a:ext cx="243126" cy="138499"/>
          </a:xfrm>
        </p:spPr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21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1696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487F9CFD-F38C-0F96-0E38-11E952A60A8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49250" y="1636713"/>
            <a:ext cx="3196249" cy="213187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78524" y="1636713"/>
            <a:ext cx="361347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7EC2C853-C399-A450-35D0-8881D3C9F3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49250" y="3895210"/>
            <a:ext cx="3196249" cy="213343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7488AC8-8AF7-A746-B6E9-E921FF74DD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1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9567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1876904"/>
            <a:ext cx="10999788" cy="677108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Thank you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2771837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33A2F9E0-2501-3FFA-4B61-0E9BC4F5C9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313" y="3628444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An der Goldgrube 12</a:t>
            </a:r>
            <a:br>
              <a:rPr lang="de-DE"/>
            </a:br>
            <a:r>
              <a:rPr lang="de-DE"/>
              <a:t>55131 Mainz</a:t>
            </a:r>
            <a:br>
              <a:rPr lang="de-DE"/>
            </a:br>
            <a:r>
              <a:rPr lang="de-DE"/>
              <a:t>Germany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1F205135-FEF9-D5BC-41FF-398FCEB3AC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313" y="4430916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T: +49 6131 9084-0</a:t>
            </a:r>
            <a:br>
              <a:rPr lang="de-DE"/>
            </a:br>
            <a:r>
              <a:rPr lang="de-DE"/>
              <a:t>F: +49 6131 9084-2121</a:t>
            </a:r>
            <a:br>
              <a:rPr lang="de-DE"/>
            </a:br>
            <a:r>
              <a:rPr lang="de-DE"/>
              <a:t>M: service@biontech.de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51BBA694-B1B9-241E-8B26-F3DCAF23C2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5313" y="3256858"/>
            <a:ext cx="6037716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BioNTech</a:t>
            </a:r>
          </a:p>
        </p:txBody>
      </p:sp>
    </p:spTree>
    <p:extLst>
      <p:ext uri="{BB962C8B-B14F-4D97-AF65-F5344CB8AC3E}">
        <p14:creationId xmlns:p14="http://schemas.microsoft.com/office/powerpoint/2010/main" val="31202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607E3DE-F279-5E1F-0A87-D72F4FCDC533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393149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92" imgH="591" progId="TCLayout.ActiveDocument.1">
                  <p:embed/>
                </p:oleObj>
              </mc:Choice>
              <mc:Fallback>
                <p:oleObj name="think-cell Slide" r:id="rId21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B607E3DE-F279-5E1F-0A87-D72F4FCD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F2BF5E5C-CAF5-B791-7FC8-985A8E772BCC}"/>
              </a:ext>
            </a:extLst>
          </p:cNvPr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AF492F-E891-1FC2-3F25-D55F98B6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313" y="1636713"/>
            <a:ext cx="10999787" cy="43919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A3AE47-140F-0A51-8397-148CDC97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385732"/>
            <a:ext cx="10999787" cy="61555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pic>
        <p:nvPicPr>
          <p:cNvPr id="27" name="Immagine 4" descr="logo.eps">
            <a:extLst>
              <a:ext uri="{FF2B5EF4-FFF2-40B4-BE49-F238E27FC236}">
                <a16:creationId xmlns:a16="http://schemas.microsoft.com/office/drawing/2014/main" id="{6B6BE0B4-FB6D-3DC9-553F-1D1818D7C807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336650" y="6621192"/>
            <a:ext cx="1258451" cy="140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12155-57E8-1650-D851-E4D4DE300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5313" y="6622062"/>
            <a:ext cx="243126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D2DAC-3B88-7BD0-FB0B-680D7021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39" y="6622062"/>
            <a:ext cx="5810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C8C48F5D-6E45-4344-BA2D-EEAED6CC687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764F0B-A60B-07FE-9B87-E4FB3813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0" y="6622062"/>
            <a:ext cx="72866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88BB994-4005-C00E-02D1-D61881B240D6}"/>
              </a:ext>
            </a:extLst>
          </p:cNvPr>
          <p:cNvSpPr txBox="1"/>
          <p:nvPr/>
        </p:nvSpPr>
        <p:spPr>
          <a:xfrm>
            <a:off x="8951912" y="6637451"/>
            <a:ext cx="928687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>
              <a:defRPr sz="900">
                <a:solidFill>
                  <a:schemeClr val="accent5"/>
                </a:solidFill>
              </a:defRPr>
            </a:lvl1pPr>
          </a:lstStyle>
          <a:p>
            <a:pPr lvl="0" algn="r"/>
            <a:r>
              <a:rPr lang="en-US" sz="600" i="1">
                <a:solidFill>
                  <a:schemeClr val="bg1"/>
                </a:solidFill>
                <a:latin typeface="+mn-lt"/>
              </a:rPr>
              <a:t>Confidential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3ABB91-AB05-CAB3-8323-6B89AD4D7691}"/>
              </a:ext>
            </a:extLst>
          </p:cNvPr>
          <p:cNvSpPr/>
          <p:nvPr/>
        </p:nvSpPr>
        <p:spPr bwMode="gray">
          <a:xfrm>
            <a:off x="595313" y="1095193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145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23900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9017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73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00">
          <p15:clr>
            <a:srgbClr val="F26B43"/>
          </p15:clr>
        </p15:guide>
        <p15:guide id="5" pos="3840">
          <p15:clr>
            <a:srgbClr val="C35EA4"/>
          </p15:clr>
        </p15:guide>
        <p15:guide id="6" orient="horz" pos="241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90B737E-5870-C382-809A-AC1F0DAE7B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Subject-level ADA incidence by dose level  •  Immunogenicity Analysis Set (N=24)
Data export: 08 Jun 2026  •  Internal — Clinical / Biostatistics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AB43FB-145B-3950-FC52-CBDF63043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BNT317-01: Anti-Drug Antibody (ADA) Immunogenicity Summary</a:t>
            </a:r>
          </a:p>
        </p:txBody>
      </p:sp>
    </p:spTree>
    <p:extLst>
      <p:ext uri="{BB962C8B-B14F-4D97-AF65-F5344CB8AC3E}">
        <p14:creationId xmlns:p14="http://schemas.microsoft.com/office/powerpoint/2010/main" val="75031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02C8-99BE-3A9E-0AE2-DDB2E7CD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 Incidence by Dose Level — Subject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B77D9-D1E2-00D6-1B55-7A96DC47AF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ADA-positive = confirmatory-positive result. Dose level = cohort (DL1–DL4); no ADA-set participants in cohort 5. Source: IQVIA ADA extract &amp; Subjects listing, 08 Jun 2026.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1F00A-B4E1-ED0B-A1BF-B36CA3A85C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BNT317-01  •  IMMUNOGENICITY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4FB837-2548-674A-44A7-85833CAA7F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Immunogenicity Analysis Set (N=24)  •  Anti-BNT-317 ADA assay  •  No neutralizing-antibody (NAb) data</a:t>
            </a:r>
          </a:p>
        </p:txBody>
      </p:sp>
      <p:graphicFrame>
        <p:nvGraphicFramePr>
          <p:cNvPr id="8" name="ADA Dose Table">
            <a:extLst>
              <a:ext uri="{FF2B5EF4-FFF2-40B4-BE49-F238E27FC236}">
                <a16:creationId xmlns:a16="http://schemas.microsoft.com/office/drawing/2014/main" id="{8B888C80-1E83-4AFA-925D-6AB0A67EF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412948"/>
              </p:ext>
            </p:extLst>
          </p:nvPr>
        </p:nvGraphicFramePr>
        <p:xfrm>
          <a:off x="596900" y="1714500"/>
          <a:ext cx="685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9218304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7827112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25237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525118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6846402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83582813"/>
                    </a:ext>
                  </a:extLst>
                </a:gridCol>
              </a:tblGrid>
              <a:tr h="35560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Summary of ADA Incidence by Dose Level (Immunogenicity Analysis Set)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85138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ADA parameter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DL1
(n=1)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DL2
(n=7)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DL3
(n=10)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DL4
(n=6)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
(N=24)</a:t>
                      </a:r>
                    </a:p>
                  </a:txBody>
                  <a:tcPr anchor="ctr">
                    <a:solidFill>
                      <a:srgbClr val="005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335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ADA-positive at any time, n (%)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0 (0.0)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4 (57.1)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4 (40.0)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 (16.7)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9 (37.5)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67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Pre-existing ADA, n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0 (0.0)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2 (28.6)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 (10.0)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0 (0.0)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 (12.5)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125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Treatment-emergent ADA, n (%)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0 (0.0)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2 (28.6)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 (30.0)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 (16.7)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6 (25.0)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60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ADA-negative, n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 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 (42.9)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6 (60.0)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5 (83.3)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15 (62.5)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021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Highest titer, ADA+ — median (range)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4.01
(3.63–4.82)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3.18
(2.04–13.30)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15.04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3.66
(2.04–15.04)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706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Highest titer, TE — median (range)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4.00
(3.63–4.36)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3.51
(2.04–13.30)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15.04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3C4447"/>
                          </a:solidFill>
                          <a:latin typeface="Arial"/>
                          <a:cs typeface="Arial"/>
                        </a:rPr>
                        <a:t>4.00
(2.04–15.04)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95567"/>
                  </a:ext>
                </a:extLst>
              </a:tr>
            </a:tbl>
          </a:graphicData>
        </a:graphic>
      </p:graphicFrame>
      <p:sp>
        <p:nvSpPr>
          <p:cNvPr id="9" name="TakeawayBody">
            <a:extLst>
              <a:ext uri="{FF2B5EF4-FFF2-40B4-BE49-F238E27FC236}">
                <a16:creationId xmlns:a16="http://schemas.microsoft.com/office/drawing/2014/main" id="{F4EEEEE7-54BA-4C44-A5D3-66A240694AE8}"/>
              </a:ext>
            </a:extLst>
          </p:cNvPr>
          <p:cNvSpPr/>
          <p:nvPr/>
        </p:nvSpPr>
        <p:spPr>
          <a:xfrm>
            <a:off x="7645400" y="1714500"/>
            <a:ext cx="3949700" cy="3810000"/>
          </a:xfrm>
          <a:prstGeom prst="rect">
            <a:avLst/>
          </a:prstGeom>
          <a:solidFill>
            <a:srgbClr val="EEF0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144000" rIns="144000" bIns="144000" rtlCol="0" anchor="t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akeawayHead">
            <a:extLst>
              <a:ext uri="{FF2B5EF4-FFF2-40B4-BE49-F238E27FC236}">
                <a16:creationId xmlns:a16="http://schemas.microsoft.com/office/drawing/2014/main" id="{09517176-EDD9-45DB-B7DF-86A292C2E4D3}"/>
              </a:ext>
            </a:extLst>
          </p:cNvPr>
          <p:cNvSpPr/>
          <p:nvPr/>
        </p:nvSpPr>
        <p:spPr>
          <a:xfrm>
            <a:off x="7645400" y="1714500"/>
            <a:ext cx="3949700" cy="381000"/>
          </a:xfrm>
          <a:prstGeom prst="rect">
            <a:avLst/>
          </a:prstGeom>
          <a:solidFill>
            <a:srgbClr val="005A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144000" rIns="144000" bIns="144000" rtlCol="0" anchor="ctr" anchorCtr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Key takeaways</a:t>
            </a:r>
            <a:endParaRPr lang="en-US" sz="13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akeawayText">
            <a:extLst>
              <a:ext uri="{FF2B5EF4-FFF2-40B4-BE49-F238E27FC236}">
                <a16:creationId xmlns:a16="http://schemas.microsoft.com/office/drawing/2014/main" id="{0412ECF4-933C-45BB-AB14-7650A6978FB7}"/>
              </a:ext>
            </a:extLst>
          </p:cNvPr>
          <p:cNvSpPr txBox="1"/>
          <p:nvPr/>
        </p:nvSpPr>
        <p:spPr>
          <a:xfrm>
            <a:off x="7797800" y="2197100"/>
            <a:ext cx="3644900" cy="327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5A64"/>
              </a:buClr>
              <a:buFont typeface="Arial"/>
              <a:buChar char="•"/>
            </a:pPr>
            <a:r>
              <a:rPr lang="en-US" sz="1200" dirty="0">
                <a:solidFill>
                  <a:srgbClr val="3C4447"/>
                </a:solidFill>
                <a:latin typeface="Arial"/>
              </a:rPr>
              <a:t>ADA-positive in 9 of 24 participants (37.5%) overall.</a:t>
            </a:r>
          </a:p>
          <a:p>
            <a:pPr marL="228600" indent="-228600">
              <a:spcAft>
                <a:spcPts val="800"/>
              </a:spcAft>
              <a:buClr>
                <a:srgbClr val="005A64"/>
              </a:buClr>
              <a:buFont typeface="Arial"/>
              <a:buChar char="•"/>
            </a:pPr>
            <a:r>
              <a:rPr lang="en-US" sz="1200" dirty="0">
                <a:solidFill>
                  <a:srgbClr val="3C4447"/>
                </a:solidFill>
                <a:latin typeface="Arial"/>
              </a:rPr>
              <a:t>Treatment-emergent ADA in 6 (25.0%) — all treatment-induced; none boosted.</a:t>
            </a:r>
          </a:p>
          <a:p>
            <a:pPr marL="228600" indent="-228600">
              <a:spcAft>
                <a:spcPts val="800"/>
              </a:spcAft>
              <a:buClr>
                <a:srgbClr val="005A64"/>
              </a:buClr>
              <a:buFont typeface="Arial"/>
              <a:buChar char="•"/>
            </a:pPr>
            <a:r>
              <a:rPr lang="en-US" sz="1200" dirty="0">
                <a:solidFill>
                  <a:srgbClr val="3C4447"/>
                </a:solidFill>
                <a:latin typeface="Arial"/>
              </a:rPr>
              <a:t>Pre-existing ADA in 3 (12.5%).</a:t>
            </a:r>
          </a:p>
          <a:p>
            <a:pPr marL="228600" indent="-228600">
              <a:spcAft>
                <a:spcPts val="800"/>
              </a:spcAft>
              <a:buClr>
                <a:srgbClr val="005A64"/>
              </a:buClr>
              <a:buFont typeface="Arial"/>
              <a:buChar char="•"/>
            </a:pPr>
            <a:r>
              <a:rPr lang="en-US" sz="1200" dirty="0">
                <a:solidFill>
                  <a:srgbClr val="3C4447"/>
                </a:solidFill>
                <a:latin typeface="Arial"/>
              </a:rPr>
              <a:t>Titers low–moderate: median 3.66 (range 2.04–15.04); no clear dose-level trend.</a:t>
            </a:r>
          </a:p>
          <a:p>
            <a:pPr marL="228600" indent="-228600">
              <a:spcAft>
                <a:spcPts val="800"/>
              </a:spcAft>
              <a:buClr>
                <a:srgbClr val="005A64"/>
              </a:buClr>
              <a:buFont typeface="Arial"/>
              <a:buChar char="•"/>
            </a:pPr>
            <a:r>
              <a:rPr lang="en-US" sz="1200" dirty="0">
                <a:solidFill>
                  <a:srgbClr val="3C4447"/>
                </a:solidFill>
                <a:latin typeface="Arial"/>
              </a:rPr>
              <a:t>DL1 (n=1) is too small to interpret.</a:t>
            </a:r>
          </a:p>
        </p:txBody>
      </p:sp>
    </p:spTree>
    <p:extLst>
      <p:ext uri="{BB962C8B-B14F-4D97-AF65-F5344CB8AC3E}">
        <p14:creationId xmlns:p14="http://schemas.microsoft.com/office/powerpoint/2010/main" val="39725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115C-0E15-8F02-2C85-C3AC09AE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&amp;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B9FE-4E13-0AFF-10A9-E92E81A1E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Immunogenicity Analysis Set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all FAS participants who received ≥1 dose of IMP and had ≥1 valid post-first-dose ADA result (N=24).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ADA-positive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confirmatory assay result Positive; screening-positive samples not confirmed are counted negative.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Baseline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the C1D1 pre-dose sample.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Pre-existing ADA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ADA-positive at baseline.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Treatment-emergent ADA (TE-ADA)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treatment-induced (negative at baseline, positive post-baseline) or treatment-boosted (positive at baseline, ≥4× titer rise); all TE-ADA here were treatment-induced.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Titer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highest post-baseline titer per participant, summarized as median (range).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Dose level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assigned by cohort (DL1–DL4); no ADA-set participants in cohort 5.</a:t>
            </a:r>
          </a:p>
          <a:p>
            <a:pPr marL="274320" indent="-274320">
              <a:spcAft>
                <a:spcPts val="900"/>
              </a:spcAft>
              <a:buClr>
                <a:srgbClr val="005A64"/>
              </a:buClr>
              <a:buFont typeface="Arial"/>
              <a:buChar char="▪"/>
            </a:pPr>
            <a:r>
              <a:rPr lang="en-US" sz="1500" b="1" dirty="0">
                <a:solidFill>
                  <a:srgbClr val="005A64"/>
                </a:solidFill>
                <a:latin typeface="Arial"/>
              </a:rPr>
              <a:t>Assay scope — </a:t>
            </a:r>
            <a:r>
              <a:rPr lang="en-US" sz="1500" dirty="0">
                <a:solidFill>
                  <a:srgbClr val="3C4447"/>
                </a:solidFill>
                <a:latin typeface="Arial"/>
              </a:rPr>
              <a:t>ANTI-BNT-317 ADA only; no neutralizing-antibody (NAb) data.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1AE08-E3D4-A77D-BA74-3A413083F9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ADA assay: ANTI-BNT-317 ADA. Analysis excludes neutralizing-antibody (NAb) testing. Data export 08 Jun 2026.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CD66A-FAC7-123F-3EEE-E6DBB6D12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BNT317-01  •  IMMUNOGENICITY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67A572-CEC7-F1E8-5844-DC14BE7F2F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How ADA results were derived from the IQVIA ADA extract and Subjects listing</a:t>
            </a:r>
          </a:p>
        </p:txBody>
      </p:sp>
    </p:spTree>
    <p:extLst>
      <p:ext uri="{BB962C8B-B14F-4D97-AF65-F5344CB8AC3E}">
        <p14:creationId xmlns:p14="http://schemas.microsoft.com/office/powerpoint/2010/main" val="3475943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NT1">
  <a:themeElements>
    <a:clrScheme name="BioNTech 2022">
      <a:dk1>
        <a:srgbClr val="3C4447"/>
      </a:dk1>
      <a:lt1>
        <a:sysClr val="window" lastClr="FFFFFF"/>
      </a:lt1>
      <a:dk2>
        <a:srgbClr val="181010"/>
      </a:dk2>
      <a:lt2>
        <a:srgbClr val="EEF0F2"/>
      </a:lt2>
      <a:accent1>
        <a:srgbClr val="005A64"/>
      </a:accent1>
      <a:accent2>
        <a:srgbClr val="3C9673"/>
      </a:accent2>
      <a:accent3>
        <a:srgbClr val="BECD32"/>
      </a:accent3>
      <a:accent4>
        <a:srgbClr val="656E72"/>
      </a:accent4>
      <a:accent5>
        <a:srgbClr val="8C959A"/>
      </a:accent5>
      <a:accent6>
        <a:srgbClr val="E2E5E7"/>
      </a:accent6>
      <a:hlink>
        <a:srgbClr val="BECD32"/>
      </a:hlink>
      <a:folHlink>
        <a:srgbClr val="8C959A"/>
      </a:folHlink>
    </a:clrScheme>
    <a:fontScheme name="BioNTech 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44000" tIns="144000" rIns="144000" bIns="14400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Custom Color 1">
      <a:srgbClr val="26948B"/>
    </a:custClr>
    <a:custClr name="Custom Color 2">
      <a:srgbClr val="107072"/>
    </a:custClr>
    <a:custClr name="Custom Color 3">
      <a:srgbClr val="294145"/>
    </a:custClr>
    <a:custClr name="Custom Color 4">
      <a:srgbClr val="9C9E21"/>
    </a:custClr>
    <a:custClr name="Custom Color 5">
      <a:srgbClr val="F2D92F"/>
    </a:custClr>
    <a:custClr name="Custom Color 6">
      <a:srgbClr val="C73F1E"/>
    </a:custClr>
    <a:custClr name="Custom Color 7">
      <a:srgbClr val="FFA62B"/>
    </a:custClr>
    <a:custClr name="Custom Color 8">
      <a:srgbClr val="7A306C"/>
    </a:custClr>
  </a:custClrLst>
  <a:extLst>
    <a:ext uri="{05A4C25C-085E-4340-85A3-A5531E510DB2}">
      <thm15:themeFamily xmlns:thm15="http://schemas.microsoft.com/office/thememl/2012/main" name="BNT1" id="{3E74A39D-2E9C-42FC-85C7-39C43D8F88CC}" vid="{32A54EE6-0A49-4361-A233-E4E0D42B54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621B4C-2248-4CA3-9613-2E124A98AFD4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db86fbe-c8ef-453d-8c51-d0dd45cab32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0589fa-0b8c-46eb-90cb-780c92e0dd2a">
      <Terms xmlns="http://schemas.microsoft.com/office/infopath/2007/PartnerControls"/>
    </lcf76f155ced4ddcb4097134ff3c332f>
    <_DCDateCreated xmlns="http://schemas.microsoft.com/sharepoint/v3/fields" xsi:nil="true"/>
    <Comment xmlns="de0589fa-0b8c-46eb-90cb-780c92e0dd2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89241DE2A8B342ABC7D179B6219A94" ma:contentTypeVersion="18" ma:contentTypeDescription="Create a new document." ma:contentTypeScope="" ma:versionID="92c5fb177125013dc4de1ed1e499ff4e">
  <xsd:schema xmlns:xsd="http://www.w3.org/2001/XMLSchema" xmlns:xs="http://www.w3.org/2001/XMLSchema" xmlns:p="http://schemas.microsoft.com/office/2006/metadata/properties" xmlns:ns2="de0589fa-0b8c-46eb-90cb-780c92e0dd2a" xmlns:ns3="09e45f2b-9093-4095-b086-6d1f054d01ac" xmlns:ns4="http://schemas.microsoft.com/sharepoint/v3/fields" targetNamespace="http://schemas.microsoft.com/office/2006/metadata/properties" ma:root="true" ma:fieldsID="adf8932be9daef0d310aadf683ca0d58" ns2:_="" ns3:_="" ns4:_="">
    <xsd:import namespace="de0589fa-0b8c-46eb-90cb-780c92e0dd2a"/>
    <xsd:import namespace="09e45f2b-9093-4095-b086-6d1f054d01ac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  <xsd:element ref="ns4:_DCDateCreated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589fa-0b8c-46eb-90cb-780c92e0dd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88634be-138a-44ee-8861-29c91b4880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25" nillable="true" ma:displayName="Comment" ma:description="Additional comments on file" ma:format="Dropdown" ma:internalName="Comment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45f2b-9093-4095-b086-6d1f054d0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DCDateCreated" ma:index="23" nillable="true" ma:displayName="Date Created" ma:description="The date on which this resource was created" ma:format="DateTime" ma:internalName="_DCDateCreat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24" ma:displayName="Author"/>
        <xsd:element ref="dcterms:created" minOccurs="0" maxOccurs="1"/>
        <xsd:element ref="dc:identifier" minOccurs="0" maxOccurs="1"/>
        <xsd:element name="contentType" minOccurs="0" maxOccurs="1" type="xsd:string" ma:index="2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EAAF16-BB5A-47A3-99DC-231AC4EE27B6}">
  <ds:schemaRefs>
    <ds:schemaRef ds:uri="09e45f2b-9093-4095-b086-6d1f054d01ac"/>
    <ds:schemaRef ds:uri="de0589fa-0b8c-46eb-90cb-780c92e0d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91C3DA-01DA-4729-9B6A-49C1649055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276C3-10E5-48C7-8D29-21E9E6588325}">
  <ds:schemaRefs>
    <ds:schemaRef ds:uri="09e45f2b-9093-4095-b086-6d1f054d01ac"/>
    <ds:schemaRef ds:uri="de0589fa-0b8c-46eb-90cb-780c92e0dd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/field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b505df4-2334-4dec-8749-de67dcaf6226}" enabled="0" method="" siteId="{1b505df4-2334-4dec-8749-de67dcaf62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BNT1</Template>
  <TotalTime>35</TotalTime>
  <Words>541</Words>
  <Application>Microsoft Office PowerPoint</Application>
  <PresentationFormat>Widescreen</PresentationFormat>
  <Paragraphs>67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Symbol</vt:lpstr>
      <vt:lpstr>BNT1</vt:lpstr>
      <vt:lpstr>think-cell Slide</vt:lpstr>
      <vt:lpstr>BNT317-01: Anti-Drug Antibody (ADA) Immunogenicity Summary</vt:lpstr>
      <vt:lpstr>ADA Incidence by Dose Level — Subject Level</vt:lpstr>
      <vt:lpstr>Methods &amp; Definitions</vt:lpstr>
    </vt:vector>
  </TitlesOfParts>
  <Company>BioNTech 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Shuang Liang</dc:creator>
  <cp:lastModifiedBy>Tairan Yang</cp:lastModifiedBy>
  <cp:revision>3</cp:revision>
  <dcterms:created xsi:type="dcterms:W3CDTF">2024-11-12T20:03:04Z</dcterms:created>
  <dcterms:modified xsi:type="dcterms:W3CDTF">2026-06-10T14:58:19Z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0x010100B389241DE2A8B342ABC7D179B6219A94</vt:lpwstr>
  </property>
  <property fmtid="{D5CDD505-2E9C-101B-9397-08002B2CF9AE}" pid="3" name="MediaServiceImageTags">
    <vt:lpwstr/>
  </property>
</Properties>
</file>