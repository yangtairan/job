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62" r:id="rId3"/>
    <p:sldId id="273" r:id="rId4"/>
    <p:sldId id="274" r:id="rId5"/>
    <p:sldId id="276" r:id="rId6"/>
    <p:sldId id="278" r:id="rId7"/>
    <p:sldId id="277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8988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441DAC-80ED-DDC6-8DFD-93869F84BF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313" y="5213746"/>
            <a:ext cx="10999788" cy="492443"/>
          </a:xfrm>
        </p:spPr>
        <p:txBody>
          <a:bodyPr wrap="square" lIns="0" tIns="0" rIns="0" bIns="0" rtlCol="0" anchor="t">
            <a:noAutofit/>
          </a:bodyPr>
          <a:lstStyle>
            <a:lvl1pPr>
              <a:defRPr lang="de-DE" dirty="0" smtClean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Subtitle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2413338"/>
            <a:ext cx="10999788" cy="2031325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two lines</a:t>
            </a:r>
            <a:br>
              <a:rPr lang="en-US"/>
            </a:br>
            <a:r>
              <a:rPr lang="en-US"/>
              <a:t>three lines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4662488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sp>
        <p:nvSpPr>
          <p:cNvPr id="27" name="Datumsplatzhalter 3">
            <a:extLst>
              <a:ext uri="{FF2B5EF4-FFF2-40B4-BE49-F238E27FC236}">
                <a16:creationId xmlns:a16="http://schemas.microsoft.com/office/drawing/2014/main" id="{44E313EC-B126-DEDC-EDF4-9647A1A02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313" y="5706189"/>
            <a:ext cx="10999788" cy="2154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de-DE" sz="1400" smtClean="0"/>
            </a:lvl1pPr>
          </a:lstStyle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3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8804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/>
              <a:t>Agenda,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B835D5A0-AFAB-1FC7-AC6A-99FD71803CA4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95313" y="1636713"/>
            <a:ext cx="10999787" cy="43919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86492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871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2751892"/>
            <a:ext cx="10999787" cy="1354217"/>
          </a:xfrm>
        </p:spPr>
        <p:txBody>
          <a:bodyPr vert="horz" wrap="square" lIns="0" tIns="0" rIns="0" bIns="0" rtlCol="0" anchor="b">
            <a:noAutofit/>
          </a:bodyPr>
          <a:lstStyle>
            <a:lvl1pPr>
              <a:spcAft>
                <a:spcPts val="0"/>
              </a:spcAft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01. Click to edit Master title style</a:t>
            </a:r>
            <a:br>
              <a:rPr lang="en-US"/>
            </a:br>
            <a:r>
              <a:rPr lang="en-US"/>
              <a:t>two lines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4323934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5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228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3500" y="2751892"/>
            <a:ext cx="10261600" cy="1354217"/>
          </a:xfrm>
        </p:spPr>
        <p:txBody>
          <a:bodyPr vert="horz" wrap="square" lIns="0" tIns="0" rIns="0" bIns="0" rtlCol="0" anchor="t">
            <a:noAutofit/>
          </a:bodyPr>
          <a:lstStyle>
            <a:lvl1pPr>
              <a:spcAft>
                <a:spcPts val="0"/>
              </a:spcAft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two lines</a:t>
            </a:r>
            <a:endParaRPr lang="de-DE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1483C46-1547-B398-3836-563FA9795586}"/>
              </a:ext>
            </a:extLst>
          </p:cNvPr>
          <p:cNvGrpSpPr/>
          <p:nvPr/>
        </p:nvGrpSpPr>
        <p:grpSpPr>
          <a:xfrm rot="10800000">
            <a:off x="576263" y="2875755"/>
            <a:ext cx="561727" cy="533913"/>
            <a:chOff x="1166586" y="1920424"/>
            <a:chExt cx="392256" cy="372834"/>
          </a:xfrm>
          <a:solidFill>
            <a:schemeClr val="accent3"/>
          </a:solidFill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F8E36A08-5933-C631-3863-A306AC2CBCB6}"/>
                </a:ext>
              </a:extLst>
            </p:cNvPr>
            <p:cNvSpPr/>
            <p:nvPr/>
          </p:nvSpPr>
          <p:spPr>
            <a:xfrm>
              <a:off x="1166586" y="1920424"/>
              <a:ext cx="176719" cy="372834"/>
            </a:xfrm>
            <a:custGeom>
              <a:avLst/>
              <a:gdLst>
                <a:gd name="connsiteX0" fmla="*/ 340700 w 340700"/>
                <a:gd name="connsiteY0" fmla="*/ 427353 h 718795"/>
                <a:gd name="connsiteX1" fmla="*/ 340700 w 340700"/>
                <a:gd name="connsiteY1" fmla="*/ 673643 h 718795"/>
                <a:gd name="connsiteX2" fmla="*/ 295547 w 340700"/>
                <a:gd name="connsiteY2" fmla="*/ 718796 h 718795"/>
                <a:gd name="connsiteX3" fmla="*/ 49258 w 340700"/>
                <a:gd name="connsiteY3" fmla="*/ 718796 h 718795"/>
                <a:gd name="connsiteX4" fmla="*/ 0 w 340700"/>
                <a:gd name="connsiteY4" fmla="*/ 673643 h 718795"/>
                <a:gd name="connsiteX5" fmla="*/ 0 w 340700"/>
                <a:gd name="connsiteY5" fmla="*/ 423248 h 718795"/>
                <a:gd name="connsiteX6" fmla="*/ 24629 w 340700"/>
                <a:gd name="connsiteY6" fmla="*/ 189273 h 718795"/>
                <a:gd name="connsiteX7" fmla="*/ 123145 w 340700"/>
                <a:gd name="connsiteY7" fmla="*/ 53814 h 718795"/>
                <a:gd name="connsiteX8" fmla="*/ 287338 w 340700"/>
                <a:gd name="connsiteY8" fmla="*/ 451 h 718795"/>
                <a:gd name="connsiteX9" fmla="*/ 340700 w 340700"/>
                <a:gd name="connsiteY9" fmla="*/ 45604 h 718795"/>
                <a:gd name="connsiteX10" fmla="*/ 340700 w 340700"/>
                <a:gd name="connsiteY10" fmla="*/ 103072 h 718795"/>
                <a:gd name="connsiteX11" fmla="*/ 307862 w 340700"/>
                <a:gd name="connsiteY11" fmla="*/ 148225 h 718795"/>
                <a:gd name="connsiteX12" fmla="*/ 197032 w 340700"/>
                <a:gd name="connsiteY12" fmla="*/ 205692 h 718795"/>
                <a:gd name="connsiteX13" fmla="*/ 172403 w 340700"/>
                <a:gd name="connsiteY13" fmla="*/ 345256 h 718795"/>
                <a:gd name="connsiteX14" fmla="*/ 172403 w 340700"/>
                <a:gd name="connsiteY14" fmla="*/ 378095 h 718795"/>
                <a:gd name="connsiteX15" fmla="*/ 291443 w 340700"/>
                <a:gd name="connsiteY15" fmla="*/ 378095 h 718795"/>
                <a:gd name="connsiteX16" fmla="*/ 340700 w 340700"/>
                <a:gd name="connsiteY16" fmla="*/ 427353 h 71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700" h="718795">
                  <a:moveTo>
                    <a:pt x="340700" y="427353"/>
                  </a:moveTo>
                  <a:lnTo>
                    <a:pt x="340700" y="673643"/>
                  </a:lnTo>
                  <a:cubicBezTo>
                    <a:pt x="340700" y="698272"/>
                    <a:pt x="320176" y="718796"/>
                    <a:pt x="295547" y="718796"/>
                  </a:cubicBezTo>
                  <a:lnTo>
                    <a:pt x="49258" y="718796"/>
                  </a:lnTo>
                  <a:cubicBezTo>
                    <a:pt x="20524" y="718796"/>
                    <a:pt x="0" y="698272"/>
                    <a:pt x="0" y="673643"/>
                  </a:cubicBezTo>
                  <a:lnTo>
                    <a:pt x="0" y="423248"/>
                  </a:lnTo>
                  <a:cubicBezTo>
                    <a:pt x="0" y="324732"/>
                    <a:pt x="8210" y="246741"/>
                    <a:pt x="24629" y="189273"/>
                  </a:cubicBezTo>
                  <a:cubicBezTo>
                    <a:pt x="41048" y="131805"/>
                    <a:pt x="69782" y="90757"/>
                    <a:pt x="123145" y="53814"/>
                  </a:cubicBezTo>
                  <a:cubicBezTo>
                    <a:pt x="164193" y="25080"/>
                    <a:pt x="217556" y="8661"/>
                    <a:pt x="287338" y="451"/>
                  </a:cubicBezTo>
                  <a:cubicBezTo>
                    <a:pt x="316072" y="-3654"/>
                    <a:pt x="340700" y="20975"/>
                    <a:pt x="340700" y="45604"/>
                  </a:cubicBezTo>
                  <a:lnTo>
                    <a:pt x="340700" y="103072"/>
                  </a:lnTo>
                  <a:cubicBezTo>
                    <a:pt x="340700" y="123596"/>
                    <a:pt x="328386" y="144120"/>
                    <a:pt x="307862" y="148225"/>
                  </a:cubicBezTo>
                  <a:cubicBezTo>
                    <a:pt x="262709" y="160539"/>
                    <a:pt x="221661" y="172854"/>
                    <a:pt x="197032" y="205692"/>
                  </a:cubicBezTo>
                  <a:cubicBezTo>
                    <a:pt x="172403" y="238531"/>
                    <a:pt x="172403" y="291894"/>
                    <a:pt x="172403" y="345256"/>
                  </a:cubicBezTo>
                  <a:cubicBezTo>
                    <a:pt x="172403" y="353466"/>
                    <a:pt x="172403" y="361676"/>
                    <a:pt x="172403" y="378095"/>
                  </a:cubicBezTo>
                  <a:lnTo>
                    <a:pt x="291443" y="378095"/>
                  </a:lnTo>
                  <a:cubicBezTo>
                    <a:pt x="320176" y="382200"/>
                    <a:pt x="340700" y="402724"/>
                    <a:pt x="340700" y="427353"/>
                  </a:cubicBezTo>
                  <a:close/>
                </a:path>
              </a:pathLst>
            </a:custGeom>
            <a:grp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fik 12">
              <a:extLst>
                <a:ext uri="{FF2B5EF4-FFF2-40B4-BE49-F238E27FC236}">
                  <a16:creationId xmlns:a16="http://schemas.microsoft.com/office/drawing/2014/main" id="{ED344319-70F3-C5FE-FCA4-BD7C598C1CC8}"/>
                </a:ext>
              </a:extLst>
            </p:cNvPr>
            <p:cNvSpPr/>
            <p:nvPr/>
          </p:nvSpPr>
          <p:spPr>
            <a:xfrm>
              <a:off x="1382123" y="1920424"/>
              <a:ext cx="176719" cy="372834"/>
            </a:xfrm>
            <a:custGeom>
              <a:avLst/>
              <a:gdLst>
                <a:gd name="connsiteX0" fmla="*/ 340700 w 340700"/>
                <a:gd name="connsiteY0" fmla="*/ 427353 h 718795"/>
                <a:gd name="connsiteX1" fmla="*/ 340700 w 340700"/>
                <a:gd name="connsiteY1" fmla="*/ 673643 h 718795"/>
                <a:gd name="connsiteX2" fmla="*/ 295547 w 340700"/>
                <a:gd name="connsiteY2" fmla="*/ 718796 h 718795"/>
                <a:gd name="connsiteX3" fmla="*/ 49258 w 340700"/>
                <a:gd name="connsiteY3" fmla="*/ 718796 h 718795"/>
                <a:gd name="connsiteX4" fmla="*/ 0 w 340700"/>
                <a:gd name="connsiteY4" fmla="*/ 673643 h 718795"/>
                <a:gd name="connsiteX5" fmla="*/ 0 w 340700"/>
                <a:gd name="connsiteY5" fmla="*/ 423248 h 718795"/>
                <a:gd name="connsiteX6" fmla="*/ 24629 w 340700"/>
                <a:gd name="connsiteY6" fmla="*/ 189273 h 718795"/>
                <a:gd name="connsiteX7" fmla="*/ 123145 w 340700"/>
                <a:gd name="connsiteY7" fmla="*/ 53814 h 718795"/>
                <a:gd name="connsiteX8" fmla="*/ 287338 w 340700"/>
                <a:gd name="connsiteY8" fmla="*/ 451 h 718795"/>
                <a:gd name="connsiteX9" fmla="*/ 340700 w 340700"/>
                <a:gd name="connsiteY9" fmla="*/ 45604 h 718795"/>
                <a:gd name="connsiteX10" fmla="*/ 340700 w 340700"/>
                <a:gd name="connsiteY10" fmla="*/ 103072 h 718795"/>
                <a:gd name="connsiteX11" fmla="*/ 307862 w 340700"/>
                <a:gd name="connsiteY11" fmla="*/ 148225 h 718795"/>
                <a:gd name="connsiteX12" fmla="*/ 197032 w 340700"/>
                <a:gd name="connsiteY12" fmla="*/ 205692 h 718795"/>
                <a:gd name="connsiteX13" fmla="*/ 172403 w 340700"/>
                <a:gd name="connsiteY13" fmla="*/ 345256 h 718795"/>
                <a:gd name="connsiteX14" fmla="*/ 172403 w 340700"/>
                <a:gd name="connsiteY14" fmla="*/ 378095 h 718795"/>
                <a:gd name="connsiteX15" fmla="*/ 291443 w 340700"/>
                <a:gd name="connsiteY15" fmla="*/ 378095 h 718795"/>
                <a:gd name="connsiteX16" fmla="*/ 340700 w 340700"/>
                <a:gd name="connsiteY16" fmla="*/ 427353 h 71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700" h="718795">
                  <a:moveTo>
                    <a:pt x="340700" y="427353"/>
                  </a:moveTo>
                  <a:lnTo>
                    <a:pt x="340700" y="673643"/>
                  </a:lnTo>
                  <a:cubicBezTo>
                    <a:pt x="340700" y="698272"/>
                    <a:pt x="320176" y="718796"/>
                    <a:pt x="295547" y="718796"/>
                  </a:cubicBezTo>
                  <a:lnTo>
                    <a:pt x="49258" y="718796"/>
                  </a:lnTo>
                  <a:cubicBezTo>
                    <a:pt x="20524" y="718796"/>
                    <a:pt x="0" y="698272"/>
                    <a:pt x="0" y="673643"/>
                  </a:cubicBezTo>
                  <a:lnTo>
                    <a:pt x="0" y="423248"/>
                  </a:lnTo>
                  <a:cubicBezTo>
                    <a:pt x="0" y="324732"/>
                    <a:pt x="8210" y="246741"/>
                    <a:pt x="24629" y="189273"/>
                  </a:cubicBezTo>
                  <a:cubicBezTo>
                    <a:pt x="41048" y="131805"/>
                    <a:pt x="69782" y="90757"/>
                    <a:pt x="123145" y="53814"/>
                  </a:cubicBezTo>
                  <a:cubicBezTo>
                    <a:pt x="164193" y="25080"/>
                    <a:pt x="217556" y="8661"/>
                    <a:pt x="287338" y="451"/>
                  </a:cubicBezTo>
                  <a:cubicBezTo>
                    <a:pt x="316072" y="-3654"/>
                    <a:pt x="340700" y="20975"/>
                    <a:pt x="340700" y="45604"/>
                  </a:cubicBezTo>
                  <a:lnTo>
                    <a:pt x="340700" y="103072"/>
                  </a:lnTo>
                  <a:cubicBezTo>
                    <a:pt x="340700" y="123596"/>
                    <a:pt x="328386" y="144120"/>
                    <a:pt x="307862" y="148225"/>
                  </a:cubicBezTo>
                  <a:cubicBezTo>
                    <a:pt x="262709" y="160539"/>
                    <a:pt x="221661" y="172854"/>
                    <a:pt x="197032" y="205692"/>
                  </a:cubicBezTo>
                  <a:cubicBezTo>
                    <a:pt x="172403" y="238531"/>
                    <a:pt x="172403" y="291894"/>
                    <a:pt x="172403" y="345256"/>
                  </a:cubicBezTo>
                  <a:cubicBezTo>
                    <a:pt x="172403" y="353466"/>
                    <a:pt x="172403" y="361676"/>
                    <a:pt x="172403" y="378095"/>
                  </a:cubicBezTo>
                  <a:lnTo>
                    <a:pt x="291443" y="378095"/>
                  </a:lnTo>
                  <a:cubicBezTo>
                    <a:pt x="320176" y="382200"/>
                    <a:pt x="340700" y="402724"/>
                    <a:pt x="340700" y="427353"/>
                  </a:cubicBezTo>
                  <a:close/>
                </a:path>
              </a:pathLst>
            </a:custGeom>
            <a:grp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Textplatzhalter 6">
            <a:extLst>
              <a:ext uri="{FF2B5EF4-FFF2-40B4-BE49-F238E27FC236}">
                <a16:creationId xmlns:a16="http://schemas.microsoft.com/office/drawing/2014/main" id="{83B17192-C909-8F6F-4D24-6D9FD1BA63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3500" y="4485639"/>
            <a:ext cx="10261600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- Name</a:t>
            </a:r>
            <a:endParaRPr lang="en-US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7D3E5DE-0DDD-6454-EBF7-EA6FEA785404}"/>
              </a:ext>
            </a:extLst>
          </p:cNvPr>
          <p:cNvSpPr/>
          <p:nvPr/>
        </p:nvSpPr>
        <p:spPr bwMode="gray">
          <a:xfrm>
            <a:off x="1333500" y="4323934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08677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5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9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2"/>
            <a:ext cx="10999787" cy="3468688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383092FC-59F3-7242-24B7-F886C083A5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312" y="5260777"/>
            <a:ext cx="11596687" cy="767866"/>
          </a:xfrm>
          <a:solidFill>
            <a:schemeClr val="accent1"/>
          </a:solidFill>
          <a:ln>
            <a:noFill/>
          </a:ln>
        </p:spPr>
        <p:txBody>
          <a:bodyPr lIns="144000" tIns="144000" rIns="144000" bIns="144000" anchor="ctr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546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5250093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45006" y="1636713"/>
            <a:ext cx="5250093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07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6F94AB66-0C94-9946-8B4C-021BEA3286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10D4684-46D4-C9B5-91B6-2603B9FD47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8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0113175-1D06-B70D-4CF0-AF57938D4B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21D5F98-887E-B0BF-B837-36690537CE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 with Highligh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  <a:solidFill>
            <a:schemeClr val="bg2"/>
          </a:solidFill>
        </p:spPr>
        <p:txBody>
          <a:bodyPr lIns="144000" tIns="144000" rIns="144000" bIns="144000"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9EBCA0-047E-97AA-379B-3E161C7B35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9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 with Highlight jung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  <a:solidFill>
            <a:schemeClr val="accent1"/>
          </a:solidFill>
        </p:spPr>
        <p:txBody>
          <a:bodyPr lIns="144000" tIns="144000" rIns="144000" b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09A8F75-B606-E31A-A801-A1045F5BE8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79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3"/>
            <a:ext cx="0" cy="253915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0113175-1D06-B70D-4CF0-AF57938D4B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3"/>
            <a:ext cx="0" cy="253915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3BD1B71-92E2-2D9C-3BB5-062B38BE83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312" y="4495800"/>
            <a:ext cx="11596687" cy="1532843"/>
          </a:xfrm>
          <a:solidFill>
            <a:schemeClr val="bg2"/>
          </a:solidFill>
          <a:ln>
            <a:noFill/>
          </a:ln>
        </p:spPr>
        <p:txBody>
          <a:bodyPr lIns="1584000" tIns="144000" rIns="504000" bIns="1440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Bildplatzhalter 23">
            <a:extLst>
              <a:ext uri="{FF2B5EF4-FFF2-40B4-BE49-F238E27FC236}">
                <a16:creationId xmlns:a16="http://schemas.microsoft.com/office/drawing/2014/main" id="{7FBDB3CA-EABD-6CD5-9BC8-44955058F6A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02747" y="4641073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A96C06A-456E-FD84-6846-AAF111BFB6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08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5C04DAD-A279-2640-AFDB-8FF9BFE3C3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531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B73D07D2-EC36-1732-A679-8906AB65B2C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5222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63776B5E-308A-90FD-70E5-944E9099E0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0913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9766368E-0C1A-3BF3-0407-A7A18E2CD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4F63356E-40CF-884F-15BD-89CE3363C7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531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4">
            <a:extLst>
              <a:ext uri="{FF2B5EF4-FFF2-40B4-BE49-F238E27FC236}">
                <a16:creationId xmlns:a16="http://schemas.microsoft.com/office/drawing/2014/main" id="{34C50B7C-AE5D-07C3-15B1-778B1BBB65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222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CAE41D33-AB15-0196-CAB7-5AE34F50B6B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0913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37F482C8-4A11-3467-FFA8-66A7AE60D6E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617147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Bildplatzhalter 23">
            <a:extLst>
              <a:ext uri="{FF2B5EF4-FFF2-40B4-BE49-F238E27FC236}">
                <a16:creationId xmlns:a16="http://schemas.microsoft.com/office/drawing/2014/main" id="{496643ED-4164-D815-1460-1322A5C119D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474056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Bildplatzhalter 23">
            <a:extLst>
              <a:ext uri="{FF2B5EF4-FFF2-40B4-BE49-F238E27FC236}">
                <a16:creationId xmlns:a16="http://schemas.microsoft.com/office/drawing/2014/main" id="{93CBE5D5-3968-FEFC-63FD-CB1A4498E2C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330968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1BA1BEB0-6612-E281-4242-3FE2479977F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02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129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4433887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49250" y="1636713"/>
            <a:ext cx="6942751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359509-D04A-A5F0-33A6-231EF22C3A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53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129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5314" y="1636713"/>
            <a:ext cx="11596688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359509-D04A-A5F0-33A6-231EF22C3A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03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7740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B0F0DB0-4730-589E-1922-752241A485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524625"/>
          </a:xfrm>
          <a:custGeom>
            <a:avLst/>
            <a:gdLst>
              <a:gd name="connsiteX0" fmla="*/ 0 w 12192000"/>
              <a:gd name="connsiteY0" fmla="*/ 0 h 6524625"/>
              <a:gd name="connsiteX1" fmla="*/ 12192000 w 12192000"/>
              <a:gd name="connsiteY1" fmla="*/ 0 h 6524625"/>
              <a:gd name="connsiteX2" fmla="*/ 12192000 w 12192000"/>
              <a:gd name="connsiteY2" fmla="*/ 6524625 h 6524625"/>
              <a:gd name="connsiteX3" fmla="*/ 0 w 12192000"/>
              <a:gd name="connsiteY3" fmla="*/ 6524625 h 65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524625">
                <a:moveTo>
                  <a:pt x="0" y="0"/>
                </a:moveTo>
                <a:lnTo>
                  <a:pt x="12192000" y="0"/>
                </a:lnTo>
                <a:lnTo>
                  <a:pt x="12192000" y="6524625"/>
                </a:lnTo>
                <a:lnTo>
                  <a:pt x="0" y="652462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919828EA-3FAA-849A-6279-B0C347A9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439" y="6622062"/>
            <a:ext cx="581025" cy="138499"/>
          </a:xfrm>
        </p:spPr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7B6BFA94-E65D-A5C2-0D7C-BD3DA07F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622062"/>
            <a:ext cx="7286625" cy="13849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BD69ECE7-3D60-4F90-0A6B-EB440959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313" y="6622062"/>
            <a:ext cx="243126" cy="138499"/>
          </a:xfrm>
        </p:spPr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7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1696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487F9CFD-F38C-0F96-0E38-11E952A60A8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49250" y="1636713"/>
            <a:ext cx="3196249" cy="2131873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78524" y="1636713"/>
            <a:ext cx="3613478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6" name="Bildplatzhalter 11">
            <a:extLst>
              <a:ext uri="{FF2B5EF4-FFF2-40B4-BE49-F238E27FC236}">
                <a16:creationId xmlns:a16="http://schemas.microsoft.com/office/drawing/2014/main" id="{7EC2C853-C399-A450-35D0-8881D3C9F3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49250" y="3895210"/>
            <a:ext cx="3196249" cy="2133433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4433887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7488AC8-8AF7-A746-B6E9-E921FF74DD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35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9567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1876904"/>
            <a:ext cx="10999788" cy="677108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Thank you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2771837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33A2F9E0-2501-3FFA-4B61-0E9BC4F5C9B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5313" y="3628444"/>
            <a:ext cx="6037716" cy="64633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An der Goldgrube 12</a:t>
            </a:r>
            <a:br>
              <a:rPr lang="de-DE"/>
            </a:br>
            <a:r>
              <a:rPr lang="de-DE"/>
              <a:t>55131 Mainz</a:t>
            </a:r>
            <a:br>
              <a:rPr lang="de-DE"/>
            </a:br>
            <a:r>
              <a:rPr lang="de-DE"/>
              <a:t>Germany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1F205135-FEF9-D5BC-41FF-398FCEB3AC2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5313" y="4430916"/>
            <a:ext cx="6037716" cy="64633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T: +49 6131 9084-0</a:t>
            </a:r>
            <a:br>
              <a:rPr lang="de-DE"/>
            </a:br>
            <a:r>
              <a:rPr lang="de-DE"/>
              <a:t>F: +49 6131 9084-2121</a:t>
            </a:r>
            <a:br>
              <a:rPr lang="de-DE"/>
            </a:br>
            <a:r>
              <a:rPr lang="de-DE"/>
              <a:t>M: service@biontech.de</a:t>
            </a:r>
          </a:p>
        </p:txBody>
      </p:sp>
      <p:sp>
        <p:nvSpPr>
          <p:cNvPr id="17" name="Textplatzhalter 18">
            <a:extLst>
              <a:ext uri="{FF2B5EF4-FFF2-40B4-BE49-F238E27FC236}">
                <a16:creationId xmlns:a16="http://schemas.microsoft.com/office/drawing/2014/main" id="{51BBA694-B1B9-241E-8B26-F3DCAF23C24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5313" y="3256858"/>
            <a:ext cx="6037716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BioNTech</a:t>
            </a:r>
          </a:p>
        </p:txBody>
      </p:sp>
    </p:spTree>
    <p:extLst>
      <p:ext uri="{BB962C8B-B14F-4D97-AF65-F5344CB8AC3E}">
        <p14:creationId xmlns:p14="http://schemas.microsoft.com/office/powerpoint/2010/main" val="206296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B607E3DE-F279-5E1F-0A87-D72F4FCDC533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393149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592" imgH="591" progId="TCLayout.ActiveDocument.1">
                  <p:embed/>
                </p:oleObj>
              </mc:Choice>
              <mc:Fallback>
                <p:oleObj name="think-cell Slide" r:id="rId21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B607E3DE-F279-5E1F-0A87-D72F4FCDC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hteck 25">
            <a:extLst>
              <a:ext uri="{FF2B5EF4-FFF2-40B4-BE49-F238E27FC236}">
                <a16:creationId xmlns:a16="http://schemas.microsoft.com/office/drawing/2014/main" id="{F2BF5E5C-CAF5-B791-7FC8-985A8E772BCC}"/>
              </a:ext>
            </a:extLst>
          </p:cNvPr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AF492F-E891-1FC2-3F25-D55F98B68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313" y="1636713"/>
            <a:ext cx="10999787" cy="43919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A3AE47-140F-0A51-8397-148CDC97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3" y="385732"/>
            <a:ext cx="10999787" cy="61555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pic>
        <p:nvPicPr>
          <p:cNvPr id="27" name="Immagine 4" descr="logo.eps">
            <a:extLst>
              <a:ext uri="{FF2B5EF4-FFF2-40B4-BE49-F238E27FC236}">
                <a16:creationId xmlns:a16="http://schemas.microsoft.com/office/drawing/2014/main" id="{6B6BE0B4-FB6D-3DC9-553F-1D1818D7C807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0336650" y="6621192"/>
            <a:ext cx="1258451" cy="140239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712155-57E8-1650-D851-E4D4DE300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5313" y="6622062"/>
            <a:ext cx="243126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de-DE" sz="800" smtClean="0">
                <a:solidFill>
                  <a:schemeClr val="bg1"/>
                </a:solidFill>
              </a:defRPr>
            </a:lvl1pPr>
          </a:lstStyle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2D2DAC-3B88-7BD0-FB0B-680D7021E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439" y="6622062"/>
            <a:ext cx="581025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de-DE" sz="800" smtClean="0">
                <a:solidFill>
                  <a:schemeClr val="bg1"/>
                </a:solidFill>
              </a:defRPr>
            </a:lvl1pPr>
          </a:lstStyle>
          <a:p>
            <a:fld id="{C8C48F5D-6E45-4344-BA2D-EEAED6CC68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764F0B-A60B-07FE-9B87-E4FB3813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0" y="6622062"/>
            <a:ext cx="7286625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de-DE" sz="80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88BB994-4005-C00E-02D1-D61881B240D6}"/>
              </a:ext>
            </a:extLst>
          </p:cNvPr>
          <p:cNvSpPr txBox="1"/>
          <p:nvPr/>
        </p:nvSpPr>
        <p:spPr>
          <a:xfrm>
            <a:off x="8951912" y="6637451"/>
            <a:ext cx="928687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>
              <a:defRPr sz="900">
                <a:solidFill>
                  <a:schemeClr val="accent5"/>
                </a:solidFill>
              </a:defRPr>
            </a:lvl1pPr>
          </a:lstStyle>
          <a:p>
            <a:pPr lvl="0" algn="r"/>
            <a:r>
              <a:rPr lang="en-US" sz="600" i="1">
                <a:solidFill>
                  <a:schemeClr val="bg1"/>
                </a:solidFill>
                <a:latin typeface="+mn-lt"/>
              </a:rPr>
              <a:t>Confidential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23ABB91-AB05-CAB3-8323-6B89AD4D7691}"/>
              </a:ext>
            </a:extLst>
          </p:cNvPr>
          <p:cNvSpPr/>
          <p:nvPr/>
        </p:nvSpPr>
        <p:spPr bwMode="gray">
          <a:xfrm>
            <a:off x="595313" y="1095193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4803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334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723900" indent="-1905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9017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0795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73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4" orient="horz" pos="3800">
          <p15:clr>
            <a:srgbClr val="F26B43"/>
          </p15:clr>
        </p15:guide>
        <p15:guide id="5" pos="3840">
          <p15:clr>
            <a:srgbClr val="C35EA4"/>
          </p15:clr>
        </p15:guide>
        <p15:guide id="6" orient="horz" pos="241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AB43FB-145B-3950-FC52-CBDF63043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FFFF"/>
                </a:solidFill>
              </a:rPr>
              <a:t>BNT211 CLDN6 CAR-T — PopPK Update</a:t>
            </a:r>
          </a:p>
          <a:p>
            <a:r>
              <a:rPr lang="en-US" sz="2000" dirty="0">
                <a:solidFill>
                  <a:srgbClr val="BECD32"/>
                </a:solidFill>
              </a:rPr>
              <a:t>Exploratory data analysis of cellular kinetics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FD05F56-3F2C-CDB1-51F6-EC1BD0EE34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Tairan Yang</a:t>
            </a:r>
          </a:p>
          <a:p>
            <a:r>
              <a:rPr lang="en-US" dirty="0"/>
              <a:t>06/12/2026</a:t>
            </a:r>
          </a:p>
        </p:txBody>
      </p:sp>
    </p:spTree>
    <p:extLst>
      <p:ext uri="{BB962C8B-B14F-4D97-AF65-F5344CB8AC3E}">
        <p14:creationId xmlns:p14="http://schemas.microsoft.com/office/powerpoint/2010/main" val="175588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EFF4-46D1-90EB-38B8-D27DF9E5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&amp; analysis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C06C9-E312-8908-5B92-33399C597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3" y="1636712"/>
            <a:ext cx="10999787" cy="4644818"/>
          </a:xfrm>
        </p:spPr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2000" dirty="0"/>
              <a:t>DV = transgene WPRE copies/µg DNA (qPCR), the canonical CAR-T cellular-kinetics readout. The paired flow-based readout (% WPRE copies per total cells) is carried alongside each record (PCELL) for reference. 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Continuous TIME (days) is reconstructed from actual datetimes (sample collection PCDTC; dose EXSTDTC) relative to each subject’s first CAR-T infusion, so re-dosing cycles sit on one continuous timeline. 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CAR-T infusions are EVID=1 / CMT=1 events with AMT = number of transduced CAR+ cells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RNA-LPX vaccine doses are EVID=1 / CMT=2 events with AMT in µg; 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BLQ samples (observed 0 or &lt; LLOQ) are retained with CENS=1 and DV set to the LLOQ (M3-ready), rather than dropped</a:t>
            </a:r>
            <a:endParaRPr lang="en-US" sz="1200" dirty="0">
              <a:solidFill>
                <a:srgbClr val="3C4447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0881B3-ECB6-11B2-5410-25E57D3F6F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5313" y="1193800"/>
            <a:ext cx="10999787" cy="442912"/>
          </a:xfrm>
        </p:spPr>
        <p:txBody>
          <a:bodyPr/>
          <a:lstStyle/>
          <a:p>
            <a:r>
              <a:rPr lang="en-US" sz="1200" dirty="0"/>
              <a:t>Source data: SDTM dm, ex and </a:t>
            </a:r>
            <a:r>
              <a:rPr lang="en-US" sz="1200" dirty="0" err="1"/>
              <a:t>ADaM</a:t>
            </a:r>
            <a:r>
              <a:rPr lang="en-US" sz="1200" dirty="0"/>
              <a:t> </a:t>
            </a:r>
            <a:r>
              <a:rPr lang="en-US" sz="1200" dirty="0" err="1"/>
              <a:t>adsl</a:t>
            </a:r>
            <a:r>
              <a:rPr lang="en-US" sz="1200" dirty="0"/>
              <a:t>, </a:t>
            </a:r>
            <a:r>
              <a:rPr lang="en-US" sz="1200" dirty="0" err="1"/>
              <a:t>adpc</a:t>
            </a:r>
            <a:r>
              <a:rPr lang="en-US" sz="1200" dirty="0"/>
              <a:t>. Primary endpoint: CLDN6 CAR-T transgene (WPRE copies per µg genomic DNA, qPCR). </a:t>
            </a:r>
            <a:endParaRPr lang="en-US" sz="1200" i="1" dirty="0">
              <a:solidFill>
                <a:srgbClr val="656E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81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E2E5-B94D-58A8-5B92-8631BC27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Summary  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2615EB8-147C-93EC-E333-BA7B8A29D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312" y="1735356"/>
            <a:ext cx="5719575" cy="271142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927671-BA2B-859D-7E59-553B3A8DD8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 2194 transgene observations were available; 17% were BLQ, concentrated at the earliest (pre/peri-infusion) and latest (persistence-phase) timepoints, with the lowest BLQ fraction during peak expansion (week 1-4)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BA9D82-3ADD-AAB6-507C-A737684C8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97" y="1772155"/>
            <a:ext cx="4869837" cy="263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DCA5-AD02-73F9-39F0-CE58D3CB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 and Baseline Covariates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D4C8A03-94B5-3DEE-4443-781264186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51" y="1548750"/>
            <a:ext cx="11280097" cy="45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0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B1A1D9C-96E7-A866-278C-623D183D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30CB38C-3CED-1454-5093-B0DF5EEC8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3" y="2228895"/>
            <a:ext cx="5249862" cy="3208248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5BB533D-84B1-8959-938A-FD935BD74A3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238" y="2228895"/>
            <a:ext cx="5249862" cy="320824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91645FD-9054-B875-AE7F-3ADD89CA32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23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B8B9-429C-C909-A44B-D77A3CE3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9DD8636-5B2A-0175-CCEF-82375F6A2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27" y="1775861"/>
            <a:ext cx="6865659" cy="172773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E76E-2E3D-712E-9553-5BC63C8922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6106" y="4661014"/>
            <a:ext cx="10999787" cy="455626"/>
          </a:xfrm>
        </p:spPr>
        <p:txBody>
          <a:bodyPr/>
          <a:lstStyle/>
          <a:p>
            <a:r>
              <a:rPr lang="en-US" sz="1400" dirty="0">
                <a:solidFill>
                  <a:schemeClr val="tx2"/>
                </a:solidFill>
              </a:rPr>
              <a:t>Peak expansion (</a:t>
            </a:r>
            <a:r>
              <a:rPr lang="en-US" sz="1400" dirty="0" err="1">
                <a:solidFill>
                  <a:schemeClr val="tx2"/>
                </a:solidFill>
              </a:rPr>
              <a:t>Cmax</a:t>
            </a:r>
            <a:r>
              <a:rPr lang="en-US" sz="1400" dirty="0">
                <a:solidFill>
                  <a:schemeClr val="tx2"/>
                </a:solidFill>
              </a:rPr>
              <a:t> ) and early exposure (AUC0-28 ) increase with dose across DL0–DL3; median </a:t>
            </a:r>
            <a:r>
              <a:rPr lang="en-US" sz="1400" dirty="0" err="1">
                <a:solidFill>
                  <a:schemeClr val="tx2"/>
                </a:solidFill>
              </a:rPr>
              <a:t>Tmax</a:t>
            </a:r>
            <a:r>
              <a:rPr lang="en-US" sz="1400" dirty="0">
                <a:solidFill>
                  <a:schemeClr val="tx2"/>
                </a:solidFill>
              </a:rPr>
              <a:t> falls in the ~9–16 day window typical of CAR-T expansion. DL7/DL8 (reduced-lymphodepletion / process-variant cohorts) show distinct profiles.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DB2863F-CC05-25DC-C7CA-5BD1C9C0031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7000070" y="1775861"/>
            <a:ext cx="4802823" cy="227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0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3BBE-D2C6-6402-95D2-FDD38F217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598434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71E2-E32B-4418-0C65-2108D116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 Plots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2D2A59-27C2-8B2C-99E0-DA42B3B82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876" y="1636713"/>
            <a:ext cx="8004661" cy="34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965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NT1">
  <a:themeElements>
    <a:clrScheme name="BioNTech 2022">
      <a:dk1>
        <a:srgbClr val="3C4447"/>
      </a:dk1>
      <a:lt1>
        <a:sysClr val="window" lastClr="FFFFFF"/>
      </a:lt1>
      <a:dk2>
        <a:srgbClr val="181010"/>
      </a:dk2>
      <a:lt2>
        <a:srgbClr val="EEF0F2"/>
      </a:lt2>
      <a:accent1>
        <a:srgbClr val="005A64"/>
      </a:accent1>
      <a:accent2>
        <a:srgbClr val="3C9673"/>
      </a:accent2>
      <a:accent3>
        <a:srgbClr val="BECD32"/>
      </a:accent3>
      <a:accent4>
        <a:srgbClr val="656E72"/>
      </a:accent4>
      <a:accent5>
        <a:srgbClr val="8C959A"/>
      </a:accent5>
      <a:accent6>
        <a:srgbClr val="E2E5E7"/>
      </a:accent6>
      <a:hlink>
        <a:srgbClr val="BECD32"/>
      </a:hlink>
      <a:folHlink>
        <a:srgbClr val="8C959A"/>
      </a:folHlink>
    </a:clrScheme>
    <a:fontScheme name="BioNTech 202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44000" tIns="144000" rIns="144000" bIns="14400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Custom Color 1">
      <a:srgbClr val="26948B"/>
    </a:custClr>
    <a:custClr name="Custom Color 2">
      <a:srgbClr val="107072"/>
    </a:custClr>
    <a:custClr name="Custom Color 3">
      <a:srgbClr val="294145"/>
    </a:custClr>
    <a:custClr name="Custom Color 4">
      <a:srgbClr val="9C9E21"/>
    </a:custClr>
    <a:custClr name="Custom Color 5">
      <a:srgbClr val="F2D92F"/>
    </a:custClr>
    <a:custClr name="Custom Color 6">
      <a:srgbClr val="C73F1E"/>
    </a:custClr>
    <a:custClr name="Custom Color 7">
      <a:srgbClr val="FFA62B"/>
    </a:custClr>
    <a:custClr name="Custom Color 8">
      <a:srgbClr val="7A306C"/>
    </a:custClr>
  </a:custClrLst>
  <a:extLst>
    <a:ext uri="{05A4C25C-085E-4340-85A3-A5531E510DB2}">
      <thm15:themeFamily xmlns:thm15="http://schemas.microsoft.com/office/thememl/2012/main" name="BNT1" id="{3E74A39D-2E9C-42FC-85C7-39C43D8F88CC}" vid="{32A54EE6-0A49-4361-A233-E4E0D42B549F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4034C5-3B7B-4F66-88DE-D896FD16F0C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8a43051-ea8f-4f23-a3de-c6137a4dce7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282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Symbol</vt:lpstr>
      <vt:lpstr>BNT1</vt:lpstr>
      <vt:lpstr>think-cell Slide</vt:lpstr>
      <vt:lpstr>BNT211 CLDN6 CAR-T — PopPK Update Exploratory data analysis of cellular kinetics</vt:lpstr>
      <vt:lpstr>Dataset &amp; analysis set</vt:lpstr>
      <vt:lpstr>Data Summary   </vt:lpstr>
      <vt:lpstr>Demographics and Baseline Covariates</vt:lpstr>
      <vt:lpstr>EDA</vt:lpstr>
      <vt:lpstr>PowerPoint Presentation</vt:lpstr>
      <vt:lpstr>Backup</vt:lpstr>
      <vt:lpstr>Forest Plots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Tairan Yang</dc:creator>
  <cp:lastModifiedBy>Tairan Yang</cp:lastModifiedBy>
  <cp:revision>1</cp:revision>
  <dcterms:created xsi:type="dcterms:W3CDTF">2026-06-12T10:25:01Z</dcterms:created>
  <dcterms:modified xsi:type="dcterms:W3CDTF">2026-06-12T15:15:58Z</dcterms:modified>
</cp:coreProperties>
</file>